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34B524DD-3D34-43FE-86CC-0D83F4F6992D}">
          <p14:sldIdLst>
            <p14:sldId id="256"/>
            <p14:sldId id="257"/>
            <p14:sldId id="258"/>
          </p14:sldIdLst>
        </p14:section>
        <p14:section name="HTTP sem mistério" id="{FBE12A98-9FC8-441F-8897-444C7EBF21B0}">
          <p14:sldIdLst>
            <p14:sldId id="259"/>
            <p14:sldId id="260"/>
            <p14:sldId id="261"/>
            <p14:sldId id="262"/>
          </p14:sldIdLst>
        </p14:section>
        <p14:section name="Go falando HTTP" id="{D761CC96-798C-4997-8185-2D141FF6C7EA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Treino guiado" id="{FF342ED9-7522-455F-8501-1CE12A3DD94E}">
          <p14:sldIdLst>
            <p14:sldId id="271"/>
            <p14:sldId id="272"/>
            <p14:sldId id="273"/>
            <p14:sldId id="274"/>
            <p14:sldId id="275"/>
          </p14:sldIdLst>
        </p14:section>
        <p14:section name="Gopher Challenge" id="{AEBF4151-7B9D-41C0-81C7-17781B8C480B}">
          <p14:sldIdLst>
            <p14:sldId id="276"/>
            <p14:sldId id="277"/>
            <p14:sldId id="278"/>
            <p14:sldId id="279"/>
          </p14:sldIdLst>
        </p14:section>
      </p14:sectionLst>
    </p:ext>
    <p:ext xmlns:p="http://schemas.openxmlformats.org/presentationml/2006/main"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theme" Target="theme/theme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F326-38F9-40E9-844A-EC66DA56CEC0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DB33E-DF1A-4DDD-8617-8BEBD58B3BB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Ligar com a aula 1: hoje o Go conversa com um servidor de verdade.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desafio fica no fim e precisa de tempo: não estender a parte expositiva.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Perguntar: tipo para uma lista de pedidos? E para contar pedidos por cliente?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Só o protocolo que o cliente precisa. Nada de REST a fundo.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Pedido = método + rota + headers + corpo. Resposta = status + headers + corpo.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Token vai no header, nunca na URL (URL aparece em log e histórico).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2xx deu certo, 4xx o pedido tem problema, 5xx o servidor falhou. 422 no jogo = conta errada.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Tudo da biblioteca padrão. Projeto: mkdir cliente &amp;&amp; cd cliente &amp;&amp; go mod init cliente.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api = "http://localhost:8080". Desligar o servidor e rodar de novo para ver o erro.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servidor devolve {"texto": "Ola, Gopher!"}. Trocar Texto por texto e mostrar que vem vazio.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Testar com fmt.Printf("%+v\n", j) para ver o que foi preenchido.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err != nil: nem chegou resposta. Status ruim: a API respondeu, mas recusou. Os dois precisam de if.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Também dá para usar struct com tags no lugar do map.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Depois do Do, checar o status igual ao slide dos erros. 422 = resposta errada.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É o que o esqueleto do desafio faz. Separar a conta (função pura) do HTTP.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Depois do intervalo. Vocês codam juntos, depois os slides de código.</a:t>
            </a: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Codar junto com a turma, do zero, usando os slides de GET, JSON e POST.</a:t>
            </a: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Cada campo com maiúscula e com a tag igual ao nome no JSON.</a:t>
            </a:r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Função pura: não sabe nada de HTTP. Teste de mesa com os 4 pedidos antes de rodar.</a:t>
            </a:r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buscar e enviar são o código dos slides de GET, JSON e POST dentro de funções. Resposta do treino: 1950.</a:t>
            </a:r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Subir o servidor, abrir o /placar e passar o esqueleto para as duplas.</a:t>
            </a: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 HTTP do esqueleto é o mesmo do treino, com o token no header. Pode rodar quantas vezes quiser.</a:t>
            </a:r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Deixar este slide na tela durante o desafio. Cada dupla recebe pedidos diferentes.</a:t>
            </a:r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Pedir para uma dupla mostrar como separou o cálculo do HTTP.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NTEUDO">
    <p:bg>
      <p:bgPr>
        <a:solidFill>
          <a:srgbClr val="0E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laro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914187" y="6355080"/>
            <a:ext cx="728868" cy="27432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EDCD0F9E-EF7E-4C26-8662-25A73F2263DD}" type="slidenum">
              <a:rPr lang="en-US" b="0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ECAO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laro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671231" y="6035040"/>
            <a:ext cx="971824" cy="36576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24000" b="1">
                <a:solidFill>
                  <a:srgbClr val="17485C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indent="0" algn="r">
              <a:buNone/>
            </a:pPr>
            <a:endParaRPr lang="en-US" sz="2400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indent="0" algn="l">
              <a:buNone/>
            </a:pPr>
            <a:endParaRPr lang="en-US" sz="54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>
                <a:solidFill>
                  <a:srgbClr val="A9B8CC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indent="0" algn="l">
              <a:buNone/>
            </a:pPr>
            <a:endParaRPr lang="en-US" sz="26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AP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inicurso 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473D6AB1-0FDA-49F1-8390-8828CE9E6676}" type="slidenum">
              <a:rPr lang="en-US" b="0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gif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gif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laro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2960" y="731520"/>
            <a:ext cx="12147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8288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95000"/>
              </a:lnSpc>
              <a:buNone/>
            </a:pPr>
            <a:r>
              <a:rPr lang="en-US" sz="7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Minicurso</a:t>
            </a:r>
            <a:endParaRPr lang="en-US" sz="7200"/>
          </a:p>
          <a:p>
            <a:pPr marL="0" indent="0">
              <a:lnSpc>
                <a:spcPct val="95000"/>
              </a:lnSpc>
              <a:buNone/>
            </a:pPr>
            <a:r>
              <a:rPr lang="en-US" sz="7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 </a:t>
            </a:r>
            <a:r>
              <a:rPr lang="en-US" sz="72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Go</a:t>
            </a:r>
            <a:endParaRPr lang="en-US" sz="7200"/>
          </a:p>
        </p:txBody>
      </p:sp>
      <p:sp>
        <p:nvSpPr>
          <p:cNvPr id="6" name="Text 3"/>
          <p:cNvSpPr txBox="1"/>
          <p:nvPr/>
        </p:nvSpPr>
        <p:spPr>
          <a:xfrm>
            <a:off x="82296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>
                <a:solidFill>
                  <a:srgbClr val="A9B8CC"/>
                </a:solidFill>
                <a:latin typeface="Arial"/>
                <a:ea typeface="Arial"/>
                <a:cs typeface="Arial"/>
              </a:rPr>
              <a:t>Aula 2</a:t>
            </a:r>
            <a:endParaRPr lang="en-US" sz="2400">
              <a:solidFill>
                <a:srgbClr val="A9B8CC"/>
              </a:solidFill>
              <a:latin typeface="Arial"/>
              <a:ea typeface="Arial"/>
              <a:cs typeface="Arial"/>
            </a:endParaRPr>
          </a:p>
        </p:txBody>
      </p:sp>
      <p:grpSp>
        <p:nvGrpSpPr>
          <p:cNvPr id="27" name="cv_all"/>
          <p:cNvGrpSpPr/>
          <p:nvPr/>
        </p:nvGrpSpPr>
        <p:grpSpPr>
          <a:xfrm rot="21420000">
            <a:off x="6354775" y="1828800"/>
            <a:ext cx="5151120" cy="3279648"/>
            <a:chOff x="6354775" y="1828800"/>
            <a:chExt cx="5151120" cy="3279648"/>
          </a:xfrm>
        </p:grpSpPr>
        <p:grpSp>
          <p:nvGrpSpPr>
            <p:cNvPr id="25" name="cv_frame"/>
            <p:cNvGrpSpPr/>
            <p:nvPr/>
          </p:nvGrpSpPr>
          <p:grpSpPr>
            <a:xfrm>
              <a:off x="6354775" y="1828800"/>
              <a:ext cx="5151120" cy="3279648"/>
              <a:chOff x="6354775" y="1828800"/>
              <a:chExt cx="5151120" cy="3279648"/>
            </a:xfrm>
          </p:grpSpPr>
          <p:sp>
            <p:nvSpPr>
              <p:cNvPr id="9" name="cv"/>
              <p:cNvSpPr/>
              <p:nvPr/>
            </p:nvSpPr>
            <p:spPr>
              <a:xfrm>
                <a:off x="6354775" y="1828800"/>
                <a:ext cx="5151120" cy="3279648"/>
              </a:xfrm>
              <a:prstGeom prst="roundRect">
                <a:avLst>
                  <a:gd name="adj" fmla="val 3903"/>
                </a:avLst>
              </a:prstGeom>
              <a:solidFill>
                <a:srgbClr val="0A111C"/>
              </a:solidFill>
              <a:ln w="12700">
                <a:solidFill>
                  <a:srgbClr val="0A111C"/>
                </a:solidFill>
                <a:prstDash val="solid"/>
              </a:ln>
              <a:effectLst>
                <a:outerShdw blurRad="304800" dist="127000" dir="5400000" algn="bl" rotWithShape="0">
                  <a:srgbClr val="000000">
                    <a:alpha val="45000"/>
                  </a:srgbClr>
                </a:outerShdw>
              </a:effectLst>
            </p:spPr>
          </p:sp>
          <p:sp>
            <p:nvSpPr>
              <p:cNvPr id="10" name="cv_hd"/>
              <p:cNvSpPr/>
              <p:nvPr/>
            </p:nvSpPr>
            <p:spPr>
              <a:xfrm>
                <a:off x="6354775" y="1828800"/>
                <a:ext cx="5151120" cy="384048"/>
              </a:xfrm>
              <a:prstGeom prst="roundRect">
                <a:avLst>
                  <a:gd name="adj" fmla="val 33333"/>
                </a:avLst>
              </a:prstGeom>
              <a:solidFill>
                <a:srgbClr val="131E30"/>
              </a:solidFill>
              <a:ln w="12700">
                <a:solidFill>
                  <a:srgbClr val="131E30"/>
                </a:solidFill>
                <a:prstDash val="solid"/>
              </a:ln>
            </p:spPr>
          </p:sp>
          <p:sp>
            <p:nvSpPr>
              <p:cNvPr id="11" name="cv_hd2"/>
              <p:cNvSpPr/>
              <p:nvPr/>
            </p:nvSpPr>
            <p:spPr>
              <a:xfrm>
                <a:off x="6354775" y="2066544"/>
                <a:ext cx="5151120" cy="146304"/>
              </a:xfrm>
              <a:prstGeom prst="rect">
                <a:avLst/>
              </a:prstGeom>
              <a:solidFill>
                <a:srgbClr val="131E30"/>
              </a:solidFill>
              <a:ln w="12700">
                <a:solidFill>
                  <a:srgbClr val="131E30"/>
                </a:solidFill>
                <a:prstDash val="solid"/>
              </a:ln>
            </p:spPr>
          </p:sp>
          <p:sp>
            <p:nvSpPr>
              <p:cNvPr id="12" name="cv_sep"/>
              <p:cNvSpPr/>
              <p:nvPr/>
            </p:nvSpPr>
            <p:spPr>
              <a:xfrm>
                <a:off x="6354775" y="2212848"/>
                <a:ext cx="5151120" cy="0"/>
              </a:xfrm>
              <a:prstGeom prst="line">
                <a:avLst/>
              </a:prstGeom>
              <a:noFill/>
              <a:ln w="9525">
                <a:solidFill>
                  <a:srgbClr val="22324A"/>
                </a:solidFill>
                <a:prstDash val="solid"/>
              </a:ln>
            </p:spPr>
          </p:sp>
          <p:sp>
            <p:nvSpPr>
              <p:cNvPr id="13" name="cv_ol"/>
              <p:cNvSpPr/>
              <p:nvPr/>
            </p:nvSpPr>
            <p:spPr>
              <a:xfrm>
                <a:off x="6354775" y="1828800"/>
                <a:ext cx="5151120" cy="3279648"/>
              </a:xfrm>
              <a:prstGeom prst="roundRect">
                <a:avLst>
                  <a:gd name="adj" fmla="val 3903"/>
                </a:avLst>
              </a:prstGeom>
              <a:solidFill>
                <a:srgbClr val="0A111C">
                  <a:alpha val="0"/>
                </a:srgbClr>
              </a:solidFill>
              <a:ln w="9525">
                <a:solidFill>
                  <a:srgbClr val="22324A"/>
                </a:solidFill>
                <a:prstDash val="solid"/>
              </a:ln>
            </p:spPr>
          </p:sp>
          <p:sp>
            <p:nvSpPr>
              <p:cNvPr id="14" name="cv_d0"/>
              <p:cNvSpPr/>
              <p:nvPr/>
            </p:nvSpPr>
            <p:spPr>
              <a:xfrm>
                <a:off x="6555943" y="1956816"/>
                <a:ext cx="128016" cy="128016"/>
              </a:xfrm>
              <a:prstGeom prst="ellipse">
                <a:avLst/>
              </a:prstGeom>
              <a:solidFill>
                <a:srgbClr val="FF6B6B"/>
              </a:solidFill>
              <a:ln w="12700">
                <a:solidFill>
                  <a:srgbClr val="FF6B6B"/>
                </a:solidFill>
                <a:prstDash val="solid"/>
              </a:ln>
            </p:spPr>
          </p:sp>
          <p:sp>
            <p:nvSpPr>
              <p:cNvPr id="15" name="cv_d1"/>
              <p:cNvSpPr/>
              <p:nvPr/>
            </p:nvSpPr>
            <p:spPr>
              <a:xfrm>
                <a:off x="6757111" y="1956816"/>
                <a:ext cx="128016" cy="128016"/>
              </a:xfrm>
              <a:prstGeom prst="ellipse">
                <a:avLst/>
              </a:prstGeom>
              <a:solidFill>
                <a:srgbClr val="FFD166"/>
              </a:solidFill>
              <a:ln w="12700">
                <a:solidFill>
                  <a:srgbClr val="FFD166"/>
                </a:solidFill>
                <a:prstDash val="solid"/>
              </a:ln>
            </p:spPr>
          </p:sp>
          <p:sp>
            <p:nvSpPr>
              <p:cNvPr id="16" name="cv_d2"/>
              <p:cNvSpPr/>
              <p:nvPr/>
            </p:nvSpPr>
            <p:spPr>
              <a:xfrm>
                <a:off x="6958279" y="1956816"/>
                <a:ext cx="128016" cy="128016"/>
              </a:xfrm>
              <a:prstGeom prst="ellipse">
                <a:avLst/>
              </a:prstGeom>
              <a:solidFill>
                <a:srgbClr val="4ADE80"/>
              </a:solidFill>
              <a:ln w="12700">
                <a:solidFill>
                  <a:srgbClr val="4ADE80"/>
                </a:solidFill>
                <a:prstDash val="solid"/>
              </a:ln>
            </p:spPr>
          </p:sp>
          <p:sp>
            <p:nvSpPr>
              <p:cNvPr id="17" name="cv_fn"/>
              <p:cNvSpPr txBox="1"/>
              <p:nvPr/>
            </p:nvSpPr>
            <p:spPr>
              <a:xfrm>
                <a:off x="7269175" y="1883664"/>
                <a:ext cx="414528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00">
                    <a:solidFill>
                      <a:srgbClr val="7A8BA3"/>
                    </a:solidFill>
                    <a:latin typeface="Consolas"/>
                    <a:ea typeface="Consolas"/>
                    <a:cs typeface="Consolas"/>
                  </a:rPr>
                  <a:t>main.go</a:t>
                </a:r>
                <a:endParaRPr lang="en-US" sz="1200"/>
              </a:p>
            </p:txBody>
          </p:sp>
        </p:grpSp>
        <p:grpSp>
          <p:nvGrpSpPr>
            <p:cNvPr id="26" name="cv_code"/>
            <p:cNvGrpSpPr/>
            <p:nvPr/>
          </p:nvGrpSpPr>
          <p:grpSpPr>
            <a:xfrm>
              <a:off x="6674815" y="2441448"/>
              <a:ext cx="4785360" cy="2438400"/>
              <a:chOff x="6674815" y="2441448"/>
              <a:chExt cx="4785360" cy="2438400"/>
            </a:xfrm>
          </p:grpSpPr>
          <p:sp>
            <p:nvSpPr>
              <p:cNvPr id="18" name="cv_ln0"/>
              <p:cNvSpPr txBox="1"/>
              <p:nvPr/>
            </p:nvSpPr>
            <p:spPr>
              <a:xfrm>
                <a:off x="6674815" y="2441448"/>
                <a:ext cx="4785360" cy="30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resp, err := client.Get(url)</a:t>
                </a:r>
                <a:endParaRPr lang="en-US" sz="1600"/>
              </a:p>
            </p:txBody>
          </p:sp>
          <p:sp>
            <p:nvSpPr>
              <p:cNvPr id="19" name="cv_ln1"/>
              <p:cNvSpPr txBox="1"/>
              <p:nvPr/>
            </p:nvSpPr>
            <p:spPr>
              <a:xfrm>
                <a:off x="6674815" y="2746248"/>
                <a:ext cx="4785360" cy="30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C792EA"/>
                    </a:solidFill>
                    <a:latin typeface="Consolas"/>
                    <a:ea typeface="Consolas"/>
                    <a:cs typeface="Consolas"/>
                  </a:rPr>
                  <a:t>if</a:t>
                </a: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 err != </a:t>
                </a:r>
                <a:r>
                  <a:rPr lang="en-US" sz="1600">
                    <a:solidFill>
                      <a:srgbClr val="C792EA"/>
                    </a:solidFill>
                    <a:latin typeface="Consolas"/>
                    <a:ea typeface="Consolas"/>
                    <a:cs typeface="Consolas"/>
                  </a:rPr>
                  <a:t>nil</a:t>
                </a: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 {</a:t>
                </a:r>
                <a:endParaRPr lang="en-US" sz="1600"/>
              </a:p>
            </p:txBody>
          </p:sp>
          <p:sp>
            <p:nvSpPr>
              <p:cNvPr id="20" name="cv_ln2"/>
              <p:cNvSpPr txBox="1"/>
              <p:nvPr/>
            </p:nvSpPr>
            <p:spPr>
              <a:xfrm>
                <a:off x="6674815" y="3051048"/>
                <a:ext cx="4785360" cy="30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    </a:t>
                </a:r>
                <a:r>
                  <a:rPr lang="en-US" sz="1600">
                    <a:solidFill>
                      <a:srgbClr val="C792EA"/>
                    </a:solidFill>
                    <a:latin typeface="Consolas"/>
                    <a:ea typeface="Consolas"/>
                    <a:cs typeface="Consolas"/>
                  </a:rPr>
                  <a:t>return</a:t>
                </a: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 err</a:t>
                </a:r>
                <a:endParaRPr lang="en-US" sz="1600"/>
              </a:p>
            </p:txBody>
          </p:sp>
          <p:sp>
            <p:nvSpPr>
              <p:cNvPr id="21" name="cv_ln3"/>
              <p:cNvSpPr txBox="1"/>
              <p:nvPr/>
            </p:nvSpPr>
            <p:spPr>
              <a:xfrm>
                <a:off x="6674815" y="3355848"/>
                <a:ext cx="4785360" cy="30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}</a:t>
                </a:r>
                <a:endParaRPr lang="en-US" sz="1600"/>
              </a:p>
            </p:txBody>
          </p:sp>
          <p:sp>
            <p:nvSpPr>
              <p:cNvPr id="22" name="cv_ln4"/>
              <p:cNvSpPr txBox="1"/>
              <p:nvPr/>
            </p:nvSpPr>
            <p:spPr>
              <a:xfrm>
                <a:off x="6674815" y="3660648"/>
                <a:ext cx="4785360" cy="30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C792EA"/>
                    </a:solidFill>
                    <a:latin typeface="Consolas"/>
                    <a:ea typeface="Consolas"/>
                    <a:cs typeface="Consolas"/>
                  </a:rPr>
                  <a:t>defer</a:t>
                </a: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 resp.Body.Close()</a:t>
                </a:r>
                <a:endParaRPr lang="en-US" sz="1600"/>
              </a:p>
            </p:txBody>
          </p:sp>
          <p:sp>
            <p:nvSpPr>
              <p:cNvPr id="23" name="cv_ln6"/>
              <p:cNvSpPr txBox="1"/>
              <p:nvPr/>
            </p:nvSpPr>
            <p:spPr>
              <a:xfrm>
                <a:off x="6674815" y="4270248"/>
                <a:ext cx="4785360" cy="30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C792EA"/>
                    </a:solidFill>
                    <a:latin typeface="Consolas"/>
                    <a:ea typeface="Consolas"/>
                    <a:cs typeface="Consolas"/>
                  </a:rPr>
                  <a:t>var</a:t>
                </a: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 d Desafio</a:t>
                </a:r>
                <a:endParaRPr lang="en-US" sz="1600"/>
              </a:p>
            </p:txBody>
          </p:sp>
          <p:sp>
            <p:nvSpPr>
              <p:cNvPr id="24" name="cv_ln7"/>
              <p:cNvSpPr txBox="1"/>
              <p:nvPr/>
            </p:nvSpPr>
            <p:spPr>
              <a:xfrm>
                <a:off x="6674815" y="4575048"/>
                <a:ext cx="4785360" cy="304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marL="0" indent="0">
                  <a:buNone/>
                </a:pPr>
                <a:r>
                  <a:rPr lang="en-US" sz="1600">
                    <a:solidFill>
                      <a:srgbClr val="E6EDF5"/>
                    </a:solidFill>
                    <a:latin typeface="Consolas"/>
                    <a:ea typeface="Consolas"/>
                    <a:cs typeface="Consolas"/>
                  </a:rPr>
                  <a:t>json.NewDecoder(resp.Body).Decode(&amp;d)</a:t>
                </a:r>
                <a:endParaRPr lang="en-US" sz="1600"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Roteiro</a:t>
            </a:r>
            <a:endParaRPr lang="en-US" sz="3400"/>
          </a:p>
        </p:txBody>
      </p:sp>
      <p:sp>
        <p:nvSpPr>
          <p:cNvPr id="3" name="ag0_c"/>
          <p:cNvSpPr/>
          <p:nvPr/>
        </p:nvSpPr>
        <p:spPr>
          <a:xfrm>
            <a:off x="548640" y="2011680"/>
            <a:ext cx="731520" cy="73152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4" name="ag0_n"/>
          <p:cNvSpPr txBox="1"/>
          <p:nvPr/>
        </p:nvSpPr>
        <p:spPr>
          <a:xfrm>
            <a:off x="5486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01</a:t>
            </a:r>
            <a:endParaRPr lang="en-US" sz="1800"/>
          </a:p>
        </p:txBody>
      </p:sp>
      <p:sp>
        <p:nvSpPr>
          <p:cNvPr id="5" name="Text 3"/>
          <p:cNvSpPr txBox="1"/>
          <p:nvPr/>
        </p:nvSpPr>
        <p:spPr>
          <a:xfrm>
            <a:off x="1508760" y="19933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Revisão</a:t>
            </a:r>
            <a:endParaRPr lang="en-US" sz="2400"/>
          </a:p>
          <a:p>
            <a:pPr marL="0" indent="0">
              <a:buNone/>
            </a:pPr>
            <a:r>
              <a:rPr lang="en-US" sz="1600">
                <a:solidFill>
                  <a:srgbClr val="7A8BA3"/>
                </a:solidFill>
                <a:latin typeface="Arial"/>
                <a:ea typeface="Arial"/>
                <a:cs typeface="Arial"/>
              </a:rPr>
              <a:t>o que vem da aula 1</a:t>
            </a:r>
            <a:endParaRPr lang="en-US" sz="2400"/>
          </a:p>
        </p:txBody>
      </p:sp>
      <p:sp>
        <p:nvSpPr>
          <p:cNvPr id="6" name="ag1_c"/>
          <p:cNvSpPr/>
          <p:nvPr/>
        </p:nvSpPr>
        <p:spPr>
          <a:xfrm>
            <a:off x="548640" y="3383280"/>
            <a:ext cx="731520" cy="73152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7" name="ag1_n"/>
          <p:cNvSpPr txBox="1"/>
          <p:nvPr/>
        </p:nvSpPr>
        <p:spPr>
          <a:xfrm>
            <a:off x="54864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02</a:t>
            </a:r>
            <a:endParaRPr lang="en-US" sz="1800"/>
          </a:p>
        </p:txBody>
      </p:sp>
      <p:sp>
        <p:nvSpPr>
          <p:cNvPr id="8" name="Text 6"/>
          <p:cNvSpPr txBox="1"/>
          <p:nvPr/>
        </p:nvSpPr>
        <p:spPr>
          <a:xfrm>
            <a:off x="1508760" y="3364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HTTP sem mistério</a:t>
            </a:r>
            <a:endParaRPr lang="en-US" sz="2400"/>
          </a:p>
          <a:p>
            <a:pPr marL="0" indent="0">
              <a:buNone/>
            </a:pPr>
            <a:r>
              <a:rPr lang="en-US" sz="1600">
                <a:solidFill>
                  <a:srgbClr val="7A8BA3"/>
                </a:solidFill>
                <a:latin typeface="Arial"/>
                <a:ea typeface="Arial"/>
                <a:cs typeface="Arial"/>
              </a:rPr>
              <a:t>pedido, resposta e status</a:t>
            </a:r>
            <a:endParaRPr lang="en-US" sz="2400"/>
          </a:p>
        </p:txBody>
      </p:sp>
      <p:sp>
        <p:nvSpPr>
          <p:cNvPr id="9" name="ag2_c"/>
          <p:cNvSpPr/>
          <p:nvPr/>
        </p:nvSpPr>
        <p:spPr>
          <a:xfrm>
            <a:off x="548640" y="4754880"/>
            <a:ext cx="731520" cy="73152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0" name="ag2_n"/>
          <p:cNvSpPr txBox="1"/>
          <p:nvPr/>
        </p:nvSpPr>
        <p:spPr>
          <a:xfrm>
            <a:off x="54864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03</a:t>
            </a:r>
            <a:endParaRPr lang="en-US" sz="1800"/>
          </a:p>
        </p:txBody>
      </p:sp>
      <p:sp>
        <p:nvSpPr>
          <p:cNvPr id="11" name="Text 9"/>
          <p:cNvSpPr txBox="1"/>
          <p:nvPr/>
        </p:nvSpPr>
        <p:spPr>
          <a:xfrm>
            <a:off x="1508760" y="47365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 falando HTTP</a:t>
            </a:r>
            <a:endParaRPr lang="en-US" sz="2400"/>
          </a:p>
          <a:p>
            <a:pPr marL="0" indent="0">
              <a:buNone/>
            </a:pPr>
            <a:r>
              <a:rPr lang="en-US" sz="1600">
                <a:solidFill>
                  <a:srgbClr val="7A8BA3"/>
                </a:solidFill>
                <a:latin typeface="Arial"/>
                <a:ea typeface="Arial"/>
                <a:cs typeface="Arial"/>
              </a:rPr>
              <a:t>GET, JSON, erros e POST</a:t>
            </a:r>
            <a:endParaRPr lang="en-US" sz="2400"/>
          </a:p>
        </p:txBody>
      </p:sp>
      <p:sp>
        <p:nvSpPr>
          <p:cNvPr id="12" name="ag3_c"/>
          <p:cNvSpPr/>
          <p:nvPr/>
        </p:nvSpPr>
        <p:spPr>
          <a:xfrm>
            <a:off x="6217920" y="2011680"/>
            <a:ext cx="731520" cy="73152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3" name="ag3_n"/>
          <p:cNvSpPr txBox="1"/>
          <p:nvPr/>
        </p:nvSpPr>
        <p:spPr>
          <a:xfrm>
            <a:off x="62179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04</a:t>
            </a:r>
            <a:endParaRPr lang="en-US" sz="1800"/>
          </a:p>
        </p:txBody>
      </p:sp>
      <p:sp>
        <p:nvSpPr>
          <p:cNvPr id="14" name="Text 12"/>
          <p:cNvSpPr txBox="1"/>
          <p:nvPr/>
        </p:nvSpPr>
        <p:spPr>
          <a:xfrm>
            <a:off x="7178040" y="19933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Treino guiado</a:t>
            </a:r>
            <a:endParaRPr lang="en-US" sz="2400"/>
          </a:p>
          <a:p>
            <a:pPr marL="0" indent="0">
              <a:buNone/>
            </a:pPr>
            <a:r>
              <a:rPr lang="en-US" sz="1600">
                <a:solidFill>
                  <a:srgbClr val="7A8BA3"/>
                </a:solidFill>
                <a:latin typeface="Arial"/>
                <a:ea typeface="Arial"/>
                <a:cs typeface="Arial"/>
              </a:rPr>
              <a:t>somar os pedidos, juntos</a:t>
            </a:r>
            <a:endParaRPr lang="en-US" sz="2400"/>
          </a:p>
        </p:txBody>
      </p:sp>
      <p:sp>
        <p:nvSpPr>
          <p:cNvPr id="15" name="ag4_c"/>
          <p:cNvSpPr/>
          <p:nvPr/>
        </p:nvSpPr>
        <p:spPr>
          <a:xfrm>
            <a:off x="6217920" y="3383280"/>
            <a:ext cx="731520" cy="7315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ag4_n"/>
          <p:cNvSpPr txBox="1"/>
          <p:nvPr/>
        </p:nvSpPr>
        <p:spPr>
          <a:xfrm>
            <a:off x="621792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E1623"/>
                </a:solidFill>
                <a:latin typeface="Consolas"/>
                <a:ea typeface="Consolas"/>
                <a:cs typeface="Consolas"/>
              </a:rPr>
              <a:t>05</a:t>
            </a:r>
            <a:endParaRPr lang="en-US" sz="1800"/>
          </a:p>
        </p:txBody>
      </p:sp>
      <p:sp>
        <p:nvSpPr>
          <p:cNvPr id="17" name="Text 15"/>
          <p:cNvSpPr txBox="1"/>
          <p:nvPr/>
        </p:nvSpPr>
        <p:spPr>
          <a:xfrm>
            <a:off x="7178040" y="33649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Gopher Challenge</a:t>
            </a:r>
            <a:endParaRPr lang="en-US" sz="2400"/>
          </a:p>
          <a:p>
            <a:pPr marL="0" indent="0">
              <a:buNone/>
            </a:pPr>
            <a:r>
              <a:rPr lang="en-US" sz="1600">
                <a:solidFill>
                  <a:srgbClr val="7A8BA3"/>
                </a:solidFill>
                <a:latin typeface="Arial"/>
                <a:ea typeface="Arial"/>
                <a:cs typeface="Arial"/>
              </a:rPr>
              <a:t>três níveis, em duplas</a:t>
            </a:r>
            <a:endParaRPr lang="en-US" sz="2400"/>
          </a:p>
        </p:txBody>
      </p:sp>
      <p:sp>
        <p:nvSpPr>
          <p:cNvPr id="18" name="ag5_c"/>
          <p:cNvSpPr/>
          <p:nvPr/>
        </p:nvSpPr>
        <p:spPr>
          <a:xfrm>
            <a:off x="6217920" y="4754880"/>
            <a:ext cx="731520" cy="73152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19" name="ag5_n"/>
          <p:cNvSpPr txBox="1"/>
          <p:nvPr/>
        </p:nvSpPr>
        <p:spPr>
          <a:xfrm>
            <a:off x="6217920" y="4754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06</a:t>
            </a:r>
            <a:endParaRPr lang="en-US" sz="1800"/>
          </a:p>
        </p:txBody>
      </p:sp>
      <p:sp>
        <p:nvSpPr>
          <p:cNvPr id="20" name="Text 18"/>
          <p:cNvSpPr txBox="1"/>
          <p:nvPr/>
        </p:nvSpPr>
        <p:spPr>
          <a:xfrm>
            <a:off x="7178040" y="473659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Fechamento</a:t>
            </a:r>
            <a:endParaRPr lang="en-US" sz="2400"/>
          </a:p>
          <a:p>
            <a:pPr marL="0" indent="0">
              <a:buNone/>
            </a:pPr>
            <a:r>
              <a:rPr lang="en-US" sz="1600">
                <a:solidFill>
                  <a:srgbClr val="7A8BA3"/>
                </a:solidFill>
                <a:latin typeface="Arial"/>
                <a:ea typeface="Arial"/>
                <a:cs typeface="Arial"/>
              </a:rPr>
              <a:t>ranking e perguntas</a:t>
            </a:r>
            <a:endParaRPr lang="en-US" sz="2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00266782-2A85-475A-865E-BAD95958CDD5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que vem da aula 1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914400" cy="9144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F5A7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7240" y="20574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828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Structs</a:t>
            </a:r>
            <a:endParaRPr lang="en-US" sz="2600"/>
          </a:p>
          <a:p>
            <a:pPr marL="0" indent="0">
              <a:buNone/>
            </a:pP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o formato do JSON que chega</a:t>
            </a:r>
            <a:endParaRPr lang="en-US" sz="2600"/>
          </a:p>
        </p:txBody>
      </p:sp>
      <p:sp>
        <p:nvSpPr>
          <p:cNvPr id="6" name="Shape 3"/>
          <p:cNvSpPr/>
          <p:nvPr/>
        </p:nvSpPr>
        <p:spPr>
          <a:xfrm>
            <a:off x="6217920" y="1828800"/>
            <a:ext cx="914400" cy="9144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F5A7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46520" y="20574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406640" y="1828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Slices e maps</a:t>
            </a:r>
            <a:endParaRPr lang="en-US" sz="2600"/>
          </a:p>
          <a:p>
            <a:pPr marL="0" indent="0">
              <a:buNone/>
            </a:pP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filtrar, contar, agrupar</a:t>
            </a:r>
            <a:endParaRPr lang="en-US" sz="2600"/>
          </a:p>
        </p:txBody>
      </p:sp>
      <p:sp>
        <p:nvSpPr>
          <p:cNvPr id="9" name="Shape 5"/>
          <p:cNvSpPr/>
          <p:nvPr/>
        </p:nvSpPr>
        <p:spPr>
          <a:xfrm>
            <a:off x="548640" y="3749040"/>
            <a:ext cx="914400" cy="9144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F5A7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77240" y="39776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Erro é valor</a:t>
            </a:r>
            <a:endParaRPr lang="en-US" sz="2600"/>
          </a:p>
          <a:p>
            <a:pPr marL="0" indent="0">
              <a:buNone/>
            </a:pP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if err != nil em toda chamada</a:t>
            </a:r>
            <a:endParaRPr lang="en-US" sz="2600"/>
          </a:p>
        </p:txBody>
      </p:sp>
      <p:sp>
        <p:nvSpPr>
          <p:cNvPr id="12" name="Shape 7"/>
          <p:cNvSpPr/>
          <p:nvPr/>
        </p:nvSpPr>
        <p:spPr>
          <a:xfrm>
            <a:off x="6217920" y="3749040"/>
            <a:ext cx="914400" cy="9144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F5A7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446520" y="39776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40664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Funções</a:t>
            </a:r>
            <a:endParaRPr lang="en-US" sz="2600"/>
          </a:p>
          <a:p>
            <a:pPr marL="0" indent="0">
              <a:buNone/>
            </a:pP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separar a conta do HTTP</a:t>
            </a:r>
            <a:endParaRPr lang="en-US" sz="2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10D219E0-3C5E-43C7-87F2-6F36B66D5D50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0" b="1">
                <a:solidFill>
                  <a:srgbClr val="17485C"/>
                </a:solidFill>
                <a:latin typeface="Arial"/>
                <a:ea typeface="Arial"/>
                <a:cs typeface="Arial"/>
              </a:rPr>
              <a:t>01</a:t>
            </a:r>
            <a:endParaRPr lang="en-US" sz="240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Trabalhando com HTTP</a:t>
            </a:r>
            <a:endParaRPr lang="en-US" sz="540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>
                <a:solidFill>
                  <a:srgbClr val="A9B8CC"/>
                </a:solidFill>
                <a:latin typeface="Arial"/>
                <a:ea typeface="Arial"/>
                <a:cs typeface="Arial"/>
              </a:rPr>
              <a:t>Pedido, resposta e status</a:t>
            </a:r>
            <a:endParaRPr lang="en-US"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Pedido e resposta</a:t>
            </a:r>
            <a:endParaRPr lang="en-US" sz="3400"/>
          </a:p>
        </p:txBody>
      </p:sp>
      <p:pic>
        <p:nvPicPr>
          <p:cNvPr id="3" name="http_gif" descr="O programa Go envia GET /desafio e a API devolve 200 OK com JSON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8640" y="1508760"/>
            <a:ext cx="11094415" cy="337656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120640"/>
            <a:ext cx="1106424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HTTP só leva e traz os dados</a:t>
            </a:r>
            <a:endParaRPr lang="en-US" sz="2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5D374AA8-8310-4FC9-8E61-808E79049FCE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GET e POST</a:t>
            </a:r>
            <a:endParaRPr lang="en-US" sz="3400"/>
          </a:p>
        </p:txBody>
      </p:sp>
      <p:grpSp>
        <p:nvGrpSpPr>
          <p:cNvPr id="35" name="gt_frame"/>
          <p:cNvGrpSpPr/>
          <p:nvPr/>
        </p:nvGrpSpPr>
        <p:grpSpPr>
          <a:xfrm>
            <a:off x="548640" y="1463040"/>
            <a:ext cx="4480560" cy="1527048"/>
            <a:chOff x="548640" y="1463040"/>
            <a:chExt cx="4480560" cy="1527048"/>
          </a:xfrm>
        </p:grpSpPr>
        <p:sp>
          <p:nvSpPr>
            <p:cNvPr id="3" name="gt"/>
            <p:cNvSpPr/>
            <p:nvPr/>
          </p:nvSpPr>
          <p:spPr>
            <a:xfrm>
              <a:off x="548640" y="1463040"/>
              <a:ext cx="4480560" cy="1527048"/>
            </a:xfrm>
            <a:prstGeom prst="roundRect">
              <a:avLst>
                <a:gd name="adj" fmla="val 8383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gt_hd"/>
            <p:cNvSpPr/>
            <p:nvPr/>
          </p:nvSpPr>
          <p:spPr>
            <a:xfrm>
              <a:off x="548640" y="1463040"/>
              <a:ext cx="44805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gt_hd2"/>
            <p:cNvSpPr/>
            <p:nvPr/>
          </p:nvSpPr>
          <p:spPr>
            <a:xfrm>
              <a:off x="548640" y="1700784"/>
              <a:ext cx="448056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gt_sep"/>
            <p:cNvSpPr/>
            <p:nvPr/>
          </p:nvSpPr>
          <p:spPr>
            <a:xfrm>
              <a:off x="548640" y="1847088"/>
              <a:ext cx="448056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gt_ol"/>
            <p:cNvSpPr/>
            <p:nvPr/>
          </p:nvSpPr>
          <p:spPr>
            <a:xfrm>
              <a:off x="548640" y="1463040"/>
              <a:ext cx="4480560" cy="1527048"/>
            </a:xfrm>
            <a:prstGeom prst="roundRect">
              <a:avLst>
                <a:gd name="adj" fmla="val 8383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gt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gt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gt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gt_fn"/>
            <p:cNvSpPr txBox="1"/>
            <p:nvPr/>
          </p:nvSpPr>
          <p:spPr>
            <a:xfrm>
              <a:off x="1463040" y="1517904"/>
              <a:ext cx="34747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pedido GET</a:t>
              </a:r>
              <a:endParaRPr lang="en-US" sz="1200"/>
            </a:p>
          </p:txBody>
        </p:sp>
      </p:grpSp>
      <p:grpSp>
        <p:nvGrpSpPr>
          <p:cNvPr id="36" name="gt_code"/>
          <p:cNvGrpSpPr/>
          <p:nvPr/>
        </p:nvGrpSpPr>
        <p:grpSpPr>
          <a:xfrm>
            <a:off x="868680" y="2075688"/>
            <a:ext cx="4114800" cy="685800"/>
            <a:chOff x="868680" y="2075688"/>
            <a:chExt cx="4114800" cy="685800"/>
          </a:xfrm>
        </p:grpSpPr>
        <p:sp>
          <p:nvSpPr>
            <p:cNvPr id="12" name="gt_ln0"/>
            <p:cNvSpPr txBox="1"/>
            <p:nvPr/>
          </p:nvSpPr>
          <p:spPr>
            <a:xfrm>
              <a:off x="868680" y="2075688"/>
              <a:ext cx="41148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GET /desafio HTTP/1.1</a:t>
              </a:r>
              <a:endParaRPr lang="en-US" sz="1800"/>
            </a:p>
          </p:txBody>
        </p:sp>
        <p:sp>
          <p:nvSpPr>
            <p:cNvPr id="13" name="gt_ln1"/>
            <p:cNvSpPr txBox="1"/>
            <p:nvPr/>
          </p:nvSpPr>
          <p:spPr>
            <a:xfrm>
              <a:off x="868680" y="2418588"/>
              <a:ext cx="41148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Authorization: Bearer abc123</a:t>
              </a:r>
              <a:endParaRPr lang="en-US" sz="1800"/>
            </a:p>
          </p:txBody>
        </p:sp>
      </p:grpSp>
      <p:grpSp>
        <p:nvGrpSpPr>
          <p:cNvPr id="37" name="ps_frame"/>
          <p:cNvGrpSpPr/>
          <p:nvPr/>
        </p:nvGrpSpPr>
        <p:grpSpPr>
          <a:xfrm>
            <a:off x="5303520" y="1463040"/>
            <a:ext cx="5029200" cy="2555748"/>
            <a:chOff x="5303520" y="1463040"/>
            <a:chExt cx="5029200" cy="2555748"/>
          </a:xfrm>
        </p:grpSpPr>
        <p:sp>
          <p:nvSpPr>
            <p:cNvPr id="14" name="ps"/>
            <p:cNvSpPr/>
            <p:nvPr/>
          </p:nvSpPr>
          <p:spPr>
            <a:xfrm>
              <a:off x="5303520" y="1463040"/>
              <a:ext cx="5029200" cy="2555748"/>
            </a:xfrm>
            <a:prstGeom prst="roundRect">
              <a:avLst>
                <a:gd name="adj" fmla="val 5009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15" name="ps_hd"/>
            <p:cNvSpPr/>
            <p:nvPr/>
          </p:nvSpPr>
          <p:spPr>
            <a:xfrm>
              <a:off x="5303520" y="1463040"/>
              <a:ext cx="502920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16" name="ps_hd2"/>
            <p:cNvSpPr/>
            <p:nvPr/>
          </p:nvSpPr>
          <p:spPr>
            <a:xfrm>
              <a:off x="5303520" y="1700784"/>
              <a:ext cx="502920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17" name="ps_sep"/>
            <p:cNvSpPr/>
            <p:nvPr/>
          </p:nvSpPr>
          <p:spPr>
            <a:xfrm>
              <a:off x="5303520" y="1847088"/>
              <a:ext cx="502920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18" name="ps_ol"/>
            <p:cNvSpPr/>
            <p:nvPr/>
          </p:nvSpPr>
          <p:spPr>
            <a:xfrm>
              <a:off x="5303520" y="1463040"/>
              <a:ext cx="5029200" cy="2555748"/>
            </a:xfrm>
            <a:prstGeom prst="roundRect">
              <a:avLst>
                <a:gd name="adj" fmla="val 5009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19" name="ps_d0"/>
            <p:cNvSpPr/>
            <p:nvPr/>
          </p:nvSpPr>
          <p:spPr>
            <a:xfrm>
              <a:off x="550468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20" name="ps_d1"/>
            <p:cNvSpPr/>
            <p:nvPr/>
          </p:nvSpPr>
          <p:spPr>
            <a:xfrm>
              <a:off x="570585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21" name="ps_d2"/>
            <p:cNvSpPr/>
            <p:nvPr/>
          </p:nvSpPr>
          <p:spPr>
            <a:xfrm>
              <a:off x="590702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22" name="ps_fn"/>
            <p:cNvSpPr txBox="1"/>
            <p:nvPr/>
          </p:nvSpPr>
          <p:spPr>
            <a:xfrm>
              <a:off x="6217920" y="1517904"/>
              <a:ext cx="4023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pedido POST</a:t>
              </a:r>
              <a:endParaRPr lang="en-US" sz="1200"/>
            </a:p>
          </p:txBody>
        </p:sp>
      </p:grpSp>
      <p:grpSp>
        <p:nvGrpSpPr>
          <p:cNvPr id="38" name="ps_code"/>
          <p:cNvGrpSpPr/>
          <p:nvPr/>
        </p:nvGrpSpPr>
        <p:grpSpPr>
          <a:xfrm>
            <a:off x="5623560" y="2075688"/>
            <a:ext cx="4663440" cy="1714500"/>
            <a:chOff x="5623560" y="2075688"/>
            <a:chExt cx="4663440" cy="1714500"/>
          </a:xfrm>
        </p:grpSpPr>
        <p:sp>
          <p:nvSpPr>
            <p:cNvPr id="23" name="ps_ln0"/>
            <p:cNvSpPr txBox="1"/>
            <p:nvPr/>
          </p:nvSpPr>
          <p:spPr>
            <a:xfrm>
              <a:off x="5623560" y="2075688"/>
              <a:ext cx="46634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POST /desafio/responder HTTP/1.1</a:t>
              </a:r>
              <a:endParaRPr lang="en-US" sz="1800"/>
            </a:p>
          </p:txBody>
        </p:sp>
        <p:sp>
          <p:nvSpPr>
            <p:cNvPr id="24" name="ps_ln1"/>
            <p:cNvSpPr txBox="1"/>
            <p:nvPr/>
          </p:nvSpPr>
          <p:spPr>
            <a:xfrm>
              <a:off x="5623560" y="2418588"/>
              <a:ext cx="46634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Authorization: Bearer abc123</a:t>
              </a:r>
              <a:endParaRPr lang="en-US" sz="1800"/>
            </a:p>
          </p:txBody>
        </p:sp>
        <p:sp>
          <p:nvSpPr>
            <p:cNvPr id="25" name="ps_ln2"/>
            <p:cNvSpPr txBox="1"/>
            <p:nvPr/>
          </p:nvSpPr>
          <p:spPr>
            <a:xfrm>
              <a:off x="5623560" y="2761488"/>
              <a:ext cx="46634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Content-Type: application/json</a:t>
              </a:r>
              <a:endParaRPr lang="en-US" sz="1800"/>
            </a:p>
          </p:txBody>
        </p:sp>
        <p:sp>
          <p:nvSpPr>
            <p:cNvPr id="26" name="ps_ln4"/>
            <p:cNvSpPr txBox="1"/>
            <p:nvPr/>
          </p:nvSpPr>
          <p:spPr>
            <a:xfrm>
              <a:off x="5623560" y="3447288"/>
              <a:ext cx="46634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{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"nivel"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1,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"resposta"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850}</a:t>
              </a:r>
              <a:endParaRPr lang="en-US" sz="1800"/>
            </a:p>
          </p:txBody>
        </p:sp>
      </p:grpSp>
      <p:grpSp>
        <p:nvGrpSpPr>
          <p:cNvPr id="39" name="lg"/>
          <p:cNvGrpSpPr/>
          <p:nvPr/>
        </p:nvGrpSpPr>
        <p:grpSpPr>
          <a:xfrm>
            <a:off x="548640" y="4343400"/>
            <a:ext cx="7955280" cy="1673352"/>
            <a:chOff x="548640" y="4343400"/>
            <a:chExt cx="7955280" cy="1673352"/>
          </a:xfrm>
        </p:grpSpPr>
        <p:sp>
          <p:nvSpPr>
            <p:cNvPr id="27" name="lg0a"/>
            <p:cNvSpPr txBox="1"/>
            <p:nvPr/>
          </p:nvSpPr>
          <p:spPr>
            <a:xfrm>
              <a:off x="548640" y="4343400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GET</a:t>
              </a:r>
              <a:endParaRPr lang="en-US" sz="1800"/>
            </a:p>
          </p:txBody>
        </p:sp>
        <p:sp>
          <p:nvSpPr>
            <p:cNvPr id="28" name="lg0b"/>
            <p:cNvSpPr txBox="1"/>
            <p:nvPr/>
          </p:nvSpPr>
          <p:spPr>
            <a:xfrm>
              <a:off x="3017520" y="4343400"/>
              <a:ext cx="5486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A9B8CC"/>
                  </a:solidFill>
                  <a:latin typeface="Arial"/>
                  <a:ea typeface="Arial"/>
                  <a:cs typeface="Arial"/>
                </a:rPr>
                <a:t>pede dados, sem corpo</a:t>
              </a:r>
              <a:endParaRPr lang="en-US" sz="1800"/>
            </a:p>
          </p:txBody>
        </p:sp>
        <p:sp>
          <p:nvSpPr>
            <p:cNvPr id="29" name="lg1a"/>
            <p:cNvSpPr txBox="1"/>
            <p:nvPr/>
          </p:nvSpPr>
          <p:spPr>
            <a:xfrm>
              <a:off x="548640" y="4773168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POST</a:t>
              </a:r>
              <a:endParaRPr lang="en-US" sz="1800"/>
            </a:p>
          </p:txBody>
        </p:sp>
        <p:sp>
          <p:nvSpPr>
            <p:cNvPr id="30" name="lg1b"/>
            <p:cNvSpPr txBox="1"/>
            <p:nvPr/>
          </p:nvSpPr>
          <p:spPr>
            <a:xfrm>
              <a:off x="3017520" y="4773168"/>
              <a:ext cx="5486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A9B8CC"/>
                  </a:solidFill>
                  <a:latin typeface="Arial"/>
                  <a:ea typeface="Arial"/>
                  <a:cs typeface="Arial"/>
                </a:rPr>
                <a:t>envia dados, com corpo</a:t>
              </a:r>
              <a:endParaRPr lang="en-US" sz="1800"/>
            </a:p>
          </p:txBody>
        </p:sp>
        <p:sp>
          <p:nvSpPr>
            <p:cNvPr id="31" name="lg2a"/>
            <p:cNvSpPr txBox="1"/>
            <p:nvPr/>
          </p:nvSpPr>
          <p:spPr>
            <a:xfrm>
              <a:off x="548640" y="5202936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Authorization</a:t>
              </a:r>
              <a:endParaRPr lang="en-US" sz="1800"/>
            </a:p>
          </p:txBody>
        </p:sp>
        <p:sp>
          <p:nvSpPr>
            <p:cNvPr id="32" name="lg2b"/>
            <p:cNvSpPr txBox="1"/>
            <p:nvPr/>
          </p:nvSpPr>
          <p:spPr>
            <a:xfrm>
              <a:off x="3017520" y="5202936"/>
              <a:ext cx="5486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A9B8CC"/>
                  </a:solidFill>
                  <a:latin typeface="Arial"/>
                  <a:ea typeface="Arial"/>
                  <a:cs typeface="Arial"/>
                </a:rPr>
                <a:t>o token da sua dupla</a:t>
              </a:r>
              <a:endParaRPr lang="en-US" sz="1800"/>
            </a:p>
          </p:txBody>
        </p:sp>
        <p:sp>
          <p:nvSpPr>
            <p:cNvPr id="33" name="lg3a"/>
            <p:cNvSpPr txBox="1"/>
            <p:nvPr/>
          </p:nvSpPr>
          <p:spPr>
            <a:xfrm>
              <a:off x="548640" y="5632704"/>
              <a:ext cx="23774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Content-Type</a:t>
              </a:r>
              <a:endParaRPr lang="en-US" sz="1800"/>
            </a:p>
          </p:txBody>
        </p:sp>
        <p:sp>
          <p:nvSpPr>
            <p:cNvPr id="34" name="lg3b"/>
            <p:cNvSpPr txBox="1"/>
            <p:nvPr/>
          </p:nvSpPr>
          <p:spPr>
            <a:xfrm>
              <a:off x="3017520" y="5632704"/>
              <a:ext cx="54864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A9B8CC"/>
                  </a:solidFill>
                  <a:latin typeface="Arial"/>
                  <a:ea typeface="Arial"/>
                  <a:cs typeface="Arial"/>
                </a:rPr>
                <a:t>avisa que o corpo é JSON</a:t>
              </a:r>
              <a:endParaRPr lang="en-US" sz="1800"/>
            </a:p>
          </p:txBody>
        </p:sp>
      </p:grpSp>
      <p:sp>
        <p:nvSpPr>
          <p:cNvPr id="8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9FD5AD5D-00E4-4746-836B-F0EA3C4886F1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status diz como foi</a:t>
            </a:r>
            <a:endParaRPr lang="en-US" sz="340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200</a:t>
            </a:r>
            <a:endParaRPr lang="en-US" sz="3400"/>
          </a:p>
        </p:txBody>
      </p:sp>
      <p:sp>
        <p:nvSpPr>
          <p:cNvPr id="4" name="Text 2"/>
          <p:cNvSpPr txBox="1"/>
          <p:nvPr/>
        </p:nvSpPr>
        <p:spPr>
          <a:xfrm>
            <a:off x="1874520" y="1600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deu certo</a:t>
            </a:r>
            <a:endParaRPr lang="en-US" sz="200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4ADE80"/>
                </a:solidFill>
                <a:latin typeface="Consolas"/>
                <a:ea typeface="Consolas"/>
                <a:cs typeface="Consolas"/>
              </a:rPr>
              <a:t>201</a:t>
            </a:r>
            <a:endParaRPr lang="en-US" sz="3400"/>
          </a:p>
        </p:txBody>
      </p:sp>
      <p:sp>
        <p:nvSpPr>
          <p:cNvPr id="6" name="Text 4"/>
          <p:cNvSpPr txBox="1"/>
          <p:nvPr/>
        </p:nvSpPr>
        <p:spPr>
          <a:xfrm>
            <a:off x="1874520" y="2651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criado (cadastro da dupla)</a:t>
            </a:r>
            <a:endParaRPr lang="en-US" sz="200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400</a:t>
            </a:r>
            <a:endParaRPr lang="en-US" sz="3400"/>
          </a:p>
        </p:txBody>
      </p:sp>
      <p:sp>
        <p:nvSpPr>
          <p:cNvPr id="8" name="Text 6"/>
          <p:cNvSpPr txBox="1"/>
          <p:nvPr/>
        </p:nvSpPr>
        <p:spPr>
          <a:xfrm>
            <a:off x="1874520" y="3703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JSON quebrado</a:t>
            </a:r>
            <a:endParaRPr lang="en-US" sz="200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401</a:t>
            </a:r>
            <a:endParaRPr lang="en-US" sz="3400"/>
          </a:p>
        </p:txBody>
      </p:sp>
      <p:sp>
        <p:nvSpPr>
          <p:cNvPr id="10" name="Text 8"/>
          <p:cNvSpPr txBox="1"/>
          <p:nvPr/>
        </p:nvSpPr>
        <p:spPr>
          <a:xfrm>
            <a:off x="1874520" y="4754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faltou o token</a:t>
            </a:r>
            <a:endParaRPr lang="en-US" sz="2000"/>
          </a:p>
        </p:txBody>
      </p:sp>
      <p:sp>
        <p:nvSpPr>
          <p:cNvPr id="11" name="Text 9"/>
          <p:cNvSpPr txBox="1"/>
          <p:nvPr/>
        </p:nvSpPr>
        <p:spPr>
          <a:xfrm>
            <a:off x="6217920" y="1600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404</a:t>
            </a:r>
            <a:endParaRPr lang="en-US" sz="3400"/>
          </a:p>
        </p:txBody>
      </p:sp>
      <p:sp>
        <p:nvSpPr>
          <p:cNvPr id="12" name="Text 10"/>
          <p:cNvSpPr txBox="1"/>
          <p:nvPr/>
        </p:nvSpPr>
        <p:spPr>
          <a:xfrm>
            <a:off x="7543800" y="16002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rota não existe</a:t>
            </a:r>
            <a:endParaRPr lang="en-US" sz="2000"/>
          </a:p>
        </p:txBody>
      </p:sp>
      <p:sp>
        <p:nvSpPr>
          <p:cNvPr id="13" name="Text 11"/>
          <p:cNvSpPr txBox="1"/>
          <p:nvPr/>
        </p:nvSpPr>
        <p:spPr>
          <a:xfrm>
            <a:off x="6217920" y="26517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422</a:t>
            </a:r>
            <a:endParaRPr lang="en-US" sz="3400"/>
          </a:p>
        </p:txBody>
      </p:sp>
      <p:sp>
        <p:nvSpPr>
          <p:cNvPr id="14" name="Text 12"/>
          <p:cNvSpPr txBox="1"/>
          <p:nvPr/>
        </p:nvSpPr>
        <p:spPr>
          <a:xfrm>
            <a:off x="7543800" y="26517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resposta errada</a:t>
            </a:r>
            <a:endParaRPr lang="en-US" sz="2000"/>
          </a:p>
        </p:txBody>
      </p:sp>
      <p:sp>
        <p:nvSpPr>
          <p:cNvPr id="15" name="Text 13"/>
          <p:cNvSpPr txBox="1"/>
          <p:nvPr/>
        </p:nvSpPr>
        <p:spPr>
          <a:xfrm>
            <a:off x="6217920" y="37033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429</a:t>
            </a:r>
            <a:endParaRPr lang="en-US" sz="3400"/>
          </a:p>
        </p:txBody>
      </p:sp>
      <p:sp>
        <p:nvSpPr>
          <p:cNvPr id="16" name="Text 14"/>
          <p:cNvSpPr txBox="1"/>
          <p:nvPr/>
        </p:nvSpPr>
        <p:spPr>
          <a:xfrm>
            <a:off x="7543800" y="3703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muitas chamadas juntas</a:t>
            </a:r>
            <a:endParaRPr lang="en-US" sz="2000"/>
          </a:p>
        </p:txBody>
      </p:sp>
      <p:sp>
        <p:nvSpPr>
          <p:cNvPr id="17" name="Text 15"/>
          <p:cNvSpPr txBox="1"/>
          <p:nvPr/>
        </p:nvSpPr>
        <p:spPr>
          <a:xfrm>
            <a:off x="6217920" y="4754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8A80"/>
                </a:solidFill>
                <a:latin typeface="Consolas"/>
                <a:ea typeface="Consolas"/>
                <a:cs typeface="Consolas"/>
              </a:rPr>
              <a:t>500</a:t>
            </a:r>
            <a:endParaRPr lang="en-US" sz="3400"/>
          </a:p>
        </p:txBody>
      </p:sp>
      <p:sp>
        <p:nvSpPr>
          <p:cNvPr id="18" name="Text 16"/>
          <p:cNvSpPr txBox="1"/>
          <p:nvPr/>
        </p:nvSpPr>
        <p:spPr>
          <a:xfrm>
            <a:off x="7543800" y="47548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erro no servidor</a:t>
            </a:r>
            <a:endParaRPr lang="en-US" sz="2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B79A8C84-1846-4993-8C55-9E7286E57C4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0" b="1">
                <a:solidFill>
                  <a:srgbClr val="17485C"/>
                </a:solidFill>
                <a:latin typeface="Arial"/>
                <a:ea typeface="Arial"/>
                <a:cs typeface="Arial"/>
              </a:rPr>
              <a:t>02</a:t>
            </a:r>
            <a:endParaRPr lang="en-US" sz="240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Go falando HTTP</a:t>
            </a:r>
            <a:endParaRPr lang="en-US" sz="540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>
                <a:solidFill>
                  <a:srgbClr val="A9B8CC"/>
                </a:solidFill>
                <a:latin typeface="Arial"/>
                <a:ea typeface="Arial"/>
                <a:cs typeface="Arial"/>
              </a:rPr>
              <a:t>net/http e encoding/json, sem instalar nada</a:t>
            </a:r>
            <a:endParaRPr lang="en-US"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Primeiro GET</a:t>
            </a:r>
            <a:endParaRPr lang="en-US" sz="3400"/>
          </a:p>
        </p:txBody>
      </p:sp>
      <p:grpSp>
        <p:nvGrpSpPr>
          <p:cNvPr id="36" name="gg_frame"/>
          <p:cNvGrpSpPr/>
          <p:nvPr/>
        </p:nvGrpSpPr>
        <p:grpSpPr>
          <a:xfrm>
            <a:off x="548640" y="1463040"/>
            <a:ext cx="7223760" cy="3927348"/>
            <a:chOff x="548640" y="1463040"/>
            <a:chExt cx="7223760" cy="3927348"/>
          </a:xfrm>
        </p:grpSpPr>
        <p:sp>
          <p:nvSpPr>
            <p:cNvPr id="3" name="gg"/>
            <p:cNvSpPr/>
            <p:nvPr/>
          </p:nvSpPr>
          <p:spPr>
            <a:xfrm>
              <a:off x="548640" y="1463040"/>
              <a:ext cx="7223760" cy="3927348"/>
            </a:xfrm>
            <a:prstGeom prst="roundRect">
              <a:avLst>
                <a:gd name="adj" fmla="val 3260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gg_hd"/>
            <p:cNvSpPr/>
            <p:nvPr/>
          </p:nvSpPr>
          <p:spPr>
            <a:xfrm>
              <a:off x="548640" y="1463040"/>
              <a:ext cx="72237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gg_hd2"/>
            <p:cNvSpPr/>
            <p:nvPr/>
          </p:nvSpPr>
          <p:spPr>
            <a:xfrm>
              <a:off x="548640" y="1700784"/>
              <a:ext cx="722376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gg_sep"/>
            <p:cNvSpPr/>
            <p:nvPr/>
          </p:nvSpPr>
          <p:spPr>
            <a:xfrm>
              <a:off x="548640" y="1847088"/>
              <a:ext cx="722376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gg_ol"/>
            <p:cNvSpPr/>
            <p:nvPr/>
          </p:nvSpPr>
          <p:spPr>
            <a:xfrm>
              <a:off x="548640" y="1463040"/>
              <a:ext cx="7223760" cy="3927348"/>
            </a:xfrm>
            <a:prstGeom prst="roundRect">
              <a:avLst>
                <a:gd name="adj" fmla="val 3260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gg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gg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gg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gg_fn"/>
            <p:cNvSpPr txBox="1"/>
            <p:nvPr/>
          </p:nvSpPr>
          <p:spPr>
            <a:xfrm>
              <a:off x="1463040" y="1517904"/>
              <a:ext cx="6217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gg_h0"/>
          <p:cNvSpPr/>
          <p:nvPr/>
        </p:nvSpPr>
        <p:spPr>
          <a:xfrm>
            <a:off x="658368" y="2075688"/>
            <a:ext cx="700430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gg_h3"/>
          <p:cNvSpPr/>
          <p:nvPr/>
        </p:nvSpPr>
        <p:spPr>
          <a:xfrm>
            <a:off x="658368" y="3104388"/>
            <a:ext cx="700430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4" name="gg_h6"/>
          <p:cNvSpPr/>
          <p:nvPr/>
        </p:nvSpPr>
        <p:spPr>
          <a:xfrm>
            <a:off x="658368" y="4133088"/>
            <a:ext cx="700430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37" name="gg_code"/>
          <p:cNvGrpSpPr/>
          <p:nvPr/>
        </p:nvGrpSpPr>
        <p:grpSpPr>
          <a:xfrm>
            <a:off x="868680" y="2075688"/>
            <a:ext cx="6858000" cy="3086100"/>
            <a:chOff x="868680" y="2075688"/>
            <a:chExt cx="6858000" cy="3086100"/>
          </a:xfrm>
        </p:grpSpPr>
        <p:sp>
          <p:nvSpPr>
            <p:cNvPr id="15" name="gg_ln0"/>
            <p:cNvSpPr txBox="1"/>
            <p:nvPr/>
          </p:nvSpPr>
          <p:spPr>
            <a:xfrm>
              <a:off x="868680" y="20756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client := &amp;http.Client{Timeout: 5 * time.Second}</a:t>
              </a:r>
              <a:endParaRPr lang="en-US" sz="1800"/>
            </a:p>
          </p:txBody>
        </p:sp>
        <p:sp>
          <p:nvSpPr>
            <p:cNvPr id="16" name="gg_ln2"/>
            <p:cNvSpPr txBox="1"/>
            <p:nvPr/>
          </p:nvSpPr>
          <p:spPr>
            <a:xfrm>
              <a:off x="868680" y="27614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resp, err := client.Get(api +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"/exemplo"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)</a:t>
              </a:r>
              <a:endParaRPr lang="en-US" sz="1800"/>
            </a:p>
          </p:txBody>
        </p:sp>
        <p:sp>
          <p:nvSpPr>
            <p:cNvPr id="17" name="gg_ln3"/>
            <p:cNvSpPr txBox="1"/>
            <p:nvPr/>
          </p:nvSpPr>
          <p:spPr>
            <a:xfrm>
              <a:off x="868680" y="31043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 !=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nil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18" name="gg_ln4"/>
            <p:cNvSpPr txBox="1"/>
            <p:nvPr/>
          </p:nvSpPr>
          <p:spPr>
            <a:xfrm>
              <a:off x="868680" y="34472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log.Fatal(err)</a:t>
              </a:r>
              <a:endParaRPr lang="en-US" sz="1800"/>
            </a:p>
          </p:txBody>
        </p:sp>
        <p:sp>
          <p:nvSpPr>
            <p:cNvPr id="19" name="gg_ln5"/>
            <p:cNvSpPr txBox="1"/>
            <p:nvPr/>
          </p:nvSpPr>
          <p:spPr>
            <a:xfrm>
              <a:off x="868680" y="37901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20" name="gg_ln6"/>
            <p:cNvSpPr txBox="1"/>
            <p:nvPr/>
          </p:nvSpPr>
          <p:spPr>
            <a:xfrm>
              <a:off x="868680" y="41330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defer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resp.Body.Close()</a:t>
              </a:r>
              <a:endParaRPr lang="en-US" sz="1800"/>
            </a:p>
          </p:txBody>
        </p:sp>
        <p:sp>
          <p:nvSpPr>
            <p:cNvPr id="21" name="gg_ln8"/>
            <p:cNvSpPr txBox="1"/>
            <p:nvPr/>
          </p:nvSpPr>
          <p:spPr>
            <a:xfrm>
              <a:off x="868680" y="48188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fmt.Println(resp.Status)</a:t>
              </a:r>
              <a:endParaRPr lang="en-US" sz="1800"/>
            </a:p>
          </p:txBody>
        </p:sp>
      </p:grpSp>
      <p:sp>
        <p:nvSpPr>
          <p:cNvPr id="22" name="gg_l0"/>
          <p:cNvSpPr txBox="1"/>
          <p:nvPr/>
        </p:nvSpPr>
        <p:spPr>
          <a:xfrm>
            <a:off x="8046720" y="2057400"/>
            <a:ext cx="35963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nunca espera para sempre</a:t>
            </a:r>
            <a:endParaRPr lang="en-US" sz="1800"/>
          </a:p>
        </p:txBody>
      </p:sp>
      <p:sp>
        <p:nvSpPr>
          <p:cNvPr id="23" name="gg_l3"/>
          <p:cNvSpPr txBox="1"/>
          <p:nvPr/>
        </p:nvSpPr>
        <p:spPr>
          <a:xfrm>
            <a:off x="8046720" y="3086100"/>
            <a:ext cx="35963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nem conectou</a:t>
            </a:r>
            <a:endParaRPr lang="en-US" sz="1800"/>
          </a:p>
        </p:txBody>
      </p:sp>
      <p:sp>
        <p:nvSpPr>
          <p:cNvPr id="24" name="gg_l6"/>
          <p:cNvSpPr txBox="1"/>
          <p:nvPr/>
        </p:nvSpPr>
        <p:spPr>
          <a:xfrm>
            <a:off x="8046720" y="4114800"/>
            <a:ext cx="35963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sempre fechar o corpo</a:t>
            </a:r>
            <a:endParaRPr lang="en-US" sz="1800"/>
          </a:p>
        </p:txBody>
      </p:sp>
      <p:grpSp>
        <p:nvGrpSpPr>
          <p:cNvPr id="38" name="gg_out_win"/>
          <p:cNvGrpSpPr/>
          <p:nvPr/>
        </p:nvGrpSpPr>
        <p:grpSpPr>
          <a:xfrm>
            <a:off x="8046720" y="4617720"/>
            <a:ext cx="3596335" cy="1527048"/>
            <a:chOff x="8046720" y="4617720"/>
            <a:chExt cx="3596335" cy="1527048"/>
          </a:xfrm>
        </p:grpSpPr>
        <p:sp>
          <p:nvSpPr>
            <p:cNvPr id="25" name="gg_out"/>
            <p:cNvSpPr/>
            <p:nvPr/>
          </p:nvSpPr>
          <p:spPr>
            <a:xfrm>
              <a:off x="8046720" y="4617720"/>
              <a:ext cx="3596335" cy="1527048"/>
            </a:xfrm>
            <a:prstGeom prst="roundRect">
              <a:avLst>
                <a:gd name="adj" fmla="val 8383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26" name="gg_out_hd"/>
            <p:cNvSpPr/>
            <p:nvPr/>
          </p:nvSpPr>
          <p:spPr>
            <a:xfrm>
              <a:off x="8046720" y="4617720"/>
              <a:ext cx="3596335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7" name="gg_out_hd2"/>
            <p:cNvSpPr/>
            <p:nvPr/>
          </p:nvSpPr>
          <p:spPr>
            <a:xfrm>
              <a:off x="8046720" y="4855464"/>
              <a:ext cx="3596335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8" name="gg_out_sep"/>
            <p:cNvSpPr/>
            <p:nvPr/>
          </p:nvSpPr>
          <p:spPr>
            <a:xfrm>
              <a:off x="8046720" y="5001768"/>
              <a:ext cx="3596335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29" name="gg_out_ol"/>
            <p:cNvSpPr/>
            <p:nvPr/>
          </p:nvSpPr>
          <p:spPr>
            <a:xfrm>
              <a:off x="8046720" y="4617720"/>
              <a:ext cx="3596335" cy="1527048"/>
            </a:xfrm>
            <a:prstGeom prst="roundRect">
              <a:avLst>
                <a:gd name="adj" fmla="val 8383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30" name="gg_out_d0"/>
            <p:cNvSpPr/>
            <p:nvPr/>
          </p:nvSpPr>
          <p:spPr>
            <a:xfrm>
              <a:off x="8247888" y="474573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31" name="gg_out_d1"/>
            <p:cNvSpPr/>
            <p:nvPr/>
          </p:nvSpPr>
          <p:spPr>
            <a:xfrm>
              <a:off x="8449056" y="474573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32" name="gg_out_d2"/>
            <p:cNvSpPr/>
            <p:nvPr/>
          </p:nvSpPr>
          <p:spPr>
            <a:xfrm>
              <a:off x="8650224" y="474573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33" name="gg_out_fn"/>
            <p:cNvSpPr txBox="1"/>
            <p:nvPr/>
          </p:nvSpPr>
          <p:spPr>
            <a:xfrm>
              <a:off x="8961120" y="4672584"/>
              <a:ext cx="259049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terminal</a:t>
              </a:r>
              <a:endParaRPr lang="en-US" sz="1200"/>
            </a:p>
          </p:txBody>
        </p:sp>
        <p:sp>
          <p:nvSpPr>
            <p:cNvPr id="34" name="gg_out_ln0"/>
            <p:cNvSpPr txBox="1"/>
            <p:nvPr/>
          </p:nvSpPr>
          <p:spPr>
            <a:xfrm>
              <a:off x="8366760" y="5230368"/>
              <a:ext cx="323057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$ 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go run .</a:t>
              </a:r>
              <a:endParaRPr lang="en-US" sz="1800"/>
            </a:p>
          </p:txBody>
        </p:sp>
        <p:sp>
          <p:nvSpPr>
            <p:cNvPr id="35" name="gg_out_ln1"/>
            <p:cNvSpPr txBox="1"/>
            <p:nvPr/>
          </p:nvSpPr>
          <p:spPr>
            <a:xfrm>
              <a:off x="8366760" y="5573268"/>
              <a:ext cx="323057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4ADE80"/>
                  </a:solidFill>
                  <a:latin typeface="Consolas"/>
                  <a:ea typeface="Consolas"/>
                  <a:cs typeface="Consolas"/>
                </a:rPr>
                <a:t>200 OK</a:t>
              </a:r>
              <a:endParaRPr lang="en-US" sz="1800"/>
            </a:p>
          </p:txBody>
        </p:sp>
      </p:grpSp>
      <p:sp>
        <p:nvSpPr>
          <p:cNvPr id="8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80EC94FA-F8E2-4AC5-8BAF-84C1CD9CCE2A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Lendo o JSON da resposta</a:t>
            </a:r>
            <a:endParaRPr lang="en-US" sz="3400"/>
          </a:p>
        </p:txBody>
      </p:sp>
      <p:grpSp>
        <p:nvGrpSpPr>
          <p:cNvPr id="36" name="js_frame"/>
          <p:cNvGrpSpPr/>
          <p:nvPr/>
        </p:nvGrpSpPr>
        <p:grpSpPr>
          <a:xfrm>
            <a:off x="548640" y="1463040"/>
            <a:ext cx="6537960" cy="4270248"/>
            <a:chOff x="548640" y="1463040"/>
            <a:chExt cx="6537960" cy="4270248"/>
          </a:xfrm>
        </p:grpSpPr>
        <p:sp>
          <p:nvSpPr>
            <p:cNvPr id="3" name="js"/>
            <p:cNvSpPr/>
            <p:nvPr/>
          </p:nvSpPr>
          <p:spPr>
            <a:xfrm>
              <a:off x="548640" y="1463040"/>
              <a:ext cx="6537960" cy="4270248"/>
            </a:xfrm>
            <a:prstGeom prst="roundRect">
              <a:avLst>
                <a:gd name="adj" fmla="val 2998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js_hd"/>
            <p:cNvSpPr/>
            <p:nvPr/>
          </p:nvSpPr>
          <p:spPr>
            <a:xfrm>
              <a:off x="548640" y="1463040"/>
              <a:ext cx="65379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js_hd2"/>
            <p:cNvSpPr/>
            <p:nvPr/>
          </p:nvSpPr>
          <p:spPr>
            <a:xfrm>
              <a:off x="548640" y="1700784"/>
              <a:ext cx="653796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js_sep"/>
            <p:cNvSpPr/>
            <p:nvPr/>
          </p:nvSpPr>
          <p:spPr>
            <a:xfrm>
              <a:off x="548640" y="1847088"/>
              <a:ext cx="653796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js_ol"/>
            <p:cNvSpPr/>
            <p:nvPr/>
          </p:nvSpPr>
          <p:spPr>
            <a:xfrm>
              <a:off x="548640" y="1463040"/>
              <a:ext cx="6537960" cy="4270248"/>
            </a:xfrm>
            <a:prstGeom prst="roundRect">
              <a:avLst>
                <a:gd name="adj" fmla="val 2998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js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js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js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js_fn"/>
            <p:cNvSpPr txBox="1"/>
            <p:nvPr/>
          </p:nvSpPr>
          <p:spPr>
            <a:xfrm>
              <a:off x="1463040" y="1517904"/>
              <a:ext cx="55321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js_h1"/>
          <p:cNvSpPr/>
          <p:nvPr/>
        </p:nvSpPr>
        <p:spPr>
          <a:xfrm>
            <a:off x="658368" y="2418588"/>
            <a:ext cx="631850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js_h5"/>
          <p:cNvSpPr/>
          <p:nvPr/>
        </p:nvSpPr>
        <p:spPr>
          <a:xfrm>
            <a:off x="658368" y="3790188"/>
            <a:ext cx="631850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37" name="js_code"/>
          <p:cNvGrpSpPr/>
          <p:nvPr/>
        </p:nvGrpSpPr>
        <p:grpSpPr>
          <a:xfrm>
            <a:off x="868680" y="2075688"/>
            <a:ext cx="6172200" cy="3429000"/>
            <a:chOff x="868680" y="2075688"/>
            <a:chExt cx="6172200" cy="3429000"/>
          </a:xfrm>
        </p:grpSpPr>
        <p:sp>
          <p:nvSpPr>
            <p:cNvPr id="14" name="js_ln0"/>
            <p:cNvSpPr txBox="1"/>
            <p:nvPr/>
          </p:nvSpPr>
          <p:spPr>
            <a:xfrm>
              <a:off x="868680" y="20756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type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Mensagem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15" name="js_ln1"/>
            <p:cNvSpPr txBox="1"/>
            <p:nvPr/>
          </p:nvSpPr>
          <p:spPr>
            <a:xfrm>
              <a:off x="868680" y="24185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Texto string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`json:"texto"`</a:t>
              </a:r>
              <a:endParaRPr lang="en-US" sz="1800"/>
            </a:p>
          </p:txBody>
        </p:sp>
        <p:sp>
          <p:nvSpPr>
            <p:cNvPr id="16" name="js_ln2"/>
            <p:cNvSpPr txBox="1"/>
            <p:nvPr/>
          </p:nvSpPr>
          <p:spPr>
            <a:xfrm>
              <a:off x="868680" y="27614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17" name="js_ln4"/>
            <p:cNvSpPr txBox="1"/>
            <p:nvPr/>
          </p:nvSpPr>
          <p:spPr>
            <a:xfrm>
              <a:off x="868680" y="34472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var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m Mensagem</a:t>
              </a:r>
              <a:endParaRPr lang="en-US" sz="1800"/>
            </a:p>
          </p:txBody>
        </p:sp>
        <p:sp>
          <p:nvSpPr>
            <p:cNvPr id="18" name="js_ln5"/>
            <p:cNvSpPr txBox="1"/>
            <p:nvPr/>
          </p:nvSpPr>
          <p:spPr>
            <a:xfrm>
              <a:off x="868680" y="37901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err = json.NewDecoder(resp.Body).Decode(&amp;m)</a:t>
              </a:r>
              <a:endParaRPr lang="en-US" sz="1800"/>
            </a:p>
          </p:txBody>
        </p:sp>
        <p:sp>
          <p:nvSpPr>
            <p:cNvPr id="19" name="js_ln6"/>
            <p:cNvSpPr txBox="1"/>
            <p:nvPr/>
          </p:nvSpPr>
          <p:spPr>
            <a:xfrm>
              <a:off x="868680" y="41330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 !=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nil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20" name="js_ln7"/>
            <p:cNvSpPr txBox="1"/>
            <p:nvPr/>
          </p:nvSpPr>
          <p:spPr>
            <a:xfrm>
              <a:off x="868680" y="44759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log.Fatal(err)</a:t>
              </a:r>
              <a:endParaRPr lang="en-US" sz="1800"/>
            </a:p>
          </p:txBody>
        </p:sp>
        <p:sp>
          <p:nvSpPr>
            <p:cNvPr id="21" name="js_ln8"/>
            <p:cNvSpPr txBox="1"/>
            <p:nvPr/>
          </p:nvSpPr>
          <p:spPr>
            <a:xfrm>
              <a:off x="868680" y="48188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22" name="js_ln9"/>
            <p:cNvSpPr txBox="1"/>
            <p:nvPr/>
          </p:nvSpPr>
          <p:spPr>
            <a:xfrm>
              <a:off x="868680" y="5161788"/>
              <a:ext cx="61722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fmt.Println(m.Texto)</a:t>
              </a:r>
              <a:endParaRPr lang="en-US" sz="1800"/>
            </a:p>
          </p:txBody>
        </p:sp>
      </p:grpSp>
      <p:sp>
        <p:nvSpPr>
          <p:cNvPr id="23" name="js_l1"/>
          <p:cNvSpPr txBox="1"/>
          <p:nvPr/>
        </p:nvSpPr>
        <p:spPr>
          <a:xfrm>
            <a:off x="7360920" y="24003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"texto" do JSON vira Texto</a:t>
            </a:r>
            <a:endParaRPr lang="en-US" sz="1800"/>
          </a:p>
        </p:txBody>
      </p:sp>
      <p:sp>
        <p:nvSpPr>
          <p:cNvPr id="24" name="js_l5"/>
          <p:cNvSpPr txBox="1"/>
          <p:nvPr/>
        </p:nvSpPr>
        <p:spPr>
          <a:xfrm>
            <a:off x="7360920" y="37719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preenche a struct</a:t>
            </a:r>
            <a:endParaRPr lang="en-US" sz="1800"/>
          </a:p>
        </p:txBody>
      </p:sp>
      <p:grpSp>
        <p:nvGrpSpPr>
          <p:cNvPr id="38" name="js_out_win"/>
          <p:cNvGrpSpPr/>
          <p:nvPr/>
        </p:nvGrpSpPr>
        <p:grpSpPr>
          <a:xfrm>
            <a:off x="7360920" y="4384548"/>
            <a:ext cx="4282135" cy="1527048"/>
            <a:chOff x="7360920" y="4384548"/>
            <a:chExt cx="4282135" cy="1527048"/>
          </a:xfrm>
        </p:grpSpPr>
        <p:sp>
          <p:nvSpPr>
            <p:cNvPr id="25" name="js_out"/>
            <p:cNvSpPr/>
            <p:nvPr/>
          </p:nvSpPr>
          <p:spPr>
            <a:xfrm>
              <a:off x="7360920" y="4384548"/>
              <a:ext cx="4282135" cy="1527048"/>
            </a:xfrm>
            <a:prstGeom prst="roundRect">
              <a:avLst>
                <a:gd name="adj" fmla="val 8383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26" name="js_out_hd"/>
            <p:cNvSpPr/>
            <p:nvPr/>
          </p:nvSpPr>
          <p:spPr>
            <a:xfrm>
              <a:off x="7360920" y="4384548"/>
              <a:ext cx="4282135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7" name="js_out_hd2"/>
            <p:cNvSpPr/>
            <p:nvPr/>
          </p:nvSpPr>
          <p:spPr>
            <a:xfrm>
              <a:off x="7360920" y="4622292"/>
              <a:ext cx="4282135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8" name="js_out_sep"/>
            <p:cNvSpPr/>
            <p:nvPr/>
          </p:nvSpPr>
          <p:spPr>
            <a:xfrm>
              <a:off x="7360920" y="4768596"/>
              <a:ext cx="4282135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29" name="js_out_ol"/>
            <p:cNvSpPr/>
            <p:nvPr/>
          </p:nvSpPr>
          <p:spPr>
            <a:xfrm>
              <a:off x="7360920" y="4384548"/>
              <a:ext cx="4282135" cy="1527048"/>
            </a:xfrm>
            <a:prstGeom prst="roundRect">
              <a:avLst>
                <a:gd name="adj" fmla="val 8383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30" name="js_out_d0"/>
            <p:cNvSpPr/>
            <p:nvPr/>
          </p:nvSpPr>
          <p:spPr>
            <a:xfrm>
              <a:off x="7562088" y="4512564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31" name="js_out_d1"/>
            <p:cNvSpPr/>
            <p:nvPr/>
          </p:nvSpPr>
          <p:spPr>
            <a:xfrm>
              <a:off x="7763256" y="4512564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32" name="js_out_d2"/>
            <p:cNvSpPr/>
            <p:nvPr/>
          </p:nvSpPr>
          <p:spPr>
            <a:xfrm>
              <a:off x="7964424" y="4512564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33" name="js_out_fn"/>
            <p:cNvSpPr txBox="1"/>
            <p:nvPr/>
          </p:nvSpPr>
          <p:spPr>
            <a:xfrm>
              <a:off x="8275320" y="4439412"/>
              <a:ext cx="327629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terminal</a:t>
              </a:r>
              <a:endParaRPr lang="en-US" sz="1200"/>
            </a:p>
          </p:txBody>
        </p:sp>
        <p:sp>
          <p:nvSpPr>
            <p:cNvPr id="34" name="js_out_ln0"/>
            <p:cNvSpPr txBox="1"/>
            <p:nvPr/>
          </p:nvSpPr>
          <p:spPr>
            <a:xfrm>
              <a:off x="7680960" y="4997196"/>
              <a:ext cx="391637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$ 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go run .</a:t>
              </a:r>
              <a:endParaRPr lang="en-US" sz="1800"/>
            </a:p>
          </p:txBody>
        </p:sp>
        <p:sp>
          <p:nvSpPr>
            <p:cNvPr id="35" name="js_out_ln1"/>
            <p:cNvSpPr txBox="1"/>
            <p:nvPr/>
          </p:nvSpPr>
          <p:spPr>
            <a:xfrm>
              <a:off x="7680960" y="5340096"/>
              <a:ext cx="391637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4ADE80"/>
                  </a:solidFill>
                  <a:latin typeface="Consolas"/>
                  <a:ea typeface="Consolas"/>
                  <a:cs typeface="Consolas"/>
                </a:rPr>
                <a:t>Ola, Gopher!</a:t>
              </a:r>
              <a:endParaRPr lang="en-US" sz="1800"/>
            </a:p>
          </p:txBody>
        </p:sp>
      </p:grpSp>
      <p:sp>
        <p:nvSpPr>
          <p:cNvPr id="9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A67E2D13-7704-45C7-8091-8B2F05FD78CE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 JSON para os tipos do Go</a:t>
            </a:r>
            <a:endParaRPr lang="en-US" sz="3400"/>
          </a:p>
        </p:txBody>
      </p:sp>
      <p:grpSp>
        <p:nvGrpSpPr>
          <p:cNvPr id="39" name="jj_frame"/>
          <p:cNvGrpSpPr/>
          <p:nvPr/>
        </p:nvGrpSpPr>
        <p:grpSpPr>
          <a:xfrm>
            <a:off x="548640" y="1463040"/>
            <a:ext cx="3931920" cy="2898648"/>
            <a:chOff x="548640" y="1463040"/>
            <a:chExt cx="3931920" cy="2898648"/>
          </a:xfrm>
        </p:grpSpPr>
        <p:sp>
          <p:nvSpPr>
            <p:cNvPr id="3" name="jj"/>
            <p:cNvSpPr/>
            <p:nvPr/>
          </p:nvSpPr>
          <p:spPr>
            <a:xfrm>
              <a:off x="548640" y="1463040"/>
              <a:ext cx="3931920" cy="2898648"/>
            </a:xfrm>
            <a:prstGeom prst="roundRect">
              <a:avLst>
                <a:gd name="adj" fmla="val 4416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jj_hd"/>
            <p:cNvSpPr/>
            <p:nvPr/>
          </p:nvSpPr>
          <p:spPr>
            <a:xfrm>
              <a:off x="548640" y="1463040"/>
              <a:ext cx="393192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jj_hd2"/>
            <p:cNvSpPr/>
            <p:nvPr/>
          </p:nvSpPr>
          <p:spPr>
            <a:xfrm>
              <a:off x="548640" y="1700784"/>
              <a:ext cx="393192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jj_sep"/>
            <p:cNvSpPr/>
            <p:nvPr/>
          </p:nvSpPr>
          <p:spPr>
            <a:xfrm>
              <a:off x="548640" y="1847088"/>
              <a:ext cx="393192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jj_ol"/>
            <p:cNvSpPr/>
            <p:nvPr/>
          </p:nvSpPr>
          <p:spPr>
            <a:xfrm>
              <a:off x="548640" y="1463040"/>
              <a:ext cx="3931920" cy="2898648"/>
            </a:xfrm>
            <a:prstGeom prst="roundRect">
              <a:avLst>
                <a:gd name="adj" fmla="val 4416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jj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jj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jj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jj_fn"/>
            <p:cNvSpPr txBox="1"/>
            <p:nvPr/>
          </p:nvSpPr>
          <p:spPr>
            <a:xfrm>
              <a:off x="1463040" y="1517904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jogador.json</a:t>
              </a:r>
              <a:endParaRPr lang="en-US" sz="1200"/>
            </a:p>
          </p:txBody>
        </p:sp>
      </p:grpSp>
      <p:grpSp>
        <p:nvGrpSpPr>
          <p:cNvPr id="40" name="jj_code"/>
          <p:cNvGrpSpPr/>
          <p:nvPr/>
        </p:nvGrpSpPr>
        <p:grpSpPr>
          <a:xfrm>
            <a:off x="868680" y="2075688"/>
            <a:ext cx="3566160" cy="2057400"/>
            <a:chOff x="868680" y="2075688"/>
            <a:chExt cx="3566160" cy="2057400"/>
          </a:xfrm>
        </p:grpSpPr>
        <p:sp>
          <p:nvSpPr>
            <p:cNvPr id="12" name="jj_ln0"/>
            <p:cNvSpPr txBox="1"/>
            <p:nvPr/>
          </p:nvSpPr>
          <p:spPr>
            <a:xfrm>
              <a:off x="868680" y="2075688"/>
              <a:ext cx="35661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{</a:t>
              </a:r>
              <a:endParaRPr lang="en-US" sz="1800"/>
            </a:p>
          </p:txBody>
        </p:sp>
        <p:sp>
          <p:nvSpPr>
            <p:cNvPr id="13" name="jj_ln1"/>
            <p:cNvSpPr txBox="1"/>
            <p:nvPr/>
          </p:nvSpPr>
          <p:spPr>
            <a:xfrm>
              <a:off x="868680" y="2418588"/>
              <a:ext cx="35661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"nome"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"Ana"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</a:t>
              </a:r>
              <a:endParaRPr lang="en-US" sz="1800"/>
            </a:p>
          </p:txBody>
        </p:sp>
        <p:sp>
          <p:nvSpPr>
            <p:cNvPr id="14" name="jj_ln2"/>
            <p:cNvSpPr txBox="1"/>
            <p:nvPr/>
          </p:nvSpPr>
          <p:spPr>
            <a:xfrm>
              <a:off x="868680" y="2761488"/>
              <a:ext cx="35661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"pontos"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42,</a:t>
              </a:r>
              <a:endParaRPr lang="en-US" sz="1800"/>
            </a:p>
          </p:txBody>
        </p:sp>
        <p:sp>
          <p:nvSpPr>
            <p:cNvPr id="15" name="jj_ln3"/>
            <p:cNvSpPr txBox="1"/>
            <p:nvPr/>
          </p:nvSpPr>
          <p:spPr>
            <a:xfrm>
              <a:off x="868680" y="3104388"/>
              <a:ext cx="35661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"ativo"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true,</a:t>
              </a:r>
              <a:endParaRPr lang="en-US" sz="1800"/>
            </a:p>
          </p:txBody>
        </p:sp>
        <p:sp>
          <p:nvSpPr>
            <p:cNvPr id="16" name="jj_ln4"/>
            <p:cNvSpPr txBox="1"/>
            <p:nvPr/>
          </p:nvSpPr>
          <p:spPr>
            <a:xfrm>
              <a:off x="868680" y="3447288"/>
              <a:ext cx="35661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"tags"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[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"go"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"http"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]</a:t>
              </a:r>
              <a:endParaRPr lang="en-US" sz="1800"/>
            </a:p>
          </p:txBody>
        </p:sp>
        <p:sp>
          <p:nvSpPr>
            <p:cNvPr id="17" name="jj_ln5"/>
            <p:cNvSpPr txBox="1"/>
            <p:nvPr/>
          </p:nvSpPr>
          <p:spPr>
            <a:xfrm>
              <a:off x="868680" y="3790188"/>
              <a:ext cx="35661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grpSp>
        <p:nvGrpSpPr>
          <p:cNvPr id="41" name="jt_frame"/>
          <p:cNvGrpSpPr/>
          <p:nvPr/>
        </p:nvGrpSpPr>
        <p:grpSpPr>
          <a:xfrm>
            <a:off x="4754880" y="1463040"/>
            <a:ext cx="5440680" cy="2898648"/>
            <a:chOff x="4754880" y="1463040"/>
            <a:chExt cx="5440680" cy="2898648"/>
          </a:xfrm>
        </p:grpSpPr>
        <p:sp>
          <p:nvSpPr>
            <p:cNvPr id="18" name="jt"/>
            <p:cNvSpPr/>
            <p:nvPr/>
          </p:nvSpPr>
          <p:spPr>
            <a:xfrm>
              <a:off x="4754880" y="1463040"/>
              <a:ext cx="5440680" cy="2898648"/>
            </a:xfrm>
            <a:prstGeom prst="roundRect">
              <a:avLst>
                <a:gd name="adj" fmla="val 4416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19" name="jt_hd"/>
            <p:cNvSpPr/>
            <p:nvPr/>
          </p:nvSpPr>
          <p:spPr>
            <a:xfrm>
              <a:off x="4754880" y="1463040"/>
              <a:ext cx="54406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0" name="jt_hd2"/>
            <p:cNvSpPr/>
            <p:nvPr/>
          </p:nvSpPr>
          <p:spPr>
            <a:xfrm>
              <a:off x="4754880" y="1700784"/>
              <a:ext cx="544068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1" name="jt_sep"/>
            <p:cNvSpPr/>
            <p:nvPr/>
          </p:nvSpPr>
          <p:spPr>
            <a:xfrm>
              <a:off x="4754880" y="1847088"/>
              <a:ext cx="544068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22" name="jt_ol"/>
            <p:cNvSpPr/>
            <p:nvPr/>
          </p:nvSpPr>
          <p:spPr>
            <a:xfrm>
              <a:off x="4754880" y="1463040"/>
              <a:ext cx="5440680" cy="2898648"/>
            </a:xfrm>
            <a:prstGeom prst="roundRect">
              <a:avLst>
                <a:gd name="adj" fmla="val 4416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23" name="jt_d0"/>
            <p:cNvSpPr/>
            <p:nvPr/>
          </p:nvSpPr>
          <p:spPr>
            <a:xfrm>
              <a:off x="495604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24" name="jt_d1"/>
            <p:cNvSpPr/>
            <p:nvPr/>
          </p:nvSpPr>
          <p:spPr>
            <a:xfrm>
              <a:off x="515721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25" name="jt_d2"/>
            <p:cNvSpPr/>
            <p:nvPr/>
          </p:nvSpPr>
          <p:spPr>
            <a:xfrm>
              <a:off x="535838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26" name="jt_fn"/>
            <p:cNvSpPr txBox="1"/>
            <p:nvPr/>
          </p:nvSpPr>
          <p:spPr>
            <a:xfrm>
              <a:off x="5669280" y="1517904"/>
              <a:ext cx="4434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jogador.go</a:t>
              </a:r>
              <a:endParaRPr lang="en-US" sz="1200"/>
            </a:p>
          </p:txBody>
        </p:sp>
      </p:grpSp>
      <p:grpSp>
        <p:nvGrpSpPr>
          <p:cNvPr id="42" name="jt_code"/>
          <p:cNvGrpSpPr/>
          <p:nvPr/>
        </p:nvGrpSpPr>
        <p:grpSpPr>
          <a:xfrm>
            <a:off x="5074920" y="2075688"/>
            <a:ext cx="5074920" cy="2057400"/>
            <a:chOff x="5074920" y="2075688"/>
            <a:chExt cx="5074920" cy="2057400"/>
          </a:xfrm>
        </p:grpSpPr>
        <p:sp>
          <p:nvSpPr>
            <p:cNvPr id="27" name="jt_ln0"/>
            <p:cNvSpPr txBox="1"/>
            <p:nvPr/>
          </p:nvSpPr>
          <p:spPr>
            <a:xfrm>
              <a:off x="5074920" y="2075688"/>
              <a:ext cx="50749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type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Jogador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28" name="jt_ln1"/>
            <p:cNvSpPr txBox="1"/>
            <p:nvPr/>
          </p:nvSpPr>
          <p:spPr>
            <a:xfrm>
              <a:off x="5074920" y="2418588"/>
              <a:ext cx="50749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Nome   string  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`json:"nome"`</a:t>
              </a:r>
              <a:endParaRPr lang="en-US" sz="1800"/>
            </a:p>
          </p:txBody>
        </p:sp>
        <p:sp>
          <p:nvSpPr>
            <p:cNvPr id="29" name="jt_ln2"/>
            <p:cNvSpPr txBox="1"/>
            <p:nvPr/>
          </p:nvSpPr>
          <p:spPr>
            <a:xfrm>
              <a:off x="5074920" y="2761488"/>
              <a:ext cx="50749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Pontos int     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`json:"pontos"`</a:t>
              </a:r>
              <a:endParaRPr lang="en-US" sz="1800"/>
            </a:p>
          </p:txBody>
        </p:sp>
        <p:sp>
          <p:nvSpPr>
            <p:cNvPr id="30" name="jt_ln3"/>
            <p:cNvSpPr txBox="1"/>
            <p:nvPr/>
          </p:nvSpPr>
          <p:spPr>
            <a:xfrm>
              <a:off x="5074920" y="3104388"/>
              <a:ext cx="50749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Ativo  bool    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`json:"ativo"`</a:t>
              </a:r>
              <a:endParaRPr lang="en-US" sz="1800"/>
            </a:p>
          </p:txBody>
        </p:sp>
        <p:sp>
          <p:nvSpPr>
            <p:cNvPr id="31" name="jt_ln4"/>
            <p:cNvSpPr txBox="1"/>
            <p:nvPr/>
          </p:nvSpPr>
          <p:spPr>
            <a:xfrm>
              <a:off x="5074920" y="3447288"/>
              <a:ext cx="50749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Tags   []string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`json:"tags"`</a:t>
              </a:r>
              <a:endParaRPr lang="en-US" sz="1800"/>
            </a:p>
          </p:txBody>
        </p:sp>
        <p:sp>
          <p:nvSpPr>
            <p:cNvPr id="32" name="jt_ln5"/>
            <p:cNvSpPr txBox="1"/>
            <p:nvPr/>
          </p:nvSpPr>
          <p:spPr>
            <a:xfrm>
              <a:off x="5074920" y="3790188"/>
              <a:ext cx="50749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grpSp>
        <p:nvGrpSpPr>
          <p:cNvPr id="43" name="pr"/>
          <p:cNvGrpSpPr/>
          <p:nvPr/>
        </p:nvGrpSpPr>
        <p:grpSpPr>
          <a:xfrm>
            <a:off x="548640" y="4617720"/>
            <a:ext cx="11064240" cy="1097280"/>
            <a:chOff x="548640" y="4617720"/>
            <a:chExt cx="11064240" cy="1097280"/>
          </a:xfrm>
        </p:grpSpPr>
        <p:sp>
          <p:nvSpPr>
            <p:cNvPr id="33" name="pr0"/>
            <p:cNvSpPr txBox="1"/>
            <p:nvPr/>
          </p:nvSpPr>
          <p:spPr>
            <a:xfrm>
              <a:off x="548640" y="461772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"Ana"</a:t>
              </a:r>
              <a:r>
                <a:rPr lang="en-US" sz="1800">
                  <a:solidFill>
                    <a:srgbClr val="7A8BA3"/>
                  </a:solidFill>
                  <a:latin typeface="Arial"/>
                  <a:ea typeface="Arial"/>
                  <a:cs typeface="Arial"/>
                </a:rPr>
                <a:t>  →  </a:t>
              </a:r>
              <a:r>
                <a:rPr lang="en-US" sz="1800">
                  <a:solidFill>
                    <a:srgbClr val="F5F7FA"/>
                  </a:solidFill>
                  <a:latin typeface="Arial"/>
                  <a:ea typeface="Arial"/>
                  <a:cs typeface="Arial"/>
                </a:rPr>
                <a:t>string</a:t>
              </a:r>
              <a:endParaRPr lang="en-US" sz="1800"/>
            </a:p>
          </p:txBody>
        </p:sp>
        <p:sp>
          <p:nvSpPr>
            <p:cNvPr id="34" name="pr1"/>
            <p:cNvSpPr txBox="1"/>
            <p:nvPr/>
          </p:nvSpPr>
          <p:spPr>
            <a:xfrm>
              <a:off x="2697480" y="4617720"/>
              <a:ext cx="17373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42</a:t>
              </a:r>
              <a:r>
                <a:rPr lang="en-US" sz="1800">
                  <a:solidFill>
                    <a:srgbClr val="7A8BA3"/>
                  </a:solidFill>
                  <a:latin typeface="Arial"/>
                  <a:ea typeface="Arial"/>
                  <a:cs typeface="Arial"/>
                </a:rPr>
                <a:t>  →  </a:t>
              </a:r>
              <a:r>
                <a:rPr lang="en-US" sz="1800">
                  <a:solidFill>
                    <a:srgbClr val="F5F7FA"/>
                  </a:solidFill>
                  <a:latin typeface="Arial"/>
                  <a:ea typeface="Arial"/>
                  <a:cs typeface="Arial"/>
                </a:rPr>
                <a:t>int</a:t>
              </a:r>
              <a:endParaRPr lang="en-US" sz="1800"/>
            </a:p>
          </p:txBody>
        </p:sp>
        <p:sp>
          <p:nvSpPr>
            <p:cNvPr id="35" name="pr2"/>
            <p:cNvSpPr txBox="1"/>
            <p:nvPr/>
          </p:nvSpPr>
          <p:spPr>
            <a:xfrm>
              <a:off x="4526280" y="461772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en-US" sz="1800">
                  <a:solidFill>
                    <a:srgbClr val="7A8BA3"/>
                  </a:solidFill>
                  <a:latin typeface="Arial"/>
                  <a:ea typeface="Arial"/>
                  <a:cs typeface="Arial"/>
                </a:rPr>
                <a:t>  →  </a:t>
              </a:r>
              <a:r>
                <a:rPr lang="en-US" sz="1800">
                  <a:solidFill>
                    <a:srgbClr val="F5F7FA"/>
                  </a:solidFill>
                  <a:latin typeface="Arial"/>
                  <a:ea typeface="Arial"/>
                  <a:cs typeface="Arial"/>
                </a:rPr>
                <a:t>bool</a:t>
              </a:r>
              <a:endParaRPr lang="en-US" sz="1800"/>
            </a:p>
          </p:txBody>
        </p:sp>
        <p:sp>
          <p:nvSpPr>
            <p:cNvPr id="36" name="pr3"/>
            <p:cNvSpPr txBox="1"/>
            <p:nvPr/>
          </p:nvSpPr>
          <p:spPr>
            <a:xfrm>
              <a:off x="6446520" y="461772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[ ]</a:t>
              </a:r>
              <a:r>
                <a:rPr lang="en-US" sz="1800">
                  <a:solidFill>
                    <a:srgbClr val="7A8BA3"/>
                  </a:solidFill>
                  <a:latin typeface="Arial"/>
                  <a:ea typeface="Arial"/>
                  <a:cs typeface="Arial"/>
                </a:rPr>
                <a:t>  →  </a:t>
              </a:r>
              <a:r>
                <a:rPr lang="en-US" sz="1800">
                  <a:solidFill>
                    <a:srgbClr val="F5F7FA"/>
                  </a:solidFill>
                  <a:latin typeface="Arial"/>
                  <a:ea typeface="Arial"/>
                  <a:cs typeface="Arial"/>
                </a:rPr>
                <a:t>slice</a:t>
              </a:r>
              <a:endParaRPr lang="en-US" sz="1800"/>
            </a:p>
          </p:txBody>
        </p:sp>
        <p:sp>
          <p:nvSpPr>
            <p:cNvPr id="37" name="pr4"/>
            <p:cNvSpPr txBox="1"/>
            <p:nvPr/>
          </p:nvSpPr>
          <p:spPr>
            <a:xfrm>
              <a:off x="8366760" y="4617720"/>
              <a:ext cx="3200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{ }</a:t>
              </a:r>
              <a:r>
                <a:rPr lang="en-US" sz="1800">
                  <a:solidFill>
                    <a:srgbClr val="7A8BA3"/>
                  </a:solidFill>
                  <a:latin typeface="Arial"/>
                  <a:ea typeface="Arial"/>
                  <a:cs typeface="Arial"/>
                </a:rPr>
                <a:t>  →  </a:t>
              </a:r>
              <a:r>
                <a:rPr lang="en-US" sz="1800">
                  <a:solidFill>
                    <a:srgbClr val="F5F7FA"/>
                  </a:solidFill>
                  <a:latin typeface="Arial"/>
                  <a:ea typeface="Arial"/>
                  <a:cs typeface="Arial"/>
                </a:rPr>
                <a:t>struct ou map</a:t>
              </a:r>
              <a:endParaRPr lang="en-US" sz="1800"/>
            </a:p>
          </p:txBody>
        </p:sp>
        <p:sp>
          <p:nvSpPr>
            <p:cNvPr id="38" name="pr_note"/>
            <p:cNvSpPr txBox="1"/>
            <p:nvPr/>
          </p:nvSpPr>
          <p:spPr>
            <a:xfrm>
              <a:off x="548640" y="5257800"/>
              <a:ext cx="11064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A9B8CC"/>
                  </a:solidFill>
                  <a:latin typeface="Arial"/>
                  <a:ea typeface="Arial"/>
                  <a:cs typeface="Arial"/>
                </a:rPr>
                <a:t>Campo com letra minúscula fica vazio: o JSON só preenche campo exportado.</a:t>
              </a:r>
              <a:endParaRPr lang="en-US" sz="1800"/>
            </a:p>
          </p:txBody>
        </p:sp>
      </p:grpSp>
      <p:sp>
        <p:nvSpPr>
          <p:cNvPr id="9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95D27AB5-652A-495A-8336-EEDE33D0623B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 fill="hold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Dois jeitos de dar errado</a:t>
            </a:r>
            <a:endParaRPr lang="en-US" sz="3400"/>
          </a:p>
        </p:txBody>
      </p:sp>
      <p:grpSp>
        <p:nvGrpSpPr>
          <p:cNvPr id="44" name="er_frame"/>
          <p:cNvGrpSpPr/>
          <p:nvPr/>
        </p:nvGrpSpPr>
        <p:grpSpPr>
          <a:xfrm>
            <a:off x="548640" y="1463040"/>
            <a:ext cx="5715000" cy="3927348"/>
            <a:chOff x="548640" y="1463040"/>
            <a:chExt cx="5715000" cy="3927348"/>
          </a:xfrm>
        </p:grpSpPr>
        <p:sp>
          <p:nvSpPr>
            <p:cNvPr id="3" name="er"/>
            <p:cNvSpPr/>
            <p:nvPr/>
          </p:nvSpPr>
          <p:spPr>
            <a:xfrm>
              <a:off x="548640" y="1463040"/>
              <a:ext cx="5715000" cy="3927348"/>
            </a:xfrm>
            <a:prstGeom prst="roundRect">
              <a:avLst>
                <a:gd name="adj" fmla="val 3260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er_hd"/>
            <p:cNvSpPr/>
            <p:nvPr/>
          </p:nvSpPr>
          <p:spPr>
            <a:xfrm>
              <a:off x="548640" y="1463040"/>
              <a:ext cx="571500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er_hd2"/>
            <p:cNvSpPr/>
            <p:nvPr/>
          </p:nvSpPr>
          <p:spPr>
            <a:xfrm>
              <a:off x="548640" y="1700784"/>
              <a:ext cx="571500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er_sep"/>
            <p:cNvSpPr/>
            <p:nvPr/>
          </p:nvSpPr>
          <p:spPr>
            <a:xfrm>
              <a:off x="548640" y="1847088"/>
              <a:ext cx="571500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er_ol"/>
            <p:cNvSpPr/>
            <p:nvPr/>
          </p:nvSpPr>
          <p:spPr>
            <a:xfrm>
              <a:off x="548640" y="1463040"/>
              <a:ext cx="5715000" cy="3927348"/>
            </a:xfrm>
            <a:prstGeom prst="roundRect">
              <a:avLst>
                <a:gd name="adj" fmla="val 3260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er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er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er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er_fn"/>
            <p:cNvSpPr txBox="1"/>
            <p:nvPr/>
          </p:nvSpPr>
          <p:spPr>
            <a:xfrm>
              <a:off x="1463040" y="1517904"/>
              <a:ext cx="4709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er_h1"/>
          <p:cNvSpPr/>
          <p:nvPr/>
        </p:nvSpPr>
        <p:spPr>
          <a:xfrm>
            <a:off x="658368" y="2418588"/>
            <a:ext cx="549554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er_h6"/>
          <p:cNvSpPr/>
          <p:nvPr/>
        </p:nvSpPr>
        <p:spPr>
          <a:xfrm>
            <a:off x="658368" y="4133088"/>
            <a:ext cx="549554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45" name="er_code"/>
          <p:cNvGrpSpPr/>
          <p:nvPr/>
        </p:nvGrpSpPr>
        <p:grpSpPr>
          <a:xfrm>
            <a:off x="868680" y="2075688"/>
            <a:ext cx="5349240" cy="3086100"/>
            <a:chOff x="868680" y="2075688"/>
            <a:chExt cx="5349240" cy="3086100"/>
          </a:xfrm>
        </p:grpSpPr>
        <p:sp>
          <p:nvSpPr>
            <p:cNvPr id="14" name="er_ln0"/>
            <p:cNvSpPr txBox="1"/>
            <p:nvPr/>
          </p:nvSpPr>
          <p:spPr>
            <a:xfrm>
              <a:off x="868680" y="20756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resp, err := client.Get(url)</a:t>
              </a:r>
              <a:endParaRPr lang="en-US" sz="1800"/>
            </a:p>
          </p:txBody>
        </p:sp>
        <p:sp>
          <p:nvSpPr>
            <p:cNvPr id="15" name="er_ln1"/>
            <p:cNvSpPr txBox="1"/>
            <p:nvPr/>
          </p:nvSpPr>
          <p:spPr>
            <a:xfrm>
              <a:off x="868680" y="24185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 !=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nil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16" name="er_ln2"/>
            <p:cNvSpPr txBox="1"/>
            <p:nvPr/>
          </p:nvSpPr>
          <p:spPr>
            <a:xfrm>
              <a:off x="868680" y="27614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</a:t>
              </a:r>
              <a:endParaRPr lang="en-US" sz="1800"/>
            </a:p>
          </p:txBody>
        </p:sp>
        <p:sp>
          <p:nvSpPr>
            <p:cNvPr id="17" name="er_ln3"/>
            <p:cNvSpPr txBox="1"/>
            <p:nvPr/>
          </p:nvSpPr>
          <p:spPr>
            <a:xfrm>
              <a:off x="868680" y="31043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18" name="er_ln4"/>
            <p:cNvSpPr txBox="1"/>
            <p:nvPr/>
          </p:nvSpPr>
          <p:spPr>
            <a:xfrm>
              <a:off x="868680" y="34472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defer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resp.Body.Close()</a:t>
              </a:r>
              <a:endParaRPr lang="en-US" sz="1800"/>
            </a:p>
          </p:txBody>
        </p:sp>
        <p:sp>
          <p:nvSpPr>
            <p:cNvPr id="19" name="er_ln6"/>
            <p:cNvSpPr txBox="1"/>
            <p:nvPr/>
          </p:nvSpPr>
          <p:spPr>
            <a:xfrm>
              <a:off x="868680" y="41330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resp.StatusCode != http.StatusOK {</a:t>
              </a:r>
              <a:endParaRPr lang="en-US" sz="1800"/>
            </a:p>
          </p:txBody>
        </p:sp>
        <p:sp>
          <p:nvSpPr>
            <p:cNvPr id="20" name="er_ln7"/>
            <p:cNvSpPr txBox="1"/>
            <p:nvPr/>
          </p:nvSpPr>
          <p:spPr>
            <a:xfrm>
              <a:off x="868680" y="44759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errors.New(resp.Status)</a:t>
              </a:r>
              <a:endParaRPr lang="en-US" sz="1800"/>
            </a:p>
          </p:txBody>
        </p:sp>
        <p:sp>
          <p:nvSpPr>
            <p:cNvPr id="21" name="er_ln8"/>
            <p:cNvSpPr txBox="1"/>
            <p:nvPr/>
          </p:nvSpPr>
          <p:spPr>
            <a:xfrm>
              <a:off x="868680" y="4818888"/>
              <a:ext cx="534924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grpSp>
        <p:nvGrpSpPr>
          <p:cNvPr id="46" name="er_t1_win"/>
          <p:cNvGrpSpPr/>
          <p:nvPr/>
        </p:nvGrpSpPr>
        <p:grpSpPr>
          <a:xfrm>
            <a:off x="6537960" y="2308860"/>
            <a:ext cx="5105095" cy="1527048"/>
            <a:chOff x="6537960" y="2308860"/>
            <a:chExt cx="5105095" cy="1527048"/>
          </a:xfrm>
        </p:grpSpPr>
        <p:sp>
          <p:nvSpPr>
            <p:cNvPr id="22" name="er_t1"/>
            <p:cNvSpPr/>
            <p:nvPr/>
          </p:nvSpPr>
          <p:spPr>
            <a:xfrm>
              <a:off x="6537960" y="2308860"/>
              <a:ext cx="5105095" cy="1527048"/>
            </a:xfrm>
            <a:prstGeom prst="roundRect">
              <a:avLst>
                <a:gd name="adj" fmla="val 8383"/>
              </a:avLst>
            </a:prstGeom>
            <a:solidFill>
              <a:srgbClr val="1F1418"/>
            </a:solidFill>
            <a:ln w="12700">
              <a:solidFill>
                <a:srgbClr val="1F1418"/>
              </a:solidFill>
              <a:prstDash val="solid"/>
            </a:ln>
          </p:spPr>
        </p:sp>
        <p:sp>
          <p:nvSpPr>
            <p:cNvPr id="23" name="er_t1_hd"/>
            <p:cNvSpPr/>
            <p:nvPr/>
          </p:nvSpPr>
          <p:spPr>
            <a:xfrm>
              <a:off x="6537960" y="2308860"/>
              <a:ext cx="5105095" cy="384048"/>
            </a:xfrm>
            <a:prstGeom prst="roundRect">
              <a:avLst>
                <a:gd name="adj" fmla="val 33333"/>
              </a:avLst>
            </a:prstGeom>
            <a:solidFill>
              <a:srgbClr val="2A1A20"/>
            </a:solidFill>
            <a:ln w="12700">
              <a:solidFill>
                <a:srgbClr val="2A1A20"/>
              </a:solidFill>
              <a:prstDash val="solid"/>
            </a:ln>
          </p:spPr>
        </p:sp>
        <p:sp>
          <p:nvSpPr>
            <p:cNvPr id="24" name="er_t1_hd2"/>
            <p:cNvSpPr/>
            <p:nvPr/>
          </p:nvSpPr>
          <p:spPr>
            <a:xfrm>
              <a:off x="6537960" y="2546604"/>
              <a:ext cx="5105095" cy="146304"/>
            </a:xfrm>
            <a:prstGeom prst="rect">
              <a:avLst/>
            </a:prstGeom>
            <a:solidFill>
              <a:srgbClr val="2A1A20"/>
            </a:solidFill>
            <a:ln w="12700">
              <a:solidFill>
                <a:srgbClr val="2A1A20"/>
              </a:solidFill>
              <a:prstDash val="solid"/>
            </a:ln>
          </p:spPr>
        </p:sp>
        <p:sp>
          <p:nvSpPr>
            <p:cNvPr id="25" name="er_t1_sep"/>
            <p:cNvSpPr/>
            <p:nvPr/>
          </p:nvSpPr>
          <p:spPr>
            <a:xfrm>
              <a:off x="6537960" y="2692908"/>
              <a:ext cx="5105095" cy="0"/>
            </a:xfrm>
            <a:prstGeom prst="line">
              <a:avLst/>
            </a:prstGeom>
            <a:noFill/>
            <a:ln w="9525">
              <a:solidFill>
                <a:srgbClr val="5A2A33"/>
              </a:solidFill>
              <a:prstDash val="solid"/>
            </a:ln>
          </p:spPr>
        </p:sp>
        <p:sp>
          <p:nvSpPr>
            <p:cNvPr id="26" name="er_t1_ol"/>
            <p:cNvSpPr/>
            <p:nvPr/>
          </p:nvSpPr>
          <p:spPr>
            <a:xfrm>
              <a:off x="6537960" y="2308860"/>
              <a:ext cx="5105095" cy="1527048"/>
            </a:xfrm>
            <a:prstGeom prst="roundRect">
              <a:avLst>
                <a:gd name="adj" fmla="val 8383"/>
              </a:avLst>
            </a:prstGeom>
            <a:solidFill>
              <a:srgbClr val="1F1418">
                <a:alpha val="0"/>
              </a:srgbClr>
            </a:solidFill>
            <a:ln w="9525">
              <a:solidFill>
                <a:srgbClr val="5A2A33"/>
              </a:solidFill>
              <a:prstDash val="solid"/>
            </a:ln>
          </p:spPr>
        </p:sp>
        <p:sp>
          <p:nvSpPr>
            <p:cNvPr id="27" name="er_t1_d0"/>
            <p:cNvSpPr/>
            <p:nvPr/>
          </p:nvSpPr>
          <p:spPr>
            <a:xfrm>
              <a:off x="6739128" y="243687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28" name="er_t1_d1"/>
            <p:cNvSpPr/>
            <p:nvPr/>
          </p:nvSpPr>
          <p:spPr>
            <a:xfrm>
              <a:off x="6940296" y="243687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29" name="er_t1_d2"/>
            <p:cNvSpPr/>
            <p:nvPr/>
          </p:nvSpPr>
          <p:spPr>
            <a:xfrm>
              <a:off x="7141464" y="243687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30" name="er_t1_fn"/>
            <p:cNvSpPr txBox="1"/>
            <p:nvPr/>
          </p:nvSpPr>
          <p:spPr>
            <a:xfrm>
              <a:off x="7452360" y="2363724"/>
              <a:ext cx="409925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servidor desligado</a:t>
              </a:r>
              <a:endParaRPr lang="en-US" sz="1200"/>
            </a:p>
          </p:txBody>
        </p:sp>
        <p:sp>
          <p:nvSpPr>
            <p:cNvPr id="31" name="er_t1_ln0"/>
            <p:cNvSpPr txBox="1"/>
            <p:nvPr/>
          </p:nvSpPr>
          <p:spPr>
            <a:xfrm>
              <a:off x="6858000" y="2921508"/>
              <a:ext cx="473933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$ 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go run .</a:t>
              </a:r>
              <a:endParaRPr lang="en-US" sz="1800"/>
            </a:p>
          </p:txBody>
        </p:sp>
        <p:sp>
          <p:nvSpPr>
            <p:cNvPr id="32" name="er_t1_ln1"/>
            <p:cNvSpPr txBox="1"/>
            <p:nvPr/>
          </p:nvSpPr>
          <p:spPr>
            <a:xfrm>
              <a:off x="6858000" y="3264408"/>
              <a:ext cx="473933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FF8A80"/>
                  </a:solidFill>
                  <a:latin typeface="Consolas"/>
                  <a:ea typeface="Consolas"/>
                  <a:cs typeface="Consolas"/>
                </a:rPr>
                <a:t>connect: connection refused</a:t>
              </a:r>
              <a:endParaRPr lang="en-US" sz="1800"/>
            </a:p>
          </p:txBody>
        </p:sp>
      </p:grpSp>
      <p:grpSp>
        <p:nvGrpSpPr>
          <p:cNvPr id="47" name="er_t2_win"/>
          <p:cNvGrpSpPr/>
          <p:nvPr/>
        </p:nvGrpSpPr>
        <p:grpSpPr>
          <a:xfrm>
            <a:off x="6537960" y="4023360"/>
            <a:ext cx="5105095" cy="1527048"/>
            <a:chOff x="6537960" y="4023360"/>
            <a:chExt cx="5105095" cy="1527048"/>
          </a:xfrm>
        </p:grpSpPr>
        <p:sp>
          <p:nvSpPr>
            <p:cNvPr id="33" name="er_t2"/>
            <p:cNvSpPr/>
            <p:nvPr/>
          </p:nvSpPr>
          <p:spPr>
            <a:xfrm>
              <a:off x="6537960" y="4023360"/>
              <a:ext cx="5105095" cy="1527048"/>
            </a:xfrm>
            <a:prstGeom prst="roundRect">
              <a:avLst>
                <a:gd name="adj" fmla="val 8383"/>
              </a:avLst>
            </a:prstGeom>
            <a:solidFill>
              <a:srgbClr val="1F1418"/>
            </a:solidFill>
            <a:ln w="12700">
              <a:solidFill>
                <a:srgbClr val="1F1418"/>
              </a:solidFill>
              <a:prstDash val="solid"/>
            </a:ln>
          </p:spPr>
        </p:sp>
        <p:sp>
          <p:nvSpPr>
            <p:cNvPr id="34" name="er_t2_hd"/>
            <p:cNvSpPr/>
            <p:nvPr/>
          </p:nvSpPr>
          <p:spPr>
            <a:xfrm>
              <a:off x="6537960" y="4023360"/>
              <a:ext cx="5105095" cy="384048"/>
            </a:xfrm>
            <a:prstGeom prst="roundRect">
              <a:avLst>
                <a:gd name="adj" fmla="val 33333"/>
              </a:avLst>
            </a:prstGeom>
            <a:solidFill>
              <a:srgbClr val="2A1A20"/>
            </a:solidFill>
            <a:ln w="12700">
              <a:solidFill>
                <a:srgbClr val="2A1A20"/>
              </a:solidFill>
              <a:prstDash val="solid"/>
            </a:ln>
          </p:spPr>
        </p:sp>
        <p:sp>
          <p:nvSpPr>
            <p:cNvPr id="35" name="er_t2_hd2"/>
            <p:cNvSpPr/>
            <p:nvPr/>
          </p:nvSpPr>
          <p:spPr>
            <a:xfrm>
              <a:off x="6537960" y="4261104"/>
              <a:ext cx="5105095" cy="146304"/>
            </a:xfrm>
            <a:prstGeom prst="rect">
              <a:avLst/>
            </a:prstGeom>
            <a:solidFill>
              <a:srgbClr val="2A1A20"/>
            </a:solidFill>
            <a:ln w="12700">
              <a:solidFill>
                <a:srgbClr val="2A1A20"/>
              </a:solidFill>
              <a:prstDash val="solid"/>
            </a:ln>
          </p:spPr>
        </p:sp>
        <p:sp>
          <p:nvSpPr>
            <p:cNvPr id="36" name="er_t2_sep"/>
            <p:cNvSpPr/>
            <p:nvPr/>
          </p:nvSpPr>
          <p:spPr>
            <a:xfrm>
              <a:off x="6537960" y="4407408"/>
              <a:ext cx="5105095" cy="0"/>
            </a:xfrm>
            <a:prstGeom prst="line">
              <a:avLst/>
            </a:prstGeom>
            <a:noFill/>
            <a:ln w="9525">
              <a:solidFill>
                <a:srgbClr val="5A2A33"/>
              </a:solidFill>
              <a:prstDash val="solid"/>
            </a:ln>
          </p:spPr>
        </p:sp>
        <p:sp>
          <p:nvSpPr>
            <p:cNvPr id="37" name="er_t2_ol"/>
            <p:cNvSpPr/>
            <p:nvPr/>
          </p:nvSpPr>
          <p:spPr>
            <a:xfrm>
              <a:off x="6537960" y="4023360"/>
              <a:ext cx="5105095" cy="1527048"/>
            </a:xfrm>
            <a:prstGeom prst="roundRect">
              <a:avLst>
                <a:gd name="adj" fmla="val 8383"/>
              </a:avLst>
            </a:prstGeom>
            <a:solidFill>
              <a:srgbClr val="1F1418">
                <a:alpha val="0"/>
              </a:srgbClr>
            </a:solidFill>
            <a:ln w="9525">
              <a:solidFill>
                <a:srgbClr val="5A2A33"/>
              </a:solidFill>
              <a:prstDash val="solid"/>
            </a:ln>
          </p:spPr>
        </p:sp>
        <p:sp>
          <p:nvSpPr>
            <p:cNvPr id="38" name="er_t2_d0"/>
            <p:cNvSpPr/>
            <p:nvPr/>
          </p:nvSpPr>
          <p:spPr>
            <a:xfrm>
              <a:off x="6739128" y="415137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39" name="er_t2_d1"/>
            <p:cNvSpPr/>
            <p:nvPr/>
          </p:nvSpPr>
          <p:spPr>
            <a:xfrm>
              <a:off x="6940296" y="415137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40" name="er_t2_d2"/>
            <p:cNvSpPr/>
            <p:nvPr/>
          </p:nvSpPr>
          <p:spPr>
            <a:xfrm>
              <a:off x="7141464" y="415137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41" name="er_t2_fn"/>
            <p:cNvSpPr txBox="1"/>
            <p:nvPr/>
          </p:nvSpPr>
          <p:spPr>
            <a:xfrm>
              <a:off x="7452360" y="4078224"/>
              <a:ext cx="409925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rota errada</a:t>
              </a:r>
              <a:endParaRPr lang="en-US" sz="1200"/>
            </a:p>
          </p:txBody>
        </p:sp>
        <p:sp>
          <p:nvSpPr>
            <p:cNvPr id="42" name="er_t2_ln0"/>
            <p:cNvSpPr txBox="1"/>
            <p:nvPr/>
          </p:nvSpPr>
          <p:spPr>
            <a:xfrm>
              <a:off x="6858000" y="4636008"/>
              <a:ext cx="473933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00ADD8"/>
                  </a:solidFill>
                  <a:latin typeface="Consolas"/>
                  <a:ea typeface="Consolas"/>
                  <a:cs typeface="Consolas"/>
                </a:rPr>
                <a:t>$ 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go run .</a:t>
              </a:r>
              <a:endParaRPr lang="en-US" sz="1800"/>
            </a:p>
          </p:txBody>
        </p:sp>
        <p:sp>
          <p:nvSpPr>
            <p:cNvPr id="43" name="er_t2_ln1"/>
            <p:cNvSpPr txBox="1"/>
            <p:nvPr/>
          </p:nvSpPr>
          <p:spPr>
            <a:xfrm>
              <a:off x="6858000" y="4978908"/>
              <a:ext cx="4739335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FF8A80"/>
                  </a:solidFill>
                  <a:latin typeface="Consolas"/>
                  <a:ea typeface="Consolas"/>
                  <a:cs typeface="Consolas"/>
                </a:rPr>
                <a:t>404 Not Found</a:t>
              </a:r>
              <a:endParaRPr lang="en-US" sz="1800"/>
            </a:p>
          </p:txBody>
        </p:sp>
      </p:grp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92FA209A-C3A7-4F8D-8E85-A91313DE554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corpo do POST</a:t>
            </a:r>
            <a:endParaRPr lang="en-US" sz="3400"/>
          </a:p>
        </p:txBody>
      </p:sp>
      <p:grpSp>
        <p:nvGrpSpPr>
          <p:cNvPr id="33" name="cp_frame"/>
          <p:cNvGrpSpPr/>
          <p:nvPr/>
        </p:nvGrpSpPr>
        <p:grpSpPr>
          <a:xfrm>
            <a:off x="548640" y="1463040"/>
            <a:ext cx="4617720" cy="3927348"/>
            <a:chOff x="548640" y="1463040"/>
            <a:chExt cx="4617720" cy="3927348"/>
          </a:xfrm>
        </p:grpSpPr>
        <p:sp>
          <p:nvSpPr>
            <p:cNvPr id="3" name="cp"/>
            <p:cNvSpPr/>
            <p:nvPr/>
          </p:nvSpPr>
          <p:spPr>
            <a:xfrm>
              <a:off x="548640" y="1463040"/>
              <a:ext cx="4617720" cy="3927348"/>
            </a:xfrm>
            <a:prstGeom prst="roundRect">
              <a:avLst>
                <a:gd name="adj" fmla="val 3260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cp_hd"/>
            <p:cNvSpPr/>
            <p:nvPr/>
          </p:nvSpPr>
          <p:spPr>
            <a:xfrm>
              <a:off x="548640" y="1463040"/>
              <a:ext cx="461772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cp_hd2"/>
            <p:cNvSpPr/>
            <p:nvPr/>
          </p:nvSpPr>
          <p:spPr>
            <a:xfrm>
              <a:off x="548640" y="1700784"/>
              <a:ext cx="461772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cp_sep"/>
            <p:cNvSpPr/>
            <p:nvPr/>
          </p:nvSpPr>
          <p:spPr>
            <a:xfrm>
              <a:off x="548640" y="1847088"/>
              <a:ext cx="461772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cp_ol"/>
            <p:cNvSpPr/>
            <p:nvPr/>
          </p:nvSpPr>
          <p:spPr>
            <a:xfrm>
              <a:off x="548640" y="1463040"/>
              <a:ext cx="4617720" cy="3927348"/>
            </a:xfrm>
            <a:prstGeom prst="roundRect">
              <a:avLst>
                <a:gd name="adj" fmla="val 3260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cp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cp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cp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cp_fn"/>
            <p:cNvSpPr txBox="1"/>
            <p:nvPr/>
          </p:nvSpPr>
          <p:spPr>
            <a:xfrm>
              <a:off x="1463040" y="1517904"/>
              <a:ext cx="36118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cp_h6"/>
          <p:cNvSpPr/>
          <p:nvPr/>
        </p:nvSpPr>
        <p:spPr>
          <a:xfrm>
            <a:off x="658368" y="3790188"/>
            <a:ext cx="439826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34" name="cp_code"/>
          <p:cNvGrpSpPr/>
          <p:nvPr/>
        </p:nvGrpSpPr>
        <p:grpSpPr>
          <a:xfrm>
            <a:off x="868680" y="2075688"/>
            <a:ext cx="4251960" cy="3086100"/>
            <a:chOff x="868680" y="2075688"/>
            <a:chExt cx="4251960" cy="3086100"/>
          </a:xfrm>
        </p:grpSpPr>
        <p:sp>
          <p:nvSpPr>
            <p:cNvPr id="13" name="cp_ln0"/>
            <p:cNvSpPr txBox="1"/>
            <p:nvPr/>
          </p:nvSpPr>
          <p:spPr>
            <a:xfrm>
              <a:off x="868680" y="20756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corpo :=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map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[string]any{</a:t>
              </a:r>
              <a:endParaRPr lang="en-US" sz="1800"/>
            </a:p>
          </p:txBody>
        </p:sp>
        <p:sp>
          <p:nvSpPr>
            <p:cNvPr id="14" name="cp_ln1"/>
            <p:cNvSpPr txBox="1"/>
            <p:nvPr/>
          </p:nvSpPr>
          <p:spPr>
            <a:xfrm>
              <a:off x="868680" y="24185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"nivel"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   1,</a:t>
              </a:r>
              <a:endParaRPr lang="en-US" sz="1800"/>
            </a:p>
          </p:txBody>
        </p:sp>
        <p:sp>
          <p:nvSpPr>
            <p:cNvPr id="15" name="cp_ln2"/>
            <p:cNvSpPr txBox="1"/>
            <p:nvPr/>
          </p:nvSpPr>
          <p:spPr>
            <a:xfrm>
              <a:off x="868680" y="27614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"resposta"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850,</a:t>
              </a:r>
              <a:endParaRPr lang="en-US" sz="1800"/>
            </a:p>
          </p:txBody>
        </p:sp>
        <p:sp>
          <p:nvSpPr>
            <p:cNvPr id="16" name="cp_ln3"/>
            <p:cNvSpPr txBox="1"/>
            <p:nvPr/>
          </p:nvSpPr>
          <p:spPr>
            <a:xfrm>
              <a:off x="868680" y="31043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17" name="cp_ln5"/>
            <p:cNvSpPr txBox="1"/>
            <p:nvPr/>
          </p:nvSpPr>
          <p:spPr>
            <a:xfrm>
              <a:off x="868680" y="37901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b, err := json.Marshal(corpo)</a:t>
              </a:r>
              <a:endParaRPr lang="en-US" sz="1800"/>
            </a:p>
          </p:txBody>
        </p:sp>
        <p:sp>
          <p:nvSpPr>
            <p:cNvPr id="18" name="cp_ln6"/>
            <p:cNvSpPr txBox="1"/>
            <p:nvPr/>
          </p:nvSpPr>
          <p:spPr>
            <a:xfrm>
              <a:off x="868680" y="41330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 !=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nil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19" name="cp_ln7"/>
            <p:cNvSpPr txBox="1"/>
            <p:nvPr/>
          </p:nvSpPr>
          <p:spPr>
            <a:xfrm>
              <a:off x="868680" y="44759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</a:t>
              </a:r>
              <a:endParaRPr lang="en-US" sz="1800"/>
            </a:p>
          </p:txBody>
        </p:sp>
        <p:sp>
          <p:nvSpPr>
            <p:cNvPr id="20" name="cp_ln8"/>
            <p:cNvSpPr txBox="1"/>
            <p:nvPr/>
          </p:nvSpPr>
          <p:spPr>
            <a:xfrm>
              <a:off x="868680" y="4818888"/>
              <a:ext cx="425196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sp>
        <p:nvSpPr>
          <p:cNvPr id="21" name="cp_l6"/>
          <p:cNvSpPr txBox="1"/>
          <p:nvPr/>
        </p:nvSpPr>
        <p:spPr>
          <a:xfrm>
            <a:off x="5440680" y="37719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vira o JSON de cima</a:t>
            </a:r>
            <a:endParaRPr lang="en-US" sz="1800"/>
          </a:p>
        </p:txBody>
      </p:sp>
      <p:grpSp>
        <p:nvGrpSpPr>
          <p:cNvPr id="35" name="cp_out_win"/>
          <p:cNvGrpSpPr/>
          <p:nvPr/>
        </p:nvGrpSpPr>
        <p:grpSpPr>
          <a:xfrm>
            <a:off x="5440680" y="1463040"/>
            <a:ext cx="4206240" cy="1184148"/>
            <a:chOff x="5440680" y="1463040"/>
            <a:chExt cx="4206240" cy="1184148"/>
          </a:xfrm>
        </p:grpSpPr>
        <p:sp>
          <p:nvSpPr>
            <p:cNvPr id="22" name="cp_out"/>
            <p:cNvSpPr/>
            <p:nvPr/>
          </p:nvSpPr>
          <p:spPr>
            <a:xfrm>
              <a:off x="5440680" y="1463040"/>
              <a:ext cx="4206240" cy="1184148"/>
            </a:xfrm>
            <a:prstGeom prst="roundRect">
              <a:avLst>
                <a:gd name="adj" fmla="val 10811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23" name="cp_out_hd"/>
            <p:cNvSpPr/>
            <p:nvPr/>
          </p:nvSpPr>
          <p:spPr>
            <a:xfrm>
              <a:off x="5440680" y="1463040"/>
              <a:ext cx="42062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4" name="cp_out_hd2"/>
            <p:cNvSpPr/>
            <p:nvPr/>
          </p:nvSpPr>
          <p:spPr>
            <a:xfrm>
              <a:off x="5440680" y="1700784"/>
              <a:ext cx="420624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25" name="cp_out_sep"/>
            <p:cNvSpPr/>
            <p:nvPr/>
          </p:nvSpPr>
          <p:spPr>
            <a:xfrm>
              <a:off x="5440680" y="1847088"/>
              <a:ext cx="420624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26" name="cp_out_ol"/>
            <p:cNvSpPr/>
            <p:nvPr/>
          </p:nvSpPr>
          <p:spPr>
            <a:xfrm>
              <a:off x="5440680" y="1463040"/>
              <a:ext cx="4206240" cy="1184148"/>
            </a:xfrm>
            <a:prstGeom prst="roundRect">
              <a:avLst>
                <a:gd name="adj" fmla="val 10811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27" name="cp_out_d0"/>
            <p:cNvSpPr/>
            <p:nvPr/>
          </p:nvSpPr>
          <p:spPr>
            <a:xfrm>
              <a:off x="564184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28" name="cp_out_d1"/>
            <p:cNvSpPr/>
            <p:nvPr/>
          </p:nvSpPr>
          <p:spPr>
            <a:xfrm>
              <a:off x="584301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29" name="cp_out_d2"/>
            <p:cNvSpPr/>
            <p:nvPr/>
          </p:nvSpPr>
          <p:spPr>
            <a:xfrm>
              <a:off x="604418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30" name="cp_out_fn"/>
            <p:cNvSpPr txBox="1"/>
            <p:nvPr/>
          </p:nvSpPr>
          <p:spPr>
            <a:xfrm>
              <a:off x="6355080" y="1517904"/>
              <a:ext cx="320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string(b)</a:t>
              </a:r>
              <a:endParaRPr lang="en-US" sz="1200"/>
            </a:p>
          </p:txBody>
        </p:sp>
        <p:sp>
          <p:nvSpPr>
            <p:cNvPr id="31" name="cp_out_ln0"/>
            <p:cNvSpPr txBox="1"/>
            <p:nvPr/>
          </p:nvSpPr>
          <p:spPr>
            <a:xfrm>
              <a:off x="5760720" y="2075688"/>
              <a:ext cx="38404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{"nivel":1,"resposta":850}</a:t>
              </a:r>
              <a:endParaRPr lang="en-US" sz="1800"/>
            </a:p>
          </p:txBody>
        </p:sp>
      </p:grpSp>
      <p:sp>
        <p:nvSpPr>
          <p:cNvPr id="32" name="cp_note"/>
          <p:cNvSpPr txBox="1"/>
          <p:nvPr/>
        </p:nvSpPr>
        <p:spPr>
          <a:xfrm>
            <a:off x="5440680" y="2880360"/>
            <a:ext cx="6202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No desafio é esse formato: muda só o </a:t>
            </a:r>
            <a:r>
              <a:rPr lang="en-US" sz="18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nivel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 e a </a:t>
            </a:r>
            <a:r>
              <a:rPr lang="en-US" sz="18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resposta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.</a:t>
            </a:r>
            <a:endParaRPr lang="en-US" sz="1800"/>
          </a:p>
        </p:txBody>
      </p:sp>
      <p:sp>
        <p:nvSpPr>
          <p:cNvPr id="9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18C67565-E9B8-43A8-859B-FB8AC9415FF1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Enviando o POST</a:t>
            </a:r>
            <a:endParaRPr lang="en-US" sz="3400"/>
          </a:p>
        </p:txBody>
      </p:sp>
      <p:grpSp>
        <p:nvGrpSpPr>
          <p:cNvPr id="30" name="po_frame"/>
          <p:cNvGrpSpPr/>
          <p:nvPr/>
        </p:nvGrpSpPr>
        <p:grpSpPr>
          <a:xfrm>
            <a:off x="548640" y="1325880"/>
            <a:ext cx="7498080" cy="4956048"/>
            <a:chOff x="548640" y="1325880"/>
            <a:chExt cx="7498080" cy="4956048"/>
          </a:xfrm>
        </p:grpSpPr>
        <p:sp>
          <p:nvSpPr>
            <p:cNvPr id="3" name="po"/>
            <p:cNvSpPr/>
            <p:nvPr/>
          </p:nvSpPr>
          <p:spPr>
            <a:xfrm>
              <a:off x="548640" y="1325880"/>
              <a:ext cx="7498080" cy="4956048"/>
            </a:xfrm>
            <a:prstGeom prst="roundRect">
              <a:avLst>
                <a:gd name="adj" fmla="val 2583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po_hd"/>
            <p:cNvSpPr/>
            <p:nvPr/>
          </p:nvSpPr>
          <p:spPr>
            <a:xfrm>
              <a:off x="548640" y="1325880"/>
              <a:ext cx="74980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po_hd2"/>
            <p:cNvSpPr/>
            <p:nvPr/>
          </p:nvSpPr>
          <p:spPr>
            <a:xfrm>
              <a:off x="548640" y="1563624"/>
              <a:ext cx="749808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po_sep"/>
            <p:cNvSpPr/>
            <p:nvPr/>
          </p:nvSpPr>
          <p:spPr>
            <a:xfrm>
              <a:off x="548640" y="1709928"/>
              <a:ext cx="749808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po_ol"/>
            <p:cNvSpPr/>
            <p:nvPr/>
          </p:nvSpPr>
          <p:spPr>
            <a:xfrm>
              <a:off x="548640" y="1325880"/>
              <a:ext cx="7498080" cy="4956048"/>
            </a:xfrm>
            <a:prstGeom prst="roundRect">
              <a:avLst>
                <a:gd name="adj" fmla="val 2583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po_d0"/>
            <p:cNvSpPr/>
            <p:nvPr/>
          </p:nvSpPr>
          <p:spPr>
            <a:xfrm>
              <a:off x="749808" y="145389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po_d1"/>
            <p:cNvSpPr/>
            <p:nvPr/>
          </p:nvSpPr>
          <p:spPr>
            <a:xfrm>
              <a:off x="950976" y="145389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po_d2"/>
            <p:cNvSpPr/>
            <p:nvPr/>
          </p:nvSpPr>
          <p:spPr>
            <a:xfrm>
              <a:off x="1152144" y="145389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po_fn"/>
            <p:cNvSpPr txBox="1"/>
            <p:nvPr/>
          </p:nvSpPr>
          <p:spPr>
            <a:xfrm>
              <a:off x="1463040" y="1380744"/>
              <a:ext cx="6492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po_h1"/>
          <p:cNvSpPr/>
          <p:nvPr/>
        </p:nvSpPr>
        <p:spPr>
          <a:xfrm>
            <a:off x="658368" y="2281428"/>
            <a:ext cx="727862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po_h6"/>
          <p:cNvSpPr/>
          <p:nvPr/>
        </p:nvSpPr>
        <p:spPr>
          <a:xfrm>
            <a:off x="658368" y="3995928"/>
            <a:ext cx="727862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31" name="po_code"/>
          <p:cNvGrpSpPr/>
          <p:nvPr/>
        </p:nvGrpSpPr>
        <p:grpSpPr>
          <a:xfrm>
            <a:off x="868680" y="1938528"/>
            <a:ext cx="7132320" cy="4114800"/>
            <a:chOff x="868680" y="1938528"/>
            <a:chExt cx="7132320" cy="4114800"/>
          </a:xfrm>
        </p:grpSpPr>
        <p:sp>
          <p:nvSpPr>
            <p:cNvPr id="14" name="po_ln0"/>
            <p:cNvSpPr txBox="1"/>
            <p:nvPr/>
          </p:nvSpPr>
          <p:spPr>
            <a:xfrm>
              <a:off x="868680" y="19385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leitor := bytes.NewReader(b)</a:t>
              </a:r>
              <a:endParaRPr lang="en-US" sz="1800"/>
            </a:p>
          </p:txBody>
        </p:sp>
        <p:sp>
          <p:nvSpPr>
            <p:cNvPr id="15" name="po_ln1"/>
            <p:cNvSpPr txBox="1"/>
            <p:nvPr/>
          </p:nvSpPr>
          <p:spPr>
            <a:xfrm>
              <a:off x="868680" y="22814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req, err := http.NewRequest(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"POST"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url, leitor)</a:t>
              </a:r>
              <a:endParaRPr lang="en-US" sz="1800"/>
            </a:p>
          </p:txBody>
        </p:sp>
        <p:sp>
          <p:nvSpPr>
            <p:cNvPr id="16" name="po_ln2"/>
            <p:cNvSpPr txBox="1"/>
            <p:nvPr/>
          </p:nvSpPr>
          <p:spPr>
            <a:xfrm>
              <a:off x="868680" y="26243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 !=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nil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17" name="po_ln3"/>
            <p:cNvSpPr txBox="1"/>
            <p:nvPr/>
          </p:nvSpPr>
          <p:spPr>
            <a:xfrm>
              <a:off x="868680" y="29672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</a:t>
              </a:r>
              <a:endParaRPr lang="en-US" sz="1800"/>
            </a:p>
          </p:txBody>
        </p:sp>
        <p:sp>
          <p:nvSpPr>
            <p:cNvPr id="18" name="po_ln4"/>
            <p:cNvSpPr txBox="1"/>
            <p:nvPr/>
          </p:nvSpPr>
          <p:spPr>
            <a:xfrm>
              <a:off x="868680" y="33101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19" name="po_ln5"/>
            <p:cNvSpPr txBox="1"/>
            <p:nvPr/>
          </p:nvSpPr>
          <p:spPr>
            <a:xfrm>
              <a:off x="868680" y="36530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req.Header.Set(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"Content-Type"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"application/json"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)</a:t>
              </a:r>
              <a:endParaRPr lang="en-US" sz="1800"/>
            </a:p>
          </p:txBody>
        </p:sp>
        <p:sp>
          <p:nvSpPr>
            <p:cNvPr id="20" name="po_ln6"/>
            <p:cNvSpPr txBox="1"/>
            <p:nvPr/>
          </p:nvSpPr>
          <p:spPr>
            <a:xfrm>
              <a:off x="868680" y="39959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req.Header.Set(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"Authorization"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"Bearer 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+token)</a:t>
              </a:r>
              <a:endParaRPr lang="en-US" sz="1800"/>
            </a:p>
          </p:txBody>
        </p:sp>
        <p:sp>
          <p:nvSpPr>
            <p:cNvPr id="21" name="po_ln7"/>
            <p:cNvSpPr txBox="1"/>
            <p:nvPr/>
          </p:nvSpPr>
          <p:spPr>
            <a:xfrm>
              <a:off x="868680" y="43388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resp, err := client.Do(req)</a:t>
              </a:r>
              <a:endParaRPr lang="en-US" sz="1800"/>
            </a:p>
          </p:txBody>
        </p:sp>
        <p:sp>
          <p:nvSpPr>
            <p:cNvPr id="22" name="po_ln8"/>
            <p:cNvSpPr txBox="1"/>
            <p:nvPr/>
          </p:nvSpPr>
          <p:spPr>
            <a:xfrm>
              <a:off x="868680" y="46817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 !=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nil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23" name="po_ln9"/>
            <p:cNvSpPr txBox="1"/>
            <p:nvPr/>
          </p:nvSpPr>
          <p:spPr>
            <a:xfrm>
              <a:off x="868680" y="50246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err</a:t>
              </a:r>
              <a:endParaRPr lang="en-US" sz="1800"/>
            </a:p>
          </p:txBody>
        </p:sp>
        <p:sp>
          <p:nvSpPr>
            <p:cNvPr id="24" name="po_ln10"/>
            <p:cNvSpPr txBox="1"/>
            <p:nvPr/>
          </p:nvSpPr>
          <p:spPr>
            <a:xfrm>
              <a:off x="868680" y="53675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25" name="po_ln11"/>
            <p:cNvSpPr txBox="1"/>
            <p:nvPr/>
          </p:nvSpPr>
          <p:spPr>
            <a:xfrm>
              <a:off x="868680" y="5710428"/>
              <a:ext cx="71323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defer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resp.Body.Close()</a:t>
              </a:r>
              <a:endParaRPr lang="en-US" sz="1800"/>
            </a:p>
          </p:txBody>
        </p:sp>
      </p:grpSp>
      <p:sp>
        <p:nvSpPr>
          <p:cNvPr id="26" name="po_l1"/>
          <p:cNvSpPr txBox="1"/>
          <p:nvPr/>
        </p:nvSpPr>
        <p:spPr>
          <a:xfrm>
            <a:off x="8321040" y="2263140"/>
            <a:ext cx="332201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monta o pedido</a:t>
            </a:r>
            <a:endParaRPr lang="en-US" sz="1800"/>
          </a:p>
        </p:txBody>
      </p:sp>
      <p:sp>
        <p:nvSpPr>
          <p:cNvPr id="27" name="po_l5"/>
          <p:cNvSpPr txBox="1"/>
          <p:nvPr/>
        </p:nvSpPr>
        <p:spPr>
          <a:xfrm>
            <a:off x="8321040" y="3634740"/>
            <a:ext cx="332201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o corpo é JSON</a:t>
            </a:r>
            <a:endParaRPr lang="en-US" sz="1800"/>
          </a:p>
        </p:txBody>
      </p:sp>
      <p:sp>
        <p:nvSpPr>
          <p:cNvPr id="28" name="po_l6"/>
          <p:cNvSpPr txBox="1"/>
          <p:nvPr/>
        </p:nvSpPr>
        <p:spPr>
          <a:xfrm>
            <a:off x="8321040" y="3977640"/>
            <a:ext cx="332201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o token da dupla</a:t>
            </a:r>
            <a:endParaRPr lang="en-US" sz="1800"/>
          </a:p>
        </p:txBody>
      </p:sp>
      <p:sp>
        <p:nvSpPr>
          <p:cNvPr id="29" name="po_l7"/>
          <p:cNvSpPr txBox="1"/>
          <p:nvPr/>
        </p:nvSpPr>
        <p:spPr>
          <a:xfrm>
            <a:off x="8321040" y="4320540"/>
            <a:ext cx="332201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envia</a:t>
            </a:r>
            <a:endParaRPr lang="en-US" sz="1800"/>
          </a:p>
        </p:txBody>
      </p:sp>
      <p:sp>
        <p:nvSpPr>
          <p:cNvPr id="9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4D469FB7-52EC-4B93-8A4D-4826A82733E2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ciclo do cliente</a:t>
            </a:r>
            <a:endParaRPr lang="en-US" sz="3400"/>
          </a:p>
        </p:txBody>
      </p:sp>
      <p:pic>
        <p:nvPicPr>
          <p:cNvPr id="3" name="ciclo_gif" descr="GET, decode, resolver em Go, POST e volta para o próximo nível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48640" y="1645920"/>
            <a:ext cx="11094415" cy="34569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 API não resolve nada: </a:t>
            </a:r>
            <a:r>
              <a:rPr lang="en-US" sz="2200">
                <a:solidFill>
                  <a:srgbClr val="A9B8CC"/>
                </a:solidFill>
                <a:latin typeface="Arial"/>
                <a:ea typeface="Arial"/>
                <a:cs typeface="Arial"/>
              </a:rPr>
              <a:t>ela entrega os dados e confere a resposta.</a:t>
            </a:r>
            <a:endParaRPr lang="en-US" sz="2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3581C090-3B8A-4946-86C5-674662338F4F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0" b="1">
                <a:solidFill>
                  <a:srgbClr val="17485C"/>
                </a:solidFill>
                <a:latin typeface="Arial"/>
                <a:ea typeface="Arial"/>
                <a:cs typeface="Arial"/>
              </a:rPr>
              <a:t>03</a:t>
            </a:r>
            <a:endParaRPr lang="en-US" sz="240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Treino</a:t>
            </a:r>
            <a:endParaRPr lang="en-US" sz="5400"/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>
                <a:solidFill>
                  <a:srgbClr val="A9B8CC"/>
                </a:solidFill>
                <a:latin typeface="Arial"/>
                <a:ea typeface="Arial"/>
                <a:cs typeface="Arial"/>
              </a:rPr>
              <a:t>Somar os pedidos pagos, juntos</a:t>
            </a:r>
            <a:endParaRPr lang="en-US"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Treino: o que chega</a:t>
            </a:r>
            <a:endParaRPr lang="en-US" sz="3400"/>
          </a:p>
        </p:txBody>
      </p:sp>
      <p:grpSp>
        <p:nvGrpSpPr>
          <p:cNvPr id="33" name="tr_frame"/>
          <p:cNvGrpSpPr/>
          <p:nvPr/>
        </p:nvGrpSpPr>
        <p:grpSpPr>
          <a:xfrm>
            <a:off x="548640" y="1463040"/>
            <a:ext cx="7269480" cy="3127248"/>
            <a:chOff x="548640" y="1463040"/>
            <a:chExt cx="7269480" cy="3127248"/>
          </a:xfrm>
        </p:grpSpPr>
        <p:sp>
          <p:nvSpPr>
            <p:cNvPr id="3" name="tr"/>
            <p:cNvSpPr/>
            <p:nvPr/>
          </p:nvSpPr>
          <p:spPr>
            <a:xfrm>
              <a:off x="548640" y="1463040"/>
              <a:ext cx="7269480" cy="3127248"/>
            </a:xfrm>
            <a:prstGeom prst="roundRect">
              <a:avLst>
                <a:gd name="adj" fmla="val 4094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tr_hd"/>
            <p:cNvSpPr/>
            <p:nvPr/>
          </p:nvSpPr>
          <p:spPr>
            <a:xfrm>
              <a:off x="548640" y="1463040"/>
              <a:ext cx="72694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tr_hd2"/>
            <p:cNvSpPr/>
            <p:nvPr/>
          </p:nvSpPr>
          <p:spPr>
            <a:xfrm>
              <a:off x="548640" y="1700784"/>
              <a:ext cx="726948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tr_sep"/>
            <p:cNvSpPr/>
            <p:nvPr/>
          </p:nvSpPr>
          <p:spPr>
            <a:xfrm>
              <a:off x="548640" y="1847088"/>
              <a:ext cx="726948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tr_ol"/>
            <p:cNvSpPr/>
            <p:nvPr/>
          </p:nvSpPr>
          <p:spPr>
            <a:xfrm>
              <a:off x="548640" y="1463040"/>
              <a:ext cx="7269480" cy="3127248"/>
            </a:xfrm>
            <a:prstGeom prst="roundRect">
              <a:avLst>
                <a:gd name="adj" fmla="val 4094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tr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tr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tr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tr_fn"/>
            <p:cNvSpPr txBox="1"/>
            <p:nvPr/>
          </p:nvSpPr>
          <p:spPr>
            <a:xfrm>
              <a:off x="1463040" y="1517904"/>
              <a:ext cx="6263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GET /treino</a:t>
              </a:r>
              <a:endParaRPr lang="en-US" sz="1200"/>
            </a:p>
          </p:txBody>
        </p:sp>
      </p:grpSp>
      <p:grpSp>
        <p:nvGrpSpPr>
          <p:cNvPr id="34" name="tr_code"/>
          <p:cNvGrpSpPr/>
          <p:nvPr/>
        </p:nvGrpSpPr>
        <p:grpSpPr>
          <a:xfrm>
            <a:off x="868680" y="2075688"/>
            <a:ext cx="6903720" cy="2286000"/>
            <a:chOff x="868680" y="2075688"/>
            <a:chExt cx="6903720" cy="2286000"/>
          </a:xfrm>
        </p:grpSpPr>
        <p:sp>
          <p:nvSpPr>
            <p:cNvPr id="12" name="tr_ln0"/>
            <p:cNvSpPr txBox="1"/>
            <p:nvPr/>
          </p:nvSpPr>
          <p:spPr>
            <a:xfrm>
              <a:off x="868680" y="207568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{</a:t>
              </a:r>
              <a:endParaRPr lang="en-US" sz="1500"/>
            </a:p>
          </p:txBody>
        </p:sp>
        <p:sp>
          <p:nvSpPr>
            <p:cNvPr id="13" name="tr_ln1"/>
            <p:cNvSpPr txBox="1"/>
            <p:nvPr/>
          </p:nvSpPr>
          <p:spPr>
            <a:xfrm>
              <a:off x="868680" y="236143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"pedidos"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[</a:t>
              </a:r>
              <a:endParaRPr lang="en-US" sz="1500"/>
            </a:p>
          </p:txBody>
        </p:sp>
        <p:sp>
          <p:nvSpPr>
            <p:cNvPr id="14" name="tr_ln2"/>
            <p:cNvSpPr txBox="1"/>
            <p:nvPr/>
          </p:nvSpPr>
          <p:spPr>
            <a:xfrm>
              <a:off x="868680" y="264718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{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"cliente"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"ana"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"valor_centavos"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:1000,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"pago"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:true},</a:t>
              </a:r>
              <a:endParaRPr lang="en-US" sz="1500"/>
            </a:p>
          </p:txBody>
        </p:sp>
        <p:sp>
          <p:nvSpPr>
            <p:cNvPr id="15" name="tr_ln3"/>
            <p:cNvSpPr txBox="1"/>
            <p:nvPr/>
          </p:nvSpPr>
          <p:spPr>
            <a:xfrm>
              <a:off x="868680" y="293293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{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"cliente"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"bia"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"valor_centavos"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:450,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"pago"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:false},</a:t>
              </a:r>
              <a:endParaRPr lang="en-US" sz="1500"/>
            </a:p>
          </p:txBody>
        </p:sp>
        <p:sp>
          <p:nvSpPr>
            <p:cNvPr id="16" name="tr_ln4"/>
            <p:cNvSpPr txBox="1"/>
            <p:nvPr/>
          </p:nvSpPr>
          <p:spPr>
            <a:xfrm>
              <a:off x="868680" y="321868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{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"cliente"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"caio"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"valor_centavos"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:700,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"pago"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:true},</a:t>
              </a:r>
              <a:endParaRPr lang="en-US" sz="1500"/>
            </a:p>
          </p:txBody>
        </p:sp>
        <p:sp>
          <p:nvSpPr>
            <p:cNvPr id="17" name="tr_ln5"/>
            <p:cNvSpPr txBox="1"/>
            <p:nvPr/>
          </p:nvSpPr>
          <p:spPr>
            <a:xfrm>
              <a:off x="868680" y="350443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{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"cliente"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"ana"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"valor_centavos"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:250,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"pago"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:true}</a:t>
              </a:r>
              <a:endParaRPr lang="en-US" sz="1500"/>
            </a:p>
          </p:txBody>
        </p:sp>
        <p:sp>
          <p:nvSpPr>
            <p:cNvPr id="18" name="tr_ln6"/>
            <p:cNvSpPr txBox="1"/>
            <p:nvPr/>
          </p:nvSpPr>
          <p:spPr>
            <a:xfrm>
              <a:off x="868680" y="379018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]</a:t>
              </a:r>
              <a:endParaRPr lang="en-US" sz="1500"/>
            </a:p>
          </p:txBody>
        </p:sp>
        <p:sp>
          <p:nvSpPr>
            <p:cNvPr id="19" name="tr_ln7"/>
            <p:cNvSpPr txBox="1"/>
            <p:nvPr/>
          </p:nvSpPr>
          <p:spPr>
            <a:xfrm>
              <a:off x="868680" y="4075938"/>
              <a:ext cx="69037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500"/>
            </a:p>
          </p:txBody>
        </p:sp>
      </p:grpSp>
      <p:sp>
        <p:nvSpPr>
          <p:cNvPr id="20" name="tp0_c"/>
          <p:cNvSpPr/>
          <p:nvPr/>
        </p:nvSpPr>
        <p:spPr>
          <a:xfrm>
            <a:off x="8229600" y="1554480"/>
            <a:ext cx="457200" cy="4572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1" name="tp0_n"/>
          <p:cNvSpPr txBox="1"/>
          <p:nvPr/>
        </p:nvSpPr>
        <p:spPr>
          <a:xfrm>
            <a:off x="82296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1600"/>
          </a:p>
        </p:txBody>
      </p:sp>
      <p:sp>
        <p:nvSpPr>
          <p:cNvPr id="22" name="Text 20"/>
          <p:cNvSpPr txBox="1"/>
          <p:nvPr/>
        </p:nvSpPr>
        <p:spPr>
          <a:xfrm>
            <a:off x="8823960" y="1417320"/>
            <a:ext cx="2819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GET /treino</a:t>
            </a:r>
            <a:endParaRPr lang="en-US" sz="1600"/>
          </a:p>
          <a:p>
            <a:pPr marL="0" indent="0">
              <a:buNone/>
            </a:pPr>
            <a:r>
              <a:rPr lang="en-US" sz="1500">
                <a:solidFill>
                  <a:srgbClr val="A9B8CC"/>
                </a:solidFill>
                <a:latin typeface="Arial"/>
                <a:ea typeface="Arial"/>
                <a:cs typeface="Arial"/>
              </a:rPr>
              <a:t>pegar os pedidos</a:t>
            </a:r>
            <a:endParaRPr lang="en-US" sz="1600"/>
          </a:p>
        </p:txBody>
      </p:sp>
      <p:sp>
        <p:nvSpPr>
          <p:cNvPr id="23" name="tp1_c"/>
          <p:cNvSpPr/>
          <p:nvPr/>
        </p:nvSpPr>
        <p:spPr>
          <a:xfrm>
            <a:off x="8229600" y="2468880"/>
            <a:ext cx="457200" cy="4572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4" name="tp1_n"/>
          <p:cNvSpPr txBox="1"/>
          <p:nvPr/>
        </p:nvSpPr>
        <p:spPr>
          <a:xfrm>
            <a:off x="82296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1600"/>
          </a:p>
        </p:txBody>
      </p:sp>
      <p:sp>
        <p:nvSpPr>
          <p:cNvPr id="25" name="Text 23"/>
          <p:cNvSpPr txBox="1"/>
          <p:nvPr/>
        </p:nvSpPr>
        <p:spPr>
          <a:xfrm>
            <a:off x="8823960" y="2331720"/>
            <a:ext cx="2819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Decode</a:t>
            </a:r>
            <a:endParaRPr lang="en-US" sz="1600"/>
          </a:p>
          <a:p>
            <a:pPr marL="0" indent="0">
              <a:buNone/>
            </a:pPr>
            <a:r>
              <a:rPr lang="en-US" sz="1500">
                <a:solidFill>
                  <a:srgbClr val="A9B8CC"/>
                </a:solidFill>
                <a:latin typeface="Arial"/>
                <a:ea typeface="Arial"/>
                <a:cs typeface="Arial"/>
              </a:rPr>
              <a:t>JSON → []Pedido</a:t>
            </a:r>
            <a:endParaRPr lang="en-US" sz="1600"/>
          </a:p>
        </p:txBody>
      </p:sp>
      <p:sp>
        <p:nvSpPr>
          <p:cNvPr id="26" name="tp2_c"/>
          <p:cNvSpPr/>
          <p:nvPr/>
        </p:nvSpPr>
        <p:spPr>
          <a:xfrm>
            <a:off x="8229600" y="3383280"/>
            <a:ext cx="457200" cy="4572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27" name="tp2_n"/>
          <p:cNvSpPr txBox="1"/>
          <p:nvPr/>
        </p:nvSpPr>
        <p:spPr>
          <a:xfrm>
            <a:off x="822960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8823960" y="3246120"/>
            <a:ext cx="2819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Somar</a:t>
            </a:r>
            <a:endParaRPr lang="en-US" sz="1600"/>
          </a:p>
          <a:p>
            <a:pPr marL="0" indent="0">
              <a:buNone/>
            </a:pPr>
            <a:r>
              <a:rPr lang="en-US" sz="1500">
                <a:solidFill>
                  <a:srgbClr val="A9B8CC"/>
                </a:solidFill>
                <a:latin typeface="Arial"/>
                <a:ea typeface="Arial"/>
                <a:cs typeface="Arial"/>
              </a:rPr>
              <a:t>só os pagos</a:t>
            </a:r>
            <a:endParaRPr lang="en-US" sz="1600"/>
          </a:p>
        </p:txBody>
      </p:sp>
      <p:sp>
        <p:nvSpPr>
          <p:cNvPr id="29" name="tp3_c"/>
          <p:cNvSpPr/>
          <p:nvPr/>
        </p:nvSpPr>
        <p:spPr>
          <a:xfrm>
            <a:off x="8229600" y="4297680"/>
            <a:ext cx="457200" cy="457200"/>
          </a:xfrm>
          <a:prstGeom prst="ellipse">
            <a:avLst/>
          </a:prstGeom>
          <a:solidFill>
            <a:srgbClr val="10303F"/>
          </a:solidFill>
          <a:ln w="12700">
            <a:solidFill>
              <a:srgbClr val="10303F"/>
            </a:solidFill>
            <a:prstDash val="solid"/>
          </a:ln>
        </p:spPr>
      </p:sp>
      <p:sp>
        <p:nvSpPr>
          <p:cNvPr id="30" name="tp3_n"/>
          <p:cNvSpPr txBox="1"/>
          <p:nvPr/>
        </p:nvSpPr>
        <p:spPr>
          <a:xfrm>
            <a:off x="822960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4</a:t>
            </a:r>
            <a:endParaRPr lang="en-US" sz="1600"/>
          </a:p>
        </p:txBody>
      </p:sp>
      <p:sp>
        <p:nvSpPr>
          <p:cNvPr id="31" name="Text 29"/>
          <p:cNvSpPr txBox="1"/>
          <p:nvPr/>
        </p:nvSpPr>
        <p:spPr>
          <a:xfrm>
            <a:off x="8823960" y="4160520"/>
            <a:ext cx="2819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POST /treino/responder</a:t>
            </a:r>
            <a:endParaRPr lang="en-US" sz="1600"/>
          </a:p>
          <a:p>
            <a:pPr marL="0" indent="0">
              <a:buNone/>
            </a:pPr>
            <a:r>
              <a:rPr lang="en-US" sz="1500">
                <a:solidFill>
                  <a:srgbClr val="A9B8CC"/>
                </a:solidFill>
                <a:latin typeface="Consolas"/>
                <a:ea typeface="Consolas"/>
                <a:cs typeface="Consolas"/>
              </a:rPr>
              <a:t>{"resposta": ...}</a:t>
            </a:r>
            <a:endParaRPr lang="en-US" sz="1600"/>
          </a:p>
        </p:txBody>
      </p:sp>
      <p:sp>
        <p:nvSpPr>
          <p:cNvPr id="32" name="Text 30"/>
          <p:cNvSpPr txBox="1"/>
          <p:nvPr/>
        </p:nvSpPr>
        <p:spPr>
          <a:xfrm>
            <a:off x="8229600" y="525780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7A8BA3"/>
                </a:solidFill>
                <a:latin typeface="Arial"/>
                <a:ea typeface="Arial"/>
                <a:cs typeface="Arial"/>
              </a:rPr>
              <a:t>Sem token no treino.</a:t>
            </a:r>
            <a:endParaRPr lang="en-US" sz="1600"/>
          </a:p>
        </p:txBody>
      </p:sp>
      <p:sp>
        <p:nvSpPr>
          <p:cNvPr id="9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32C9C87E-8A6C-4B44-888E-C579E651A6D5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Treino: os tipos</a:t>
            </a:r>
            <a:endParaRPr lang="en-US" sz="3400"/>
          </a:p>
        </p:txBody>
      </p:sp>
      <p:grpSp>
        <p:nvGrpSpPr>
          <p:cNvPr id="26" name="tt_frame"/>
          <p:cNvGrpSpPr/>
          <p:nvPr/>
        </p:nvGrpSpPr>
        <p:grpSpPr>
          <a:xfrm>
            <a:off x="548640" y="1463040"/>
            <a:ext cx="7223760" cy="3927348"/>
            <a:chOff x="548640" y="1463040"/>
            <a:chExt cx="7223760" cy="3927348"/>
          </a:xfrm>
        </p:grpSpPr>
        <p:sp>
          <p:nvSpPr>
            <p:cNvPr id="3" name="tt"/>
            <p:cNvSpPr/>
            <p:nvPr/>
          </p:nvSpPr>
          <p:spPr>
            <a:xfrm>
              <a:off x="548640" y="1463040"/>
              <a:ext cx="7223760" cy="3927348"/>
            </a:xfrm>
            <a:prstGeom prst="roundRect">
              <a:avLst>
                <a:gd name="adj" fmla="val 3260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tt_hd"/>
            <p:cNvSpPr/>
            <p:nvPr/>
          </p:nvSpPr>
          <p:spPr>
            <a:xfrm>
              <a:off x="548640" y="1463040"/>
              <a:ext cx="722376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tt_hd2"/>
            <p:cNvSpPr/>
            <p:nvPr/>
          </p:nvSpPr>
          <p:spPr>
            <a:xfrm>
              <a:off x="548640" y="1700784"/>
              <a:ext cx="722376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tt_sep"/>
            <p:cNvSpPr/>
            <p:nvPr/>
          </p:nvSpPr>
          <p:spPr>
            <a:xfrm>
              <a:off x="548640" y="1847088"/>
              <a:ext cx="722376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tt_ol"/>
            <p:cNvSpPr/>
            <p:nvPr/>
          </p:nvSpPr>
          <p:spPr>
            <a:xfrm>
              <a:off x="548640" y="1463040"/>
              <a:ext cx="7223760" cy="3927348"/>
            </a:xfrm>
            <a:prstGeom prst="roundRect">
              <a:avLst>
                <a:gd name="adj" fmla="val 3260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tt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tt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tt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tt_fn"/>
            <p:cNvSpPr txBox="1"/>
            <p:nvPr/>
          </p:nvSpPr>
          <p:spPr>
            <a:xfrm>
              <a:off x="1463040" y="1517904"/>
              <a:ext cx="6217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tt_h0"/>
          <p:cNvSpPr/>
          <p:nvPr/>
        </p:nvSpPr>
        <p:spPr>
          <a:xfrm>
            <a:off x="658368" y="2075688"/>
            <a:ext cx="700430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tt_h7"/>
          <p:cNvSpPr/>
          <p:nvPr/>
        </p:nvSpPr>
        <p:spPr>
          <a:xfrm>
            <a:off x="658368" y="4475988"/>
            <a:ext cx="700430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27" name="tt_code"/>
          <p:cNvGrpSpPr/>
          <p:nvPr/>
        </p:nvGrpSpPr>
        <p:grpSpPr>
          <a:xfrm>
            <a:off x="868680" y="2075688"/>
            <a:ext cx="6858000" cy="3086100"/>
            <a:chOff x="868680" y="2075688"/>
            <a:chExt cx="6858000" cy="3086100"/>
          </a:xfrm>
        </p:grpSpPr>
        <p:sp>
          <p:nvSpPr>
            <p:cNvPr id="14" name="tt_ln0"/>
            <p:cNvSpPr txBox="1"/>
            <p:nvPr/>
          </p:nvSpPr>
          <p:spPr>
            <a:xfrm>
              <a:off x="868680" y="20756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type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Pedido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15" name="tt_ln1"/>
            <p:cNvSpPr txBox="1"/>
            <p:nvPr/>
          </p:nvSpPr>
          <p:spPr>
            <a:xfrm>
              <a:off x="868680" y="24185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Cliente       string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`json:"cliente"`</a:t>
              </a:r>
              <a:endParaRPr lang="en-US" sz="1800"/>
            </a:p>
          </p:txBody>
        </p:sp>
        <p:sp>
          <p:nvSpPr>
            <p:cNvPr id="16" name="tt_ln2"/>
            <p:cNvSpPr txBox="1"/>
            <p:nvPr/>
          </p:nvSpPr>
          <p:spPr>
            <a:xfrm>
              <a:off x="868680" y="27614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ValorCentavos int   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`json:"valor_centavos"`</a:t>
              </a:r>
              <a:endParaRPr lang="en-US" sz="1800"/>
            </a:p>
          </p:txBody>
        </p:sp>
        <p:sp>
          <p:nvSpPr>
            <p:cNvPr id="17" name="tt_ln3"/>
            <p:cNvSpPr txBox="1"/>
            <p:nvPr/>
          </p:nvSpPr>
          <p:spPr>
            <a:xfrm>
              <a:off x="868680" y="31043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Pago          bool  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`json:"pago"`</a:t>
              </a:r>
              <a:endParaRPr lang="en-US" sz="1800"/>
            </a:p>
          </p:txBody>
        </p:sp>
        <p:sp>
          <p:nvSpPr>
            <p:cNvPr id="18" name="tt_ln4"/>
            <p:cNvSpPr txBox="1"/>
            <p:nvPr/>
          </p:nvSpPr>
          <p:spPr>
            <a:xfrm>
              <a:off x="868680" y="34472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  <p:sp>
          <p:nvSpPr>
            <p:cNvPr id="19" name="tt_ln6"/>
            <p:cNvSpPr txBox="1"/>
            <p:nvPr/>
          </p:nvSpPr>
          <p:spPr>
            <a:xfrm>
              <a:off x="868680" y="41330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type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Dados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{</a:t>
              </a:r>
              <a:endParaRPr lang="en-US" sz="1800"/>
            </a:p>
          </p:txBody>
        </p:sp>
        <p:sp>
          <p:nvSpPr>
            <p:cNvPr id="20" name="tt_ln7"/>
            <p:cNvSpPr txBox="1"/>
            <p:nvPr/>
          </p:nvSpPr>
          <p:spPr>
            <a:xfrm>
              <a:off x="868680" y="44759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Pedidos []Pedido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`json:"pedidos"`</a:t>
              </a:r>
              <a:endParaRPr lang="en-US" sz="1800"/>
            </a:p>
          </p:txBody>
        </p:sp>
        <p:sp>
          <p:nvSpPr>
            <p:cNvPr id="21" name="tt_ln8"/>
            <p:cNvSpPr txBox="1"/>
            <p:nvPr/>
          </p:nvSpPr>
          <p:spPr>
            <a:xfrm>
              <a:off x="868680" y="4818888"/>
              <a:ext cx="685800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sp>
        <p:nvSpPr>
          <p:cNvPr id="22" name="tt_l0"/>
          <p:cNvSpPr txBox="1"/>
          <p:nvPr/>
        </p:nvSpPr>
        <p:spPr>
          <a:xfrm>
            <a:off x="8046720" y="2057400"/>
            <a:ext cx="35963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um item da lista</a:t>
            </a:r>
            <a:endParaRPr lang="en-US" sz="1800"/>
          </a:p>
        </p:txBody>
      </p:sp>
      <p:sp>
        <p:nvSpPr>
          <p:cNvPr id="23" name="tt_l7"/>
          <p:cNvSpPr txBox="1"/>
          <p:nvPr/>
        </p:nvSpPr>
        <p:spPr>
          <a:xfrm>
            <a:off x="8046720" y="4457700"/>
            <a:ext cx="359633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a lista inteira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6C792AA4-C711-45BF-83AD-4A57D36F8096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Treino: a conta</a:t>
            </a:r>
            <a:endParaRPr lang="en-US" sz="3400"/>
          </a:p>
        </p:txBody>
      </p:sp>
      <p:grpSp>
        <p:nvGrpSpPr>
          <p:cNvPr id="26" name="tc_frame"/>
          <p:cNvGrpSpPr/>
          <p:nvPr/>
        </p:nvGrpSpPr>
        <p:grpSpPr>
          <a:xfrm>
            <a:off x="548640" y="1463040"/>
            <a:ext cx="6126480" cy="3927348"/>
            <a:chOff x="548640" y="1463040"/>
            <a:chExt cx="6126480" cy="3927348"/>
          </a:xfrm>
        </p:grpSpPr>
        <p:sp>
          <p:nvSpPr>
            <p:cNvPr id="3" name="tc"/>
            <p:cNvSpPr/>
            <p:nvPr/>
          </p:nvSpPr>
          <p:spPr>
            <a:xfrm>
              <a:off x="548640" y="1463040"/>
              <a:ext cx="6126480" cy="3927348"/>
            </a:xfrm>
            <a:prstGeom prst="roundRect">
              <a:avLst>
                <a:gd name="adj" fmla="val 3260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tc_hd"/>
            <p:cNvSpPr/>
            <p:nvPr/>
          </p:nvSpPr>
          <p:spPr>
            <a:xfrm>
              <a:off x="548640" y="1463040"/>
              <a:ext cx="61264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tc_hd2"/>
            <p:cNvSpPr/>
            <p:nvPr/>
          </p:nvSpPr>
          <p:spPr>
            <a:xfrm>
              <a:off x="548640" y="1700784"/>
              <a:ext cx="612648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tc_sep"/>
            <p:cNvSpPr/>
            <p:nvPr/>
          </p:nvSpPr>
          <p:spPr>
            <a:xfrm>
              <a:off x="548640" y="1847088"/>
              <a:ext cx="612648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tc_ol"/>
            <p:cNvSpPr/>
            <p:nvPr/>
          </p:nvSpPr>
          <p:spPr>
            <a:xfrm>
              <a:off x="548640" y="1463040"/>
              <a:ext cx="6126480" cy="3927348"/>
            </a:xfrm>
            <a:prstGeom prst="roundRect">
              <a:avLst>
                <a:gd name="adj" fmla="val 3260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tc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tc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tc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tc_fn"/>
            <p:cNvSpPr txBox="1"/>
            <p:nvPr/>
          </p:nvSpPr>
          <p:spPr>
            <a:xfrm>
              <a:off x="1463040" y="1517904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tc_h2"/>
          <p:cNvSpPr/>
          <p:nvPr/>
        </p:nvSpPr>
        <p:spPr>
          <a:xfrm>
            <a:off x="658368" y="2761488"/>
            <a:ext cx="590702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tc_h3"/>
          <p:cNvSpPr/>
          <p:nvPr/>
        </p:nvSpPr>
        <p:spPr>
          <a:xfrm>
            <a:off x="658368" y="3104388"/>
            <a:ext cx="5907024" cy="6858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27" name="tc_code"/>
          <p:cNvGrpSpPr/>
          <p:nvPr/>
        </p:nvGrpSpPr>
        <p:grpSpPr>
          <a:xfrm>
            <a:off x="868680" y="2075688"/>
            <a:ext cx="5760720" cy="3086100"/>
            <a:chOff x="868680" y="2075688"/>
            <a:chExt cx="5760720" cy="3086100"/>
          </a:xfrm>
        </p:grpSpPr>
        <p:sp>
          <p:nvSpPr>
            <p:cNvPr id="14" name="tc_ln0"/>
            <p:cNvSpPr txBox="1"/>
            <p:nvPr/>
          </p:nvSpPr>
          <p:spPr>
            <a:xfrm>
              <a:off x="868680" y="20756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func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faturamento(pedidos []Pedido) int {</a:t>
              </a:r>
              <a:endParaRPr lang="en-US" sz="1800"/>
            </a:p>
          </p:txBody>
        </p:sp>
        <p:sp>
          <p:nvSpPr>
            <p:cNvPr id="15" name="tc_ln1"/>
            <p:cNvSpPr txBox="1"/>
            <p:nvPr/>
          </p:nvSpPr>
          <p:spPr>
            <a:xfrm>
              <a:off x="868680" y="24185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total := 0</a:t>
              </a:r>
              <a:endParaRPr lang="en-US" sz="1800"/>
            </a:p>
          </p:txBody>
        </p:sp>
        <p:sp>
          <p:nvSpPr>
            <p:cNvPr id="16" name="tc_ln2"/>
            <p:cNvSpPr txBox="1"/>
            <p:nvPr/>
          </p:nvSpPr>
          <p:spPr>
            <a:xfrm>
              <a:off x="868680" y="27614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_, p :=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range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pedidos {</a:t>
              </a:r>
              <a:endParaRPr lang="en-US" sz="1800"/>
            </a:p>
          </p:txBody>
        </p:sp>
        <p:sp>
          <p:nvSpPr>
            <p:cNvPr id="17" name="tc_ln3"/>
            <p:cNvSpPr txBox="1"/>
            <p:nvPr/>
          </p:nvSpPr>
          <p:spPr>
            <a:xfrm>
              <a:off x="868680" y="31043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p.Pago {</a:t>
              </a:r>
              <a:endParaRPr lang="en-US" sz="1800"/>
            </a:p>
          </p:txBody>
        </p:sp>
        <p:sp>
          <p:nvSpPr>
            <p:cNvPr id="18" name="tc_ln4"/>
            <p:cNvSpPr txBox="1"/>
            <p:nvPr/>
          </p:nvSpPr>
          <p:spPr>
            <a:xfrm>
              <a:off x="868680" y="34472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        total += p.ValorCentavos</a:t>
              </a:r>
              <a:endParaRPr lang="en-US" sz="1800"/>
            </a:p>
          </p:txBody>
        </p:sp>
        <p:sp>
          <p:nvSpPr>
            <p:cNvPr id="19" name="tc_ln5"/>
            <p:cNvSpPr txBox="1"/>
            <p:nvPr/>
          </p:nvSpPr>
          <p:spPr>
            <a:xfrm>
              <a:off x="868680" y="37901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    }</a:t>
              </a:r>
              <a:endParaRPr lang="en-US" sz="1800"/>
            </a:p>
          </p:txBody>
        </p:sp>
        <p:sp>
          <p:nvSpPr>
            <p:cNvPr id="20" name="tc_ln6"/>
            <p:cNvSpPr txBox="1"/>
            <p:nvPr/>
          </p:nvSpPr>
          <p:spPr>
            <a:xfrm>
              <a:off x="868680" y="41330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}</a:t>
              </a:r>
              <a:endParaRPr lang="en-US" sz="1800"/>
            </a:p>
          </p:txBody>
        </p:sp>
        <p:sp>
          <p:nvSpPr>
            <p:cNvPr id="21" name="tc_ln7"/>
            <p:cNvSpPr txBox="1"/>
            <p:nvPr/>
          </p:nvSpPr>
          <p:spPr>
            <a:xfrm>
              <a:off x="868680" y="44759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total</a:t>
              </a:r>
              <a:endParaRPr lang="en-US" sz="1800"/>
            </a:p>
          </p:txBody>
        </p:sp>
        <p:sp>
          <p:nvSpPr>
            <p:cNvPr id="22" name="tc_ln8"/>
            <p:cNvSpPr txBox="1"/>
            <p:nvPr/>
          </p:nvSpPr>
          <p:spPr>
            <a:xfrm>
              <a:off x="868680" y="48188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sp>
        <p:nvSpPr>
          <p:cNvPr id="23" name="tc_l2"/>
          <p:cNvSpPr txBox="1"/>
          <p:nvPr/>
        </p:nvSpPr>
        <p:spPr>
          <a:xfrm>
            <a:off x="6949440" y="27432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passa por todos os pedidos</a:t>
            </a:r>
            <a:endParaRPr lang="en-US" sz="1800"/>
          </a:p>
        </p:txBody>
      </p:sp>
      <p:sp>
        <p:nvSpPr>
          <p:cNvPr id="24" name="tc_l3"/>
          <p:cNvSpPr txBox="1"/>
          <p:nvPr/>
        </p:nvSpPr>
        <p:spPr>
          <a:xfrm>
            <a:off x="6949440" y="30861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só os pagos entram</a:t>
            </a:r>
            <a:endParaRPr lang="en-US" sz="1800"/>
          </a:p>
        </p:txBody>
      </p:sp>
      <p:sp>
        <p:nvSpPr>
          <p:cNvPr id="25" name="tc_l7"/>
          <p:cNvSpPr txBox="1"/>
          <p:nvPr/>
        </p:nvSpPr>
        <p:spPr>
          <a:xfrm>
            <a:off x="6949440" y="44577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devolve o total</a:t>
            </a:r>
            <a:endParaRPr lang="en-US" sz="1800"/>
          </a:p>
        </p:txBody>
      </p:sp>
      <p:sp>
        <p:nvSpPr>
          <p:cNvPr id="9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ED1473E2-B8A3-4312-85D3-8022AD2E19E3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Treino: juntando tudo</a:t>
            </a:r>
            <a:endParaRPr lang="en-US" sz="3400"/>
          </a:p>
        </p:txBody>
      </p:sp>
      <p:grpSp>
        <p:nvGrpSpPr>
          <p:cNvPr id="26" name="tm_frame"/>
          <p:cNvGrpSpPr/>
          <p:nvPr/>
        </p:nvGrpSpPr>
        <p:grpSpPr>
          <a:xfrm>
            <a:off x="548640" y="1463040"/>
            <a:ext cx="6949440" cy="4270248"/>
            <a:chOff x="548640" y="1463040"/>
            <a:chExt cx="6949440" cy="4270248"/>
          </a:xfrm>
        </p:grpSpPr>
        <p:sp>
          <p:nvSpPr>
            <p:cNvPr id="3" name="tm"/>
            <p:cNvSpPr/>
            <p:nvPr/>
          </p:nvSpPr>
          <p:spPr>
            <a:xfrm>
              <a:off x="548640" y="1463040"/>
              <a:ext cx="6949440" cy="4270248"/>
            </a:xfrm>
            <a:prstGeom prst="roundRect">
              <a:avLst>
                <a:gd name="adj" fmla="val 2998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tm_hd"/>
            <p:cNvSpPr/>
            <p:nvPr/>
          </p:nvSpPr>
          <p:spPr>
            <a:xfrm>
              <a:off x="548640" y="1463040"/>
              <a:ext cx="694944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tm_hd2"/>
            <p:cNvSpPr/>
            <p:nvPr/>
          </p:nvSpPr>
          <p:spPr>
            <a:xfrm>
              <a:off x="548640" y="1700784"/>
              <a:ext cx="694944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tm_sep"/>
            <p:cNvSpPr/>
            <p:nvPr/>
          </p:nvSpPr>
          <p:spPr>
            <a:xfrm>
              <a:off x="548640" y="1847088"/>
              <a:ext cx="694944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tm_ol"/>
            <p:cNvSpPr/>
            <p:nvPr/>
          </p:nvSpPr>
          <p:spPr>
            <a:xfrm>
              <a:off x="548640" y="1463040"/>
              <a:ext cx="6949440" cy="4270248"/>
            </a:xfrm>
            <a:prstGeom prst="roundRect">
              <a:avLst>
                <a:gd name="adj" fmla="val 2998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tm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tm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tm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tm_fn"/>
            <p:cNvSpPr txBox="1"/>
            <p:nvPr/>
          </p:nvSpPr>
          <p:spPr>
            <a:xfrm>
              <a:off x="1463040" y="1517904"/>
              <a:ext cx="59436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tm_h2"/>
          <p:cNvSpPr/>
          <p:nvPr/>
        </p:nvSpPr>
        <p:spPr>
          <a:xfrm>
            <a:off x="658368" y="2761488"/>
            <a:ext cx="672998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tm_h4"/>
          <p:cNvSpPr/>
          <p:nvPr/>
        </p:nvSpPr>
        <p:spPr>
          <a:xfrm>
            <a:off x="658368" y="3447288"/>
            <a:ext cx="672998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4" name="tm_h8"/>
          <p:cNvSpPr/>
          <p:nvPr/>
        </p:nvSpPr>
        <p:spPr>
          <a:xfrm>
            <a:off x="658368" y="4818888"/>
            <a:ext cx="672998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27" name="tm_code"/>
          <p:cNvGrpSpPr/>
          <p:nvPr/>
        </p:nvGrpSpPr>
        <p:grpSpPr>
          <a:xfrm>
            <a:off x="868680" y="2075688"/>
            <a:ext cx="6583680" cy="3429000"/>
            <a:chOff x="868680" y="2075688"/>
            <a:chExt cx="6583680" cy="3429000"/>
          </a:xfrm>
        </p:grpSpPr>
        <p:sp>
          <p:nvSpPr>
            <p:cNvPr id="15" name="tm_ln0"/>
            <p:cNvSpPr txBox="1"/>
            <p:nvPr/>
          </p:nvSpPr>
          <p:spPr>
            <a:xfrm>
              <a:off x="868680" y="20756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func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main() {</a:t>
              </a:r>
              <a:endParaRPr lang="en-US" sz="1800"/>
            </a:p>
          </p:txBody>
        </p:sp>
        <p:sp>
          <p:nvSpPr>
            <p:cNvPr id="16" name="tm_ln1"/>
            <p:cNvSpPr txBox="1"/>
            <p:nvPr/>
          </p:nvSpPr>
          <p:spPr>
            <a:xfrm>
              <a:off x="868680" y="24185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var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dados Dados</a:t>
              </a:r>
              <a:endParaRPr lang="en-US" sz="1800"/>
            </a:p>
          </p:txBody>
        </p:sp>
        <p:sp>
          <p:nvSpPr>
            <p:cNvPr id="17" name="tm_ln2"/>
            <p:cNvSpPr txBox="1"/>
            <p:nvPr/>
          </p:nvSpPr>
          <p:spPr>
            <a:xfrm>
              <a:off x="868680" y="27614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buscar(api+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"/treino"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&amp;dados)</a:t>
              </a:r>
              <a:endParaRPr lang="en-US" sz="1800"/>
            </a:p>
          </p:txBody>
        </p:sp>
        <p:sp>
          <p:nvSpPr>
            <p:cNvPr id="18" name="tm_ln4"/>
            <p:cNvSpPr txBox="1"/>
            <p:nvPr/>
          </p:nvSpPr>
          <p:spPr>
            <a:xfrm>
              <a:off x="868680" y="34472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total := faturamento(dados.Pedidos)</a:t>
              </a:r>
              <a:endParaRPr lang="en-US" sz="1800"/>
            </a:p>
          </p:txBody>
        </p:sp>
        <p:sp>
          <p:nvSpPr>
            <p:cNvPr id="19" name="tm_ln5"/>
            <p:cNvSpPr txBox="1"/>
            <p:nvPr/>
          </p:nvSpPr>
          <p:spPr>
            <a:xfrm>
              <a:off x="868680" y="37901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fmt.Println(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"total:"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total)</a:t>
              </a:r>
              <a:endParaRPr lang="en-US" sz="1800"/>
            </a:p>
          </p:txBody>
        </p:sp>
        <p:sp>
          <p:nvSpPr>
            <p:cNvPr id="20" name="tm_ln7"/>
            <p:cNvSpPr txBox="1"/>
            <p:nvPr/>
          </p:nvSpPr>
          <p:spPr>
            <a:xfrm>
              <a:off x="868680" y="44759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corpo := </a:t>
              </a: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map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[string]any{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"resposta"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total}</a:t>
              </a:r>
              <a:endParaRPr lang="en-US" sz="1800"/>
            </a:p>
          </p:txBody>
        </p:sp>
        <p:sp>
          <p:nvSpPr>
            <p:cNvPr id="21" name="tm_ln8"/>
            <p:cNvSpPr txBox="1"/>
            <p:nvPr/>
          </p:nvSpPr>
          <p:spPr>
            <a:xfrm>
              <a:off x="868680" y="48188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enviar(api+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"/treino/responder"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corpo)</a:t>
              </a:r>
              <a:endParaRPr lang="en-US" sz="1800"/>
            </a:p>
          </p:txBody>
        </p:sp>
        <p:sp>
          <p:nvSpPr>
            <p:cNvPr id="22" name="tm_ln9"/>
            <p:cNvSpPr txBox="1"/>
            <p:nvPr/>
          </p:nvSpPr>
          <p:spPr>
            <a:xfrm>
              <a:off x="868680" y="5161788"/>
              <a:ext cx="658368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sp>
        <p:nvSpPr>
          <p:cNvPr id="23" name="tm_l2"/>
          <p:cNvSpPr txBox="1"/>
          <p:nvPr/>
        </p:nvSpPr>
        <p:spPr>
          <a:xfrm>
            <a:off x="7772400" y="2743200"/>
            <a:ext cx="387065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buscar = GET + Decode</a:t>
            </a:r>
            <a:endParaRPr lang="en-US" sz="1800"/>
          </a:p>
        </p:txBody>
      </p:sp>
      <p:sp>
        <p:nvSpPr>
          <p:cNvPr id="24" name="tm_l4"/>
          <p:cNvSpPr txBox="1"/>
          <p:nvPr/>
        </p:nvSpPr>
        <p:spPr>
          <a:xfrm>
            <a:off x="7772400" y="3429000"/>
            <a:ext cx="387065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a conta</a:t>
            </a:r>
            <a:endParaRPr lang="en-US" sz="1800"/>
          </a:p>
        </p:txBody>
      </p:sp>
      <p:sp>
        <p:nvSpPr>
          <p:cNvPr id="25" name="tm_l8"/>
          <p:cNvSpPr txBox="1"/>
          <p:nvPr/>
        </p:nvSpPr>
        <p:spPr>
          <a:xfrm>
            <a:off x="7772400" y="4800600"/>
            <a:ext cx="3870655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enviar = Marshal + POST</a:t>
            </a:r>
            <a:endParaRPr lang="en-US" sz="1800"/>
          </a:p>
        </p:txBody>
      </p:sp>
      <p:sp>
        <p:nvSpPr>
          <p:cNvPr id="9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5F867CA9-AA29-4B16-809F-F852F057BB3F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5852160" y="18288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4000" b="1">
                <a:solidFill>
                  <a:srgbClr val="17485C"/>
                </a:solidFill>
                <a:latin typeface="Arial"/>
                <a:ea typeface="Arial"/>
                <a:cs typeface="Arial"/>
              </a:rPr>
              <a:t>04</a:t>
            </a:r>
            <a:endParaRPr lang="en-US" sz="2400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Desafio Final</a:t>
            </a:r>
            <a:endParaRPr lang="en-US" sz="5400" b="1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 0"/>
          <p:cNvSpPr>
            <a:spLocks noGrp="1"/>
          </p:cNvSpPr>
          <p:nvPr>
            <p:ph type="body" idx="103" hasCustomPrompt="1"/>
          </p:nvPr>
        </p:nvSpPr>
        <p:spPr>
          <a:xfrm>
            <a:off x="822960" y="5029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>
                <a:solidFill>
                  <a:srgbClr val="A9B8CC"/>
                </a:solidFill>
                <a:latin typeface="Arial"/>
                <a:ea typeface="Arial"/>
                <a:cs typeface="Arial"/>
              </a:rPr>
              <a:t>Três níveis, pode ser em duplas</a:t>
            </a:r>
            <a:endParaRPr lang="en-US" sz="2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esqueleto</a:t>
            </a:r>
            <a:endParaRPr lang="en-US" sz="3400"/>
          </a:p>
        </p:txBody>
      </p:sp>
      <p:grpSp>
        <p:nvGrpSpPr>
          <p:cNvPr id="27" name="es_frame"/>
          <p:cNvGrpSpPr/>
          <p:nvPr/>
        </p:nvGrpSpPr>
        <p:grpSpPr>
          <a:xfrm>
            <a:off x="548640" y="1463040"/>
            <a:ext cx="6126480" cy="4270248"/>
            <a:chOff x="548640" y="1463040"/>
            <a:chExt cx="6126480" cy="4270248"/>
          </a:xfrm>
        </p:grpSpPr>
        <p:sp>
          <p:nvSpPr>
            <p:cNvPr id="3" name="es"/>
            <p:cNvSpPr/>
            <p:nvPr/>
          </p:nvSpPr>
          <p:spPr>
            <a:xfrm>
              <a:off x="548640" y="1463040"/>
              <a:ext cx="6126480" cy="4270248"/>
            </a:xfrm>
            <a:prstGeom prst="roundRect">
              <a:avLst>
                <a:gd name="adj" fmla="val 2998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es_hd"/>
            <p:cNvSpPr/>
            <p:nvPr/>
          </p:nvSpPr>
          <p:spPr>
            <a:xfrm>
              <a:off x="548640" y="1463040"/>
              <a:ext cx="61264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es_hd2"/>
            <p:cNvSpPr/>
            <p:nvPr/>
          </p:nvSpPr>
          <p:spPr>
            <a:xfrm>
              <a:off x="548640" y="1700784"/>
              <a:ext cx="612648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es_sep"/>
            <p:cNvSpPr/>
            <p:nvPr/>
          </p:nvSpPr>
          <p:spPr>
            <a:xfrm>
              <a:off x="548640" y="1847088"/>
              <a:ext cx="612648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es_ol"/>
            <p:cNvSpPr/>
            <p:nvPr/>
          </p:nvSpPr>
          <p:spPr>
            <a:xfrm>
              <a:off x="548640" y="1463040"/>
              <a:ext cx="6126480" cy="4270248"/>
            </a:xfrm>
            <a:prstGeom prst="roundRect">
              <a:avLst>
                <a:gd name="adj" fmla="val 2998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es_d0"/>
            <p:cNvSpPr/>
            <p:nvPr/>
          </p:nvSpPr>
          <p:spPr>
            <a:xfrm>
              <a:off x="749808" y="159105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es_d1"/>
            <p:cNvSpPr/>
            <p:nvPr/>
          </p:nvSpPr>
          <p:spPr>
            <a:xfrm>
              <a:off x="950976" y="159105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es_d2"/>
            <p:cNvSpPr/>
            <p:nvPr/>
          </p:nvSpPr>
          <p:spPr>
            <a:xfrm>
              <a:off x="1152144" y="159105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es_fn"/>
            <p:cNvSpPr txBox="1"/>
            <p:nvPr/>
          </p:nvSpPr>
          <p:spPr>
            <a:xfrm>
              <a:off x="1463040" y="1517904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main.go</a:t>
              </a:r>
              <a:endParaRPr lang="en-US" sz="1200"/>
            </a:p>
          </p:txBody>
        </p:sp>
      </p:grpSp>
      <p:sp>
        <p:nvSpPr>
          <p:cNvPr id="12" name="es_h0"/>
          <p:cNvSpPr/>
          <p:nvPr/>
        </p:nvSpPr>
        <p:spPr>
          <a:xfrm>
            <a:off x="658368" y="2075688"/>
            <a:ext cx="5907024" cy="3429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sp>
        <p:nvSpPr>
          <p:cNvPr id="13" name="es_h6"/>
          <p:cNvSpPr/>
          <p:nvPr/>
        </p:nvSpPr>
        <p:spPr>
          <a:xfrm>
            <a:off x="658368" y="4133088"/>
            <a:ext cx="5907024" cy="1028700"/>
          </a:xfrm>
          <a:prstGeom prst="rect">
            <a:avLst/>
          </a:prstGeom>
          <a:solidFill>
            <a:srgbClr val="00ADD8">
              <a:alpha val="28000"/>
            </a:srgbClr>
          </a:solidFill>
          <a:ln w="12700">
            <a:solidFill>
              <a:srgbClr val="00ADD8">
                <a:alpha val="0"/>
              </a:srgbClr>
            </a:solidFill>
            <a:prstDash val="solid"/>
          </a:ln>
        </p:spPr>
      </p:sp>
      <p:grpSp>
        <p:nvGrpSpPr>
          <p:cNvPr id="28" name="es_code"/>
          <p:cNvGrpSpPr/>
          <p:nvPr/>
        </p:nvGrpSpPr>
        <p:grpSpPr>
          <a:xfrm>
            <a:off x="868680" y="2075688"/>
            <a:ext cx="5760720" cy="3429000"/>
            <a:chOff x="868680" y="2075688"/>
            <a:chExt cx="5760720" cy="3429000"/>
          </a:xfrm>
        </p:grpSpPr>
        <p:sp>
          <p:nvSpPr>
            <p:cNvPr id="14" name="es_ln0"/>
            <p:cNvSpPr txBox="1"/>
            <p:nvPr/>
          </p:nvSpPr>
          <p:spPr>
            <a:xfrm>
              <a:off x="868680" y="20756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dupla = </a:t>
              </a:r>
              <a:r>
                <a:rPr lang="en-US" sz="18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"dupla-azul"</a:t>
              </a:r>
              <a:endParaRPr lang="en-US" sz="1800"/>
            </a:p>
          </p:txBody>
        </p:sp>
        <p:sp>
          <p:nvSpPr>
            <p:cNvPr id="15" name="es_ln2"/>
            <p:cNvSpPr txBox="1"/>
            <p:nvPr/>
          </p:nvSpPr>
          <p:spPr>
            <a:xfrm>
              <a:off x="868680" y="27614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C792EA"/>
                  </a:solidFill>
                  <a:latin typeface="Consolas"/>
                  <a:ea typeface="Consolas"/>
                  <a:cs typeface="Consolas"/>
                </a:rPr>
                <a:t>func</a:t>
              </a: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 main() {</a:t>
              </a:r>
              <a:endParaRPr lang="en-US" sz="1800"/>
            </a:p>
          </p:txBody>
        </p:sp>
        <p:sp>
          <p:nvSpPr>
            <p:cNvPr id="16" name="es_ln3"/>
            <p:cNvSpPr txBox="1"/>
            <p:nvPr/>
          </p:nvSpPr>
          <p:spPr>
            <a:xfrm>
              <a:off x="868680" y="31043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token := cadastrar(dupla)</a:t>
              </a:r>
              <a:endParaRPr lang="en-US" sz="1800"/>
            </a:p>
          </p:txBody>
        </p:sp>
        <p:sp>
          <p:nvSpPr>
            <p:cNvPr id="17" name="es_ln4"/>
            <p:cNvSpPr txBox="1"/>
            <p:nvPr/>
          </p:nvSpPr>
          <p:spPr>
            <a:xfrm>
              <a:off x="868680" y="34472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pedidos := buscarPedidos(token)</a:t>
              </a:r>
              <a:endParaRPr lang="en-US" sz="1800"/>
            </a:p>
          </p:txBody>
        </p:sp>
        <p:sp>
          <p:nvSpPr>
            <p:cNvPr id="18" name="es_ln6"/>
            <p:cNvSpPr txBox="1"/>
            <p:nvPr/>
          </p:nvSpPr>
          <p:spPr>
            <a:xfrm>
              <a:off x="868680" y="41330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responder(token, 1, nivel1(pedidos))</a:t>
              </a:r>
              <a:endParaRPr lang="en-US" sz="1800"/>
            </a:p>
          </p:txBody>
        </p:sp>
        <p:sp>
          <p:nvSpPr>
            <p:cNvPr id="19" name="es_ln7"/>
            <p:cNvSpPr txBox="1"/>
            <p:nvPr/>
          </p:nvSpPr>
          <p:spPr>
            <a:xfrm>
              <a:off x="868680" y="44759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responder(token, 2, nivel2(pedidos))</a:t>
              </a:r>
              <a:endParaRPr lang="en-US" sz="1800"/>
            </a:p>
          </p:txBody>
        </p:sp>
        <p:sp>
          <p:nvSpPr>
            <p:cNvPr id="20" name="es_ln8"/>
            <p:cNvSpPr txBox="1"/>
            <p:nvPr/>
          </p:nvSpPr>
          <p:spPr>
            <a:xfrm>
              <a:off x="868680" y="48188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responder(token, 3, nivel3(pedidos))</a:t>
              </a:r>
              <a:endParaRPr lang="en-US" sz="1800"/>
            </a:p>
          </p:txBody>
        </p:sp>
        <p:sp>
          <p:nvSpPr>
            <p:cNvPr id="21" name="es_ln9"/>
            <p:cNvSpPr txBox="1"/>
            <p:nvPr/>
          </p:nvSpPr>
          <p:spPr>
            <a:xfrm>
              <a:off x="868680" y="5161788"/>
              <a:ext cx="5760720" cy="3429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800"/>
            </a:p>
          </p:txBody>
        </p:sp>
      </p:grpSp>
      <p:sp>
        <p:nvSpPr>
          <p:cNvPr id="22" name="es_l0"/>
          <p:cNvSpPr txBox="1"/>
          <p:nvPr/>
        </p:nvSpPr>
        <p:spPr>
          <a:xfrm>
            <a:off x="6949440" y="20574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o nome da sua dupla</a:t>
            </a:r>
            <a:endParaRPr lang="en-US" sz="1800"/>
          </a:p>
        </p:txBody>
      </p:sp>
      <p:sp>
        <p:nvSpPr>
          <p:cNvPr id="23" name="es_l3"/>
          <p:cNvSpPr txBox="1"/>
          <p:nvPr/>
        </p:nvSpPr>
        <p:spPr>
          <a:xfrm>
            <a:off x="6949440" y="30861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POST /equipes → token</a:t>
            </a:r>
            <a:endParaRPr lang="en-US" sz="1800"/>
          </a:p>
        </p:txBody>
      </p:sp>
      <p:sp>
        <p:nvSpPr>
          <p:cNvPr id="24" name="es_l4"/>
          <p:cNvSpPr txBox="1"/>
          <p:nvPr/>
        </p:nvSpPr>
        <p:spPr>
          <a:xfrm>
            <a:off x="6949440" y="34290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GET /desafio → pedidos</a:t>
            </a:r>
            <a:endParaRPr lang="en-US" sz="1800"/>
          </a:p>
        </p:txBody>
      </p:sp>
      <p:sp>
        <p:nvSpPr>
          <p:cNvPr id="25" name="es_l7"/>
          <p:cNvSpPr txBox="1"/>
          <p:nvPr/>
        </p:nvSpPr>
        <p:spPr>
          <a:xfrm>
            <a:off x="6949440" y="4457700"/>
            <a:ext cx="4206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0ADD8"/>
                </a:solidFill>
                <a:latin typeface="Arial"/>
                <a:ea typeface="Arial"/>
                <a:cs typeface="Arial"/>
              </a:rPr>
              <a:t>← </a:t>
            </a:r>
            <a:r>
              <a:rPr lang="en-US" sz="1800">
                <a:solidFill>
                  <a:srgbClr val="A9B8CC"/>
                </a:solidFill>
                <a:latin typeface="Arial"/>
                <a:ea typeface="Arial"/>
                <a:cs typeface="Arial"/>
              </a:rPr>
              <a:t>POST /desafio/responder</a:t>
            </a:r>
            <a:endParaRPr lang="en-US" sz="1800"/>
          </a:p>
        </p:txBody>
      </p:sp>
      <p:sp>
        <p:nvSpPr>
          <p:cNvPr id="26" name="es_note"/>
          <p:cNvSpPr txBox="1"/>
          <p:nvPr/>
        </p:nvSpPr>
        <p:spPr>
          <a:xfrm>
            <a:off x="6949440" y="4937760"/>
            <a:ext cx="4693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Vocês só escrevem </a:t>
            </a:r>
            <a:r>
              <a:rPr lang="en-US" sz="20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nivel1</a:t>
            </a: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0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nivel2</a:t>
            </a: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 e </a:t>
            </a:r>
            <a:r>
              <a:rPr lang="en-US" sz="2000" b="1">
                <a:solidFill>
                  <a:srgbClr val="FFD166"/>
                </a:solidFill>
                <a:latin typeface="Consolas"/>
                <a:ea typeface="Consolas"/>
                <a:cs typeface="Consolas"/>
              </a:rPr>
              <a:t>nivel3</a:t>
            </a:r>
            <a:r>
              <a:rPr lang="en-US" sz="2000">
                <a:solidFill>
                  <a:srgbClr val="A9B8CC"/>
                </a:solidFill>
                <a:latin typeface="Arial"/>
                <a:ea typeface="Arial"/>
                <a:cs typeface="Arial"/>
              </a:rPr>
              <a:t>.</a:t>
            </a:r>
            <a:endParaRPr lang="en-US" sz="2000"/>
          </a:p>
        </p:txBody>
      </p:sp>
      <p:sp>
        <p:nvSpPr>
          <p:cNvPr id="9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04DE16EB-4549-4654-8ABF-75DC5CCEF245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desafio</a:t>
            </a:r>
            <a:endParaRPr lang="en-US" sz="3400"/>
          </a:p>
        </p:txBody>
      </p:sp>
      <p:grpSp>
        <p:nvGrpSpPr>
          <p:cNvPr id="41" name="dj_frame"/>
          <p:cNvGrpSpPr/>
          <p:nvPr/>
        </p:nvGrpSpPr>
        <p:grpSpPr>
          <a:xfrm>
            <a:off x="548640" y="1371600"/>
            <a:ext cx="7383780" cy="2841498"/>
            <a:chOff x="548640" y="1371600"/>
            <a:chExt cx="7383780" cy="2841498"/>
          </a:xfrm>
        </p:grpSpPr>
        <p:sp>
          <p:nvSpPr>
            <p:cNvPr id="3" name="dj"/>
            <p:cNvSpPr/>
            <p:nvPr/>
          </p:nvSpPr>
          <p:spPr>
            <a:xfrm>
              <a:off x="548640" y="1371600"/>
              <a:ext cx="7383780" cy="2841498"/>
            </a:xfrm>
            <a:prstGeom prst="roundRect">
              <a:avLst>
                <a:gd name="adj" fmla="val 4505"/>
              </a:avLst>
            </a:prstGeom>
            <a:solidFill>
              <a:srgbClr val="0A111C"/>
            </a:solidFill>
            <a:ln w="12700">
              <a:solidFill>
                <a:srgbClr val="0A111C"/>
              </a:solidFill>
              <a:prstDash val="solid"/>
            </a:ln>
          </p:spPr>
        </p:sp>
        <p:sp>
          <p:nvSpPr>
            <p:cNvPr id="4" name="dj_hd"/>
            <p:cNvSpPr/>
            <p:nvPr/>
          </p:nvSpPr>
          <p:spPr>
            <a:xfrm>
              <a:off x="548640" y="1371600"/>
              <a:ext cx="7383780" cy="384048"/>
            </a:xfrm>
            <a:prstGeom prst="roundRect">
              <a:avLst>
                <a:gd name="adj" fmla="val 33333"/>
              </a:avLst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5" name="dj_hd2"/>
            <p:cNvSpPr/>
            <p:nvPr/>
          </p:nvSpPr>
          <p:spPr>
            <a:xfrm>
              <a:off x="548640" y="1609344"/>
              <a:ext cx="7383780" cy="146304"/>
            </a:xfrm>
            <a:prstGeom prst="rect">
              <a:avLst/>
            </a:prstGeom>
            <a:solidFill>
              <a:srgbClr val="131E30"/>
            </a:solidFill>
            <a:ln w="12700">
              <a:solidFill>
                <a:srgbClr val="131E30"/>
              </a:solidFill>
              <a:prstDash val="solid"/>
            </a:ln>
          </p:spPr>
        </p:sp>
        <p:sp>
          <p:nvSpPr>
            <p:cNvPr id="6" name="dj_sep"/>
            <p:cNvSpPr/>
            <p:nvPr/>
          </p:nvSpPr>
          <p:spPr>
            <a:xfrm>
              <a:off x="548640" y="1755648"/>
              <a:ext cx="7383780" cy="0"/>
            </a:xfrm>
            <a:prstGeom prst="line">
              <a:avLst/>
            </a:prstGeom>
            <a:noFill/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7" name="dj_ol"/>
            <p:cNvSpPr/>
            <p:nvPr/>
          </p:nvSpPr>
          <p:spPr>
            <a:xfrm>
              <a:off x="548640" y="1371600"/>
              <a:ext cx="7383780" cy="2841498"/>
            </a:xfrm>
            <a:prstGeom prst="roundRect">
              <a:avLst>
                <a:gd name="adj" fmla="val 4505"/>
              </a:avLst>
            </a:prstGeom>
            <a:solidFill>
              <a:srgbClr val="0A111C">
                <a:alpha val="0"/>
              </a:srgbClr>
            </a:solidFill>
            <a:ln w="9525">
              <a:solidFill>
                <a:srgbClr val="22324A"/>
              </a:solidFill>
              <a:prstDash val="solid"/>
            </a:ln>
          </p:spPr>
        </p:sp>
        <p:sp>
          <p:nvSpPr>
            <p:cNvPr id="8" name="dj_d0"/>
            <p:cNvSpPr/>
            <p:nvPr/>
          </p:nvSpPr>
          <p:spPr>
            <a:xfrm>
              <a:off x="749808" y="1499616"/>
              <a:ext cx="128016" cy="128016"/>
            </a:xfrm>
            <a:prstGeom prst="ellipse">
              <a:avLst/>
            </a:prstGeom>
            <a:solidFill>
              <a:srgbClr val="FF6B6B"/>
            </a:solidFill>
            <a:ln w="12700">
              <a:solidFill>
                <a:srgbClr val="FF6B6B"/>
              </a:solidFill>
              <a:prstDash val="solid"/>
            </a:ln>
          </p:spPr>
        </p:sp>
        <p:sp>
          <p:nvSpPr>
            <p:cNvPr id="9" name="dj_d1"/>
            <p:cNvSpPr/>
            <p:nvPr/>
          </p:nvSpPr>
          <p:spPr>
            <a:xfrm>
              <a:off x="950976" y="1499616"/>
              <a:ext cx="128016" cy="128016"/>
            </a:xfrm>
            <a:prstGeom prst="ellipse">
              <a:avLst/>
            </a:prstGeom>
            <a:solidFill>
              <a:srgbClr val="FFD166"/>
            </a:solidFill>
            <a:ln w="12700">
              <a:solidFill>
                <a:srgbClr val="FFD166"/>
              </a:solidFill>
              <a:prstDash val="solid"/>
            </a:ln>
          </p:spPr>
        </p:sp>
        <p:sp>
          <p:nvSpPr>
            <p:cNvPr id="10" name="dj_d2"/>
            <p:cNvSpPr/>
            <p:nvPr/>
          </p:nvSpPr>
          <p:spPr>
            <a:xfrm>
              <a:off x="1152144" y="1499616"/>
              <a:ext cx="128016" cy="128016"/>
            </a:xfrm>
            <a:prstGeom prst="ellipse">
              <a:avLst/>
            </a:prstGeom>
            <a:solidFill>
              <a:srgbClr val="4ADE80"/>
            </a:solidFill>
            <a:ln w="12700">
              <a:solidFill>
                <a:srgbClr val="4ADE80"/>
              </a:solidFill>
              <a:prstDash val="solid"/>
            </a:ln>
          </p:spPr>
        </p:sp>
        <p:sp>
          <p:nvSpPr>
            <p:cNvPr id="11" name="dj_fn"/>
            <p:cNvSpPr txBox="1"/>
            <p:nvPr/>
          </p:nvSpPr>
          <p:spPr>
            <a:xfrm>
              <a:off x="1463040" y="1426464"/>
              <a:ext cx="63779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>
                  <a:solidFill>
                    <a:srgbClr val="7A8BA3"/>
                  </a:solidFill>
                  <a:latin typeface="Consolas"/>
                  <a:ea typeface="Consolas"/>
                  <a:cs typeface="Consolas"/>
                </a:rPr>
                <a:t>GET /desafio</a:t>
              </a:r>
              <a:endParaRPr lang="en-US" sz="1200"/>
            </a:p>
          </p:txBody>
        </p:sp>
      </p:grpSp>
      <p:grpSp>
        <p:nvGrpSpPr>
          <p:cNvPr id="42" name="dj_code"/>
          <p:cNvGrpSpPr/>
          <p:nvPr/>
        </p:nvGrpSpPr>
        <p:grpSpPr>
          <a:xfrm>
            <a:off x="868680" y="1984248"/>
            <a:ext cx="7018020" cy="2000250"/>
            <a:chOff x="868680" y="1984248"/>
            <a:chExt cx="7018020" cy="2000250"/>
          </a:xfrm>
        </p:grpSpPr>
        <p:sp>
          <p:nvSpPr>
            <p:cNvPr id="12" name="dj_ln0"/>
            <p:cNvSpPr txBox="1"/>
            <p:nvPr/>
          </p:nvSpPr>
          <p:spPr>
            <a:xfrm>
              <a:off x="868680" y="1984248"/>
              <a:ext cx="70180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{</a:t>
              </a:r>
              <a:endParaRPr lang="en-US" sz="1500"/>
            </a:p>
          </p:txBody>
        </p:sp>
        <p:sp>
          <p:nvSpPr>
            <p:cNvPr id="13" name="dj_ln1"/>
            <p:cNvSpPr txBox="1"/>
            <p:nvPr/>
          </p:nvSpPr>
          <p:spPr>
            <a:xfrm>
              <a:off x="868680" y="2269998"/>
              <a:ext cx="70180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"pedidos"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 [</a:t>
              </a:r>
              <a:endParaRPr lang="en-US" sz="1500"/>
            </a:p>
          </p:txBody>
        </p:sp>
        <p:sp>
          <p:nvSpPr>
            <p:cNvPr id="14" name="dj_ln2"/>
            <p:cNvSpPr txBox="1"/>
            <p:nvPr/>
          </p:nvSpPr>
          <p:spPr>
            <a:xfrm>
              <a:off x="868680" y="2555748"/>
              <a:ext cx="70180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{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"cliente"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"duda"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"valor_centavos"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:1200,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"pago"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:true},</a:t>
              </a:r>
              <a:endParaRPr lang="en-US" sz="1500"/>
            </a:p>
          </p:txBody>
        </p:sp>
        <p:sp>
          <p:nvSpPr>
            <p:cNvPr id="15" name="dj_ln3"/>
            <p:cNvSpPr txBox="1"/>
            <p:nvPr/>
          </p:nvSpPr>
          <p:spPr>
            <a:xfrm>
              <a:off x="868680" y="2841498"/>
              <a:ext cx="70180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{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"cliente"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"enzo"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"valor_centavos"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:850, </a:t>
              </a:r>
              <a:r>
                <a:rPr lang="en-US" sz="1500">
                  <a:solidFill>
                    <a:srgbClr val="FFD166"/>
                  </a:solidFill>
                  <a:latin typeface="Consolas"/>
                  <a:ea typeface="Consolas"/>
                  <a:cs typeface="Consolas"/>
                </a:rPr>
                <a:t>"pago"</a:t>
              </a: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:false},</a:t>
              </a:r>
              <a:endParaRPr lang="en-US" sz="1500"/>
            </a:p>
          </p:txBody>
        </p:sp>
        <p:sp>
          <p:nvSpPr>
            <p:cNvPr id="16" name="dj_ln4"/>
            <p:cNvSpPr txBox="1"/>
            <p:nvPr/>
          </p:nvSpPr>
          <p:spPr>
            <a:xfrm>
              <a:off x="868680" y="3127248"/>
              <a:ext cx="70180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  ...</a:t>
              </a:r>
              <a:endParaRPr lang="en-US" sz="1500"/>
            </a:p>
          </p:txBody>
        </p:sp>
        <p:sp>
          <p:nvSpPr>
            <p:cNvPr id="17" name="dj_ln5"/>
            <p:cNvSpPr txBox="1"/>
            <p:nvPr/>
          </p:nvSpPr>
          <p:spPr>
            <a:xfrm>
              <a:off x="868680" y="3412998"/>
              <a:ext cx="70180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  ]</a:t>
              </a:r>
              <a:endParaRPr lang="en-US" sz="1500"/>
            </a:p>
          </p:txBody>
        </p:sp>
        <p:sp>
          <p:nvSpPr>
            <p:cNvPr id="18" name="dj_ln6"/>
            <p:cNvSpPr txBox="1"/>
            <p:nvPr/>
          </p:nvSpPr>
          <p:spPr>
            <a:xfrm>
              <a:off x="868680" y="3698748"/>
              <a:ext cx="7018020" cy="2857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>
                <a:buNone/>
              </a:pPr>
              <a:r>
                <a:rPr lang="en-US" sz="1500">
                  <a:solidFill>
                    <a:srgbClr val="E6EDF5"/>
                  </a:solidFill>
                  <a:latin typeface="Consolas"/>
                  <a:ea typeface="Consolas"/>
                  <a:cs typeface="Consolas"/>
                </a:rPr>
                <a:t>}</a:t>
              </a:r>
              <a:endParaRPr lang="en-US" sz="1500"/>
            </a:p>
          </p:txBody>
        </p:sp>
      </p:grpSp>
      <p:sp>
        <p:nvSpPr>
          <p:cNvPr id="19" name="Text 17"/>
          <p:cNvSpPr txBox="1"/>
          <p:nvPr/>
        </p:nvSpPr>
        <p:spPr>
          <a:xfrm>
            <a:off x="8298180" y="1417320"/>
            <a:ext cx="33448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7A8BA3"/>
                </a:solidFill>
                <a:latin typeface="Arial"/>
                <a:ea typeface="Arial"/>
                <a:cs typeface="Arial"/>
              </a:rPr>
              <a:t>responder</a:t>
            </a:r>
            <a:endParaRPr lang="en-US" sz="1500"/>
          </a:p>
        </p:txBody>
      </p:sp>
      <p:sp>
        <p:nvSpPr>
          <p:cNvPr id="20" name="Text 18"/>
          <p:cNvSpPr txBox="1"/>
          <p:nvPr/>
        </p:nvSpPr>
        <p:spPr>
          <a:xfrm>
            <a:off x="8298180" y="1746504"/>
            <a:ext cx="33448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POST /desafio/responder</a:t>
            </a:r>
            <a:endParaRPr lang="en-US" sz="1600"/>
          </a:p>
        </p:txBody>
      </p:sp>
      <p:sp>
        <p:nvSpPr>
          <p:cNvPr id="21" name="Text 19"/>
          <p:cNvSpPr txBox="1"/>
          <p:nvPr/>
        </p:nvSpPr>
        <p:spPr>
          <a:xfrm>
            <a:off x="8298180" y="2075688"/>
            <a:ext cx="33448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{"nivel": 1, "resposta": ...}</a:t>
            </a:r>
            <a:endParaRPr lang="en-US" sz="1500"/>
          </a:p>
        </p:txBody>
      </p:sp>
      <p:sp>
        <p:nvSpPr>
          <p:cNvPr id="22" name="Text 20"/>
          <p:cNvSpPr txBox="1"/>
          <p:nvPr/>
        </p:nvSpPr>
        <p:spPr>
          <a:xfrm>
            <a:off x="8298180" y="2734056"/>
            <a:ext cx="33448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7A8BA3"/>
                </a:solidFill>
                <a:latin typeface="Arial"/>
                <a:ea typeface="Arial"/>
                <a:cs typeface="Arial"/>
              </a:rPr>
              <a:t>dicas</a:t>
            </a:r>
            <a:endParaRPr lang="en-US" sz="1500"/>
          </a:p>
        </p:txBody>
      </p:sp>
      <p:sp>
        <p:nvSpPr>
          <p:cNvPr id="23" name="Text 21"/>
          <p:cNvSpPr txBox="1"/>
          <p:nvPr/>
        </p:nvSpPr>
        <p:spPr>
          <a:xfrm>
            <a:off x="8298180" y="3063240"/>
            <a:ext cx="33448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9B8CC"/>
                </a:solidFill>
                <a:latin typeface="Consolas"/>
                <a:ea typeface="Consolas"/>
                <a:cs typeface="Consolas"/>
              </a:rPr>
              <a:t>nível 2 → map[string]bool</a:t>
            </a:r>
            <a:endParaRPr lang="en-US" sz="1500"/>
          </a:p>
        </p:txBody>
      </p:sp>
      <p:sp>
        <p:nvSpPr>
          <p:cNvPr id="24" name="Text 22"/>
          <p:cNvSpPr txBox="1"/>
          <p:nvPr/>
        </p:nvSpPr>
        <p:spPr>
          <a:xfrm>
            <a:off x="8298180" y="3392424"/>
            <a:ext cx="33448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A9B8CC"/>
                </a:solidFill>
                <a:latin typeface="Consolas"/>
                <a:ea typeface="Consolas"/>
                <a:cs typeface="Consolas"/>
              </a:rPr>
              <a:t>nível 3 → map[string]int</a:t>
            </a:r>
            <a:endParaRPr lang="en-US" sz="1500"/>
          </a:p>
        </p:txBody>
      </p:sp>
      <p:sp>
        <p:nvSpPr>
          <p:cNvPr id="25" name="Text 23"/>
          <p:cNvSpPr txBox="1"/>
          <p:nvPr/>
        </p:nvSpPr>
        <p:spPr>
          <a:xfrm>
            <a:off x="8298180" y="3840480"/>
            <a:ext cx="33448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7A8BA3"/>
                </a:solidFill>
                <a:latin typeface="Arial"/>
                <a:ea typeface="Arial"/>
                <a:cs typeface="Arial"/>
              </a:rPr>
              <a:t>placar  </a:t>
            </a:r>
            <a:r>
              <a:rPr lang="en-US" sz="1500">
                <a:solidFill>
                  <a:srgbClr val="00ADD8"/>
                </a:solidFill>
                <a:latin typeface="Consolas"/>
                <a:ea typeface="Consolas"/>
                <a:cs typeface="Consolas"/>
              </a:rPr>
              <a:t>/placar</a:t>
            </a:r>
            <a:endParaRPr lang="en-US" sz="1500"/>
          </a:p>
        </p:txBody>
      </p:sp>
      <p:sp>
        <p:nvSpPr>
          <p:cNvPr id="26" name="nv0_c"/>
          <p:cNvSpPr/>
          <p:nvPr/>
        </p:nvSpPr>
        <p:spPr>
          <a:xfrm>
            <a:off x="548640" y="4434840"/>
            <a:ext cx="475488" cy="47548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nv0_n"/>
          <p:cNvSpPr txBox="1"/>
          <p:nvPr/>
        </p:nvSpPr>
        <p:spPr>
          <a:xfrm>
            <a:off x="548640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E1623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1234440" y="44348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 fiado</a:t>
            </a:r>
            <a:endParaRPr lang="en-US" sz="2000"/>
          </a:p>
        </p:txBody>
      </p:sp>
      <p:sp>
        <p:nvSpPr>
          <p:cNvPr id="29" name="Text 27"/>
          <p:cNvSpPr txBox="1"/>
          <p:nvPr/>
        </p:nvSpPr>
        <p:spPr>
          <a:xfrm>
            <a:off x="3657600" y="44348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A9B8CC"/>
                </a:solidFill>
                <a:latin typeface="Arial"/>
                <a:ea typeface="Arial"/>
                <a:cs typeface="Arial"/>
              </a:rPr>
              <a:t>quanto falta receber: soma dos pedidos não pagos</a:t>
            </a:r>
            <a:endParaRPr lang="en-US" sz="1700"/>
          </a:p>
        </p:txBody>
      </p:sp>
      <p:sp>
        <p:nvSpPr>
          <p:cNvPr id="30" name="Text 28"/>
          <p:cNvSpPr txBox="1"/>
          <p:nvPr/>
        </p:nvSpPr>
        <p:spPr>
          <a:xfrm>
            <a:off x="10332720" y="4434840"/>
            <a:ext cx="1310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100</a:t>
            </a:r>
            <a:endParaRPr lang="en-US" sz="2200"/>
          </a:p>
        </p:txBody>
      </p:sp>
      <p:sp>
        <p:nvSpPr>
          <p:cNvPr id="31" name="nv1_c"/>
          <p:cNvSpPr/>
          <p:nvPr/>
        </p:nvSpPr>
        <p:spPr>
          <a:xfrm>
            <a:off x="548640" y="5038344"/>
            <a:ext cx="475488" cy="47548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nv1_n"/>
          <p:cNvSpPr txBox="1"/>
          <p:nvPr/>
        </p:nvSpPr>
        <p:spPr>
          <a:xfrm>
            <a:off x="54864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E1623"/>
                </a:solidFill>
                <a:latin typeface="Consolas"/>
                <a:ea typeface="Consolas"/>
                <a:cs typeface="Consolas"/>
              </a:rPr>
              <a:t>2</a:t>
            </a:r>
            <a:endParaRPr lang="en-US" sz="1600"/>
          </a:p>
        </p:txBody>
      </p:sp>
      <p:sp>
        <p:nvSpPr>
          <p:cNvPr id="33" name="Text 31"/>
          <p:cNvSpPr txBox="1"/>
          <p:nvPr/>
        </p:nvSpPr>
        <p:spPr>
          <a:xfrm>
            <a:off x="1234440" y="503834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Clientes</a:t>
            </a:r>
            <a:endParaRPr lang="en-US" sz="2000"/>
          </a:p>
        </p:txBody>
      </p:sp>
      <p:sp>
        <p:nvSpPr>
          <p:cNvPr id="34" name="Text 32"/>
          <p:cNvSpPr txBox="1"/>
          <p:nvPr/>
        </p:nvSpPr>
        <p:spPr>
          <a:xfrm>
            <a:off x="3657600" y="503834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A9B8CC"/>
                </a:solidFill>
                <a:latin typeface="Arial"/>
                <a:ea typeface="Arial"/>
                <a:cs typeface="Arial"/>
              </a:rPr>
              <a:t>quantos clientes diferentes aparecem</a:t>
            </a:r>
            <a:endParaRPr lang="en-US" sz="1700"/>
          </a:p>
        </p:txBody>
      </p:sp>
      <p:sp>
        <p:nvSpPr>
          <p:cNvPr id="35" name="Text 33"/>
          <p:cNvSpPr txBox="1"/>
          <p:nvPr/>
        </p:nvSpPr>
        <p:spPr>
          <a:xfrm>
            <a:off x="10332720" y="5038344"/>
            <a:ext cx="1310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150</a:t>
            </a:r>
            <a:endParaRPr lang="en-US" sz="2200"/>
          </a:p>
        </p:txBody>
      </p:sp>
      <p:sp>
        <p:nvSpPr>
          <p:cNvPr id="36" name="nv2_c"/>
          <p:cNvSpPr/>
          <p:nvPr/>
        </p:nvSpPr>
        <p:spPr>
          <a:xfrm>
            <a:off x="548640" y="5641848"/>
            <a:ext cx="475488" cy="47548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nv2_n"/>
          <p:cNvSpPr txBox="1"/>
          <p:nvPr/>
        </p:nvSpPr>
        <p:spPr>
          <a:xfrm>
            <a:off x="548640" y="5641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E1623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1600"/>
          </a:p>
        </p:txBody>
      </p:sp>
      <p:sp>
        <p:nvSpPr>
          <p:cNvPr id="38" name="Text 36"/>
          <p:cNvSpPr txBox="1"/>
          <p:nvPr/>
        </p:nvSpPr>
        <p:spPr>
          <a:xfrm>
            <a:off x="1234440" y="564184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Melhor cliente</a:t>
            </a:r>
            <a:endParaRPr lang="en-US" sz="2000"/>
          </a:p>
        </p:txBody>
      </p:sp>
      <p:sp>
        <p:nvSpPr>
          <p:cNvPr id="39" name="Text 37"/>
          <p:cNvSpPr txBox="1"/>
          <p:nvPr/>
        </p:nvSpPr>
        <p:spPr>
          <a:xfrm>
            <a:off x="3657600" y="564184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>
                <a:solidFill>
                  <a:srgbClr val="A9B8CC"/>
                </a:solidFill>
                <a:latin typeface="Arial"/>
                <a:ea typeface="Arial"/>
                <a:cs typeface="Arial"/>
              </a:rPr>
              <a:t>quem mais gastou nos pedidos pagos · empate: ordem alfabética</a:t>
            </a:r>
            <a:endParaRPr lang="en-US" sz="1700"/>
          </a:p>
        </p:txBody>
      </p:sp>
      <p:sp>
        <p:nvSpPr>
          <p:cNvPr id="40" name="Text 38"/>
          <p:cNvSpPr txBox="1"/>
          <p:nvPr/>
        </p:nvSpPr>
        <p:spPr>
          <a:xfrm>
            <a:off x="10332720" y="5641848"/>
            <a:ext cx="1310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>
                <a:solidFill>
                  <a:srgbClr val="FFD166"/>
                </a:solidFill>
                <a:latin typeface="Arial"/>
                <a:ea typeface="Arial"/>
                <a:cs typeface="Arial"/>
              </a:rPr>
              <a:t>200</a:t>
            </a:r>
            <a:endParaRPr lang="en-US" sz="2200"/>
          </a:p>
        </p:txBody>
      </p:sp>
      <p:sp>
        <p:nvSpPr>
          <p:cNvPr id="10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9144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100">
                <a:solidFill>
                  <a:srgbClr val="7A8BA3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C88BB43A-D0FF-4F99-8EB8-B9EAA4A07400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-claro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2960" y="731520"/>
            <a:ext cx="121478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5603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Obrigado!</a:t>
            </a:r>
            <a:endParaRPr lang="en-US" sz="7200"/>
          </a:p>
        </p:txBody>
      </p:sp>
      <p:sp>
        <p:nvSpPr>
          <p:cNvPr id="4" name="Text 1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A9B8CC"/>
                </a:solidFill>
                <a:latin typeface="Arial"/>
                <a:ea typeface="Arial"/>
                <a:cs typeface="Arial"/>
              </a:rPr>
              <a:t>Perguntas?</a:t>
            </a:r>
            <a:endParaRPr 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nicurso Go">
  <a:themeElements>
    <a:clrScheme name="Minicurso Go">
      <a:dk1>
        <a:srgbClr val="0E1623"/>
      </a:dk1>
      <a:lt1>
        <a:srgbClr val="F5F7FA"/>
      </a:lt1>
      <a:dk2>
        <a:srgbClr val="0A111C"/>
      </a:dk2>
      <a:lt2>
        <a:srgbClr val="A9B8CC"/>
      </a:lt2>
      <a:accent1>
        <a:srgbClr val="00ADD8"/>
      </a:accent1>
      <a:accent2>
        <a:srgbClr val="FFD166"/>
      </a:accent2>
      <a:accent3>
        <a:srgbClr val="C792EA"/>
      </a:accent3>
      <a:accent4>
        <a:srgbClr val="4ADE80"/>
      </a:accent4>
      <a:accent5>
        <a:srgbClr val="7A8BA3"/>
      </a:accent5>
      <a:accent6>
        <a:srgbClr val="16233A"/>
      </a:accent6>
      <a:hlink>
        <a:srgbClr val="00ADD8"/>
      </a:hlink>
      <a:folHlink>
        <a:srgbClr val="C792EA"/>
      </a:folHlink>
    </a:clrScheme>
    <a:fontScheme name="Minicurso G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Minicurso Go">
  <a:themeElements>
    <a:clrScheme name="Minicurso Go">
      <a:dk1>
        <a:srgbClr val="0E1623"/>
      </a:dk1>
      <a:lt1>
        <a:srgbClr val="F5F7FA"/>
      </a:lt1>
      <a:dk2>
        <a:srgbClr val="0A111C"/>
      </a:dk2>
      <a:lt2>
        <a:srgbClr val="A9B8CC"/>
      </a:lt2>
      <a:accent1>
        <a:srgbClr val="00ADD8"/>
      </a:accent1>
      <a:accent2>
        <a:srgbClr val="FFD166"/>
      </a:accent2>
      <a:accent3>
        <a:srgbClr val="C792EA"/>
      </a:accent3>
      <a:accent4>
        <a:srgbClr val="4ADE80"/>
      </a:accent4>
      <a:accent5>
        <a:srgbClr val="7A8BA3"/>
      </a:accent5>
      <a:accent6>
        <a:srgbClr val="16233A"/>
      </a:accent6>
      <a:hlink>
        <a:srgbClr val="00ADD8"/>
      </a:hlink>
      <a:folHlink>
        <a:srgbClr val="C792EA"/>
      </a:folHlink>
    </a:clrScheme>
    <a:fontScheme name="Minicurso G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24</Slides>
  <Notes>24</Notes>
  <HiddenSlides>0</HiddenSlide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Minicurso de Go · aula 2</dc:title>
  <dc:subject>PptxGenJS Presentation</dc:subject>
  <dc:creator>Hydde</dc:creator>
  <cp:lastModifiedBy>Hydde</cp:lastModifiedBy>
  <cp:revision>1</cp:revision>
  <dcterms:created xsi:type="dcterms:W3CDTF">2026-10-27T14:42:53Z</dcterms:created>
  <dcterms:modified xsi:type="dcterms:W3CDTF">2026-10-27T14:42:53Z</dcterms:modified>
</cp:coreProperties>
</file>