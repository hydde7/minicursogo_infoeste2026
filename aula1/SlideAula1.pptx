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</p:sldIdLst>
  <p:sldSz cx="12192000" cy="6858000"/>
  <p:notesSz cx="6858000" cy="12192000"/>
  <p:embeddedFontLs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JetBrains Mono" panose="020B0604020202020204" charset="0"/>
      <p:regular r:id="rId36"/>
      <p:bold r:id="rId37"/>
      <p:italic r:id="rId38"/>
      <p:boldItalic r:id="rId39"/>
    </p:embeddedFont>
    <p:embeddedFont>
      <p:font typeface="Sora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UV0qIrB8pGt1ZfUBWe+mHar2J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Apresentação rápida. Pedir para todo mundo rodar go version.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Apresentação rápida dos dois. Contar da Maratona em uma frase e seguir.</a:t>
            </a:r>
            <a:endParaRPr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Onde a gente trabalha. Tecnologia para o cuidado materno-infantil: ultrassom gravado e transmitido, app para a gestante. Números do site vlabhealth.com.</a:t>
            </a: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O código de todos os slides está na pasta de exemplos, numerado.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Bloco curto, só para motivar.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Python e JS são interpretados, Java e C# rodam numa VM. Go gera código de máquina, como C, mas com garbage collector.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Nicho: infraestrutura, cloud, backend e CLI. Menos comum em front-end, mobile e ciência de dados.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Todo mundo com o terminal aberto, fazendo junto.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O terminal roda sozinho em loop. Fazer o mesmo ao vivo com a turma. Mostrar que o go.mod é só texto.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01-hello. Frase para guardar: quando a main termina, o programa acaba.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Em cada slide: rodar o exemplo e quebrar algo de propósito para mostrar o erro do compilador.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02-sintaxe. := só dentro de função. Descomentar naoUsada := 10 e mostrar o erro.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03-fluxo. O if com declaração é muito usado com erro: if err := f(); err != nil.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Não existe while. Desde o Go 1.22 dá para fazer for i := range 10. Guardar o range: ele volta com channels.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04-funcoes. nil = sem erro. _ descarta valor. defer roda quando a função sai.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Ir devagar em ponteiros com quem vem de Python ou JavaScript.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05-colecoes. append devolve slice novo. v, ok é o vírgula ok. range em map sai em ordem aleatória.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06-ponteiros. Go passa tudo por cópia: incrementaCopia fica 5, incrementa vira 6.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07-structs. Go não tem classe. Se algum método altera, usar ponteiro em todos. Maiúscula = público.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08-interfaces. Não existe implements. error também é interface.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Bloco mais importante antes da atividade. Só channels, nada de sync.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09-goroutines. Antes de mostrar a saída, perguntar o que vai imprimir. Rodar 3 vezes.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10-channels. A animação roda em loop. Channel sem buffer é um encontro marcado.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11-esperando. Resolve o problema do slide de goroutines. Rodar várias vezes: a ordem muda.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12-buffer-close. Com buffer só bloqueia quando enche. Quem fecha é quem envia. Fechar duas vezes dá panic.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Exemplo 14-deadlock. Mostrar de propósito. Pergunta que destrava: quem está esperando o quê?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4" name="Google Shape;78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Formar duplas. Desenhar no papel quais goroutines existem e quem conversa com quem. Não mostrar solução.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3" name="Google Shape;8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Pronto = saída alternada certinha, toda vez, e termina sozinho. Quem quiser começa por atividade/esqueleto.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5" name="Google Shape;85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Abrir para perguntas.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>
  <p:cSld name="CAP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">
  <p:cSld name="CONTEUDO">
    <p:bg>
      <p:bgPr>
        <a:solidFill>
          <a:srgbClr val="0E1623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3" descr="logo-clar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4187" y="6355080"/>
            <a:ext cx="72886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3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  <a:defRPr sz="3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3"/>
          <p:cNvSpPr txBox="1">
            <a:spLocks noGrp="1"/>
          </p:cNvSpPr>
          <p:nvPr>
            <p:ph type="sldNum" idx="12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AO">
  <p:cSld name="SECA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4" descr="logo-clar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1231" y="6035040"/>
            <a:ext cx="971824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4"/>
          <p:cNvSpPr txBox="1">
            <a:spLocks noGrp="1"/>
          </p:cNvSpPr>
          <p:nvPr>
            <p:ph type="body" idx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4800"/>
              </a:spcBef>
              <a:spcAft>
                <a:spcPts val="0"/>
              </a:spcAft>
              <a:buClr>
                <a:srgbClr val="17485C"/>
              </a:buClr>
              <a:buSzPts val="24000"/>
              <a:buFont typeface="Arial"/>
              <a:buNone/>
              <a:defRPr sz="24000" b="1" i="0" u="none" strike="noStrike" cap="none">
                <a:solidFill>
                  <a:srgbClr val="17485C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title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  <a:defRPr sz="5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body" idx="2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A9B8CC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" descr="logo-clar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731520"/>
            <a:ext cx="121478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 txBox="1"/>
          <p:nvPr/>
        </p:nvSpPr>
        <p:spPr>
          <a:xfrm>
            <a:off x="822960" y="1828800"/>
            <a:ext cx="59436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7200"/>
              <a:buFont typeface="Sora"/>
              <a:buNone/>
            </a:pPr>
            <a:r>
              <a:rPr lang="en-US" sz="72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Minicurso</a:t>
            </a:r>
            <a:endParaRPr sz="7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7200"/>
              <a:buFont typeface="Sora"/>
              <a:buNone/>
            </a:pPr>
            <a:r>
              <a:rPr lang="en-US" sz="72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de </a:t>
            </a:r>
            <a:r>
              <a:rPr lang="en-US" sz="7200" b="1" i="0" u="none" strike="noStrike" cap="none">
                <a:solidFill>
                  <a:srgbClr val="00ADD8"/>
                </a:solidFill>
                <a:latin typeface="Sora"/>
                <a:ea typeface="Sora"/>
                <a:cs typeface="Sora"/>
                <a:sym typeface="Sora"/>
              </a:rPr>
              <a:t>Go</a:t>
            </a:r>
            <a:endParaRPr sz="7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822960" y="4343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400"/>
              <a:buFont typeface="DM Sans"/>
              <a:buNone/>
            </a:pPr>
            <a:r>
              <a:rPr lang="en-US" sz="24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Aula 1</a:t>
            </a:r>
            <a:endParaRPr sz="2400" b="0" i="0" u="none" strike="noStrike" cap="none">
              <a:solidFill>
                <a:srgbClr val="A9B8C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" name="Google Shape;29;p1"/>
          <p:cNvGrpSpPr/>
          <p:nvPr/>
        </p:nvGrpSpPr>
        <p:grpSpPr>
          <a:xfrm rot="-180000">
            <a:off x="7040880" y="2468880"/>
            <a:ext cx="4599432" cy="3241548"/>
            <a:chOff x="7040880" y="2468880"/>
            <a:chExt cx="4599432" cy="3241548"/>
          </a:xfrm>
        </p:grpSpPr>
        <p:grpSp>
          <p:nvGrpSpPr>
            <p:cNvPr id="30" name="Google Shape;30;p1"/>
            <p:cNvGrpSpPr/>
            <p:nvPr/>
          </p:nvGrpSpPr>
          <p:grpSpPr>
            <a:xfrm>
              <a:off x="7040880" y="2468880"/>
              <a:ext cx="4599432" cy="3241548"/>
              <a:chOff x="7040880" y="2468880"/>
              <a:chExt cx="4599432" cy="3241548"/>
            </a:xfrm>
          </p:grpSpPr>
          <p:sp>
            <p:nvSpPr>
              <p:cNvPr id="31" name="Google Shape;31;p1"/>
              <p:cNvSpPr/>
              <p:nvPr/>
            </p:nvSpPr>
            <p:spPr>
              <a:xfrm>
                <a:off x="7040880" y="2468880"/>
                <a:ext cx="4599432" cy="3241548"/>
              </a:xfrm>
              <a:prstGeom prst="roundRect">
                <a:avLst>
                  <a:gd name="adj" fmla="val 3949"/>
                </a:avLst>
              </a:prstGeom>
              <a:solidFill>
                <a:srgbClr val="0A111C"/>
              </a:solidFill>
              <a:ln w="12700" cap="flat" cmpd="sng">
                <a:solidFill>
                  <a:srgbClr val="0A111C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04800" dist="127000" dir="5400000" algn="t" rotWithShape="0">
                  <a:srgbClr val="000000">
                    <a:alpha val="45098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7040880" y="2468880"/>
                <a:ext cx="4599432" cy="384048"/>
              </a:xfrm>
              <a:prstGeom prst="roundRect">
                <a:avLst>
                  <a:gd name="adj" fmla="val 33333"/>
                </a:avLst>
              </a:prstGeom>
              <a:solidFill>
                <a:srgbClr val="131E30"/>
              </a:solidFill>
              <a:ln w="12700" cap="flat" cmpd="sng">
                <a:solidFill>
                  <a:srgbClr val="131E3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040880" y="2706624"/>
                <a:ext cx="4599432" cy="146304"/>
              </a:xfrm>
              <a:prstGeom prst="rect">
                <a:avLst/>
              </a:prstGeom>
              <a:solidFill>
                <a:srgbClr val="131E30"/>
              </a:solidFill>
              <a:ln w="12700" cap="flat" cmpd="sng">
                <a:solidFill>
                  <a:srgbClr val="131E3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4" name="Google Shape;34;p1"/>
              <p:cNvCxnSpPr/>
              <p:nvPr/>
            </p:nvCxnSpPr>
            <p:spPr>
              <a:xfrm>
                <a:off x="7040880" y="2852928"/>
                <a:ext cx="4599432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22324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5" name="Google Shape;35;p1"/>
              <p:cNvSpPr/>
              <p:nvPr/>
            </p:nvSpPr>
            <p:spPr>
              <a:xfrm>
                <a:off x="7040880" y="2468880"/>
                <a:ext cx="4599432" cy="3241548"/>
              </a:xfrm>
              <a:prstGeom prst="roundRect">
                <a:avLst>
                  <a:gd name="adj" fmla="val 3949"/>
                </a:avLst>
              </a:prstGeom>
              <a:solidFill>
                <a:srgbClr val="0A111C">
                  <a:alpha val="0"/>
                </a:srgbClr>
              </a:solidFill>
              <a:ln w="9525" cap="flat" cmpd="sng">
                <a:solidFill>
                  <a:srgbClr val="22324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7242048" y="2596896"/>
                <a:ext cx="128016" cy="128016"/>
              </a:xfrm>
              <a:prstGeom prst="ellipse">
                <a:avLst/>
              </a:prstGeom>
              <a:solidFill>
                <a:srgbClr val="FF6B6B"/>
              </a:solidFill>
              <a:ln w="12700" cap="flat" cmpd="sng">
                <a:solidFill>
                  <a:srgbClr val="FF6B6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7443216" y="2596896"/>
                <a:ext cx="128016" cy="128016"/>
              </a:xfrm>
              <a:prstGeom prst="ellipse">
                <a:avLst/>
              </a:prstGeom>
              <a:solidFill>
                <a:srgbClr val="FFD166"/>
              </a:solidFill>
              <a:ln w="12700" cap="flat" cmpd="sng">
                <a:solidFill>
                  <a:srgbClr val="FFD1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7644384" y="2596896"/>
                <a:ext cx="128016" cy="128016"/>
              </a:xfrm>
              <a:prstGeom prst="ellipse">
                <a:avLst/>
              </a:prstGeom>
              <a:solidFill>
                <a:srgbClr val="4ADE80"/>
              </a:solidFill>
              <a:ln w="12700" cap="flat" cmpd="sng">
                <a:solidFill>
                  <a:srgbClr val="4ADE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7955280" y="2523744"/>
                <a:ext cx="35935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A8BA3"/>
                  </a:buClr>
                  <a:buSzPts val="1200"/>
                  <a:buFont typeface="JetBrains Mono"/>
                  <a:buNone/>
                </a:pPr>
                <a:r>
                  <a:rPr lang="en-US" sz="1200" b="0" i="0" u="none" strike="noStrike" cap="none">
                    <a:solidFill>
                      <a:srgbClr val="7A8BA3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main.go</a:t>
                </a:r>
                <a:endParaRPr sz="12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0" name="Google Shape;40;p1"/>
            <p:cNvGrpSpPr/>
            <p:nvPr/>
          </p:nvGrpSpPr>
          <p:grpSpPr>
            <a:xfrm>
              <a:off x="7360920" y="3081528"/>
              <a:ext cx="4233672" cy="2400300"/>
              <a:chOff x="7360920" y="3081528"/>
              <a:chExt cx="4233672" cy="2400300"/>
            </a:xfrm>
          </p:grpSpPr>
          <p:sp>
            <p:nvSpPr>
              <p:cNvPr id="41" name="Google Shape;41;p1"/>
              <p:cNvSpPr txBox="1"/>
              <p:nvPr/>
            </p:nvSpPr>
            <p:spPr>
              <a:xfrm>
                <a:off x="7360920" y="3081528"/>
                <a:ext cx="423367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EDF5"/>
                  </a:buClr>
                  <a:buSzPts val="1800"/>
                  <a:buFont typeface="JetBrains Mono"/>
                  <a:buNone/>
                </a:pP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ch := make(</a:t>
                </a:r>
                <a:r>
                  <a:rPr lang="en-US" sz="1800" b="1" i="0" u="none" strike="noStrike" cap="none">
                    <a:solidFill>
                      <a:srgbClr val="00ADD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chan</a:t>
                </a: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 string)</a:t>
                </a: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2" name="Google Shape;42;p1"/>
              <p:cNvSpPr txBox="1"/>
              <p:nvPr/>
            </p:nvSpPr>
            <p:spPr>
              <a:xfrm>
                <a:off x="7360920" y="3767328"/>
                <a:ext cx="423367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ADD8"/>
                  </a:buClr>
                  <a:buSzPts val="1800"/>
                  <a:buFont typeface="JetBrains Mono"/>
                  <a:buNone/>
                </a:pPr>
                <a:r>
                  <a:rPr lang="en-US" sz="1800" b="1" i="0" u="none" strike="noStrike" cap="none">
                    <a:solidFill>
                      <a:srgbClr val="00ADD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go</a:t>
                </a: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 </a:t>
                </a:r>
                <a:r>
                  <a:rPr lang="en-US" sz="1800" b="0" i="0" u="none" strike="noStrike" cap="none">
                    <a:solidFill>
                      <a:srgbClr val="C792E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func</a:t>
                </a: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() {</a:t>
                </a: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3" name="Google Shape;43;p1"/>
              <p:cNvSpPr txBox="1"/>
              <p:nvPr/>
            </p:nvSpPr>
            <p:spPr>
              <a:xfrm>
                <a:off x="7360920" y="4110228"/>
                <a:ext cx="423367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EDF5"/>
                  </a:buClr>
                  <a:buSzPts val="1800"/>
                  <a:buFont typeface="JetBrains Mono"/>
                  <a:buNone/>
                </a:pP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    ch &lt;- </a:t>
                </a:r>
                <a:r>
                  <a:rPr lang="en-US" sz="1800" b="0" i="0" u="none" strike="noStrike" cap="none">
                    <a:solidFill>
                      <a:srgbClr val="FFD16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"olá, mundo!"</a:t>
                </a: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4" name="Google Shape;44;p1"/>
              <p:cNvSpPr txBox="1"/>
              <p:nvPr/>
            </p:nvSpPr>
            <p:spPr>
              <a:xfrm>
                <a:off x="7360920" y="4453128"/>
                <a:ext cx="423367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EDF5"/>
                  </a:buClr>
                  <a:buSzPts val="1800"/>
                  <a:buFont typeface="JetBrains Mono"/>
                  <a:buNone/>
                </a:pP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}()</a:t>
                </a: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45" name="Google Shape;45;p1"/>
              <p:cNvSpPr txBox="1"/>
              <p:nvPr/>
            </p:nvSpPr>
            <p:spPr>
              <a:xfrm>
                <a:off x="7360920" y="5138928"/>
                <a:ext cx="423367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EDF5"/>
                  </a:buClr>
                  <a:buSzPts val="1800"/>
                  <a:buFont typeface="JetBrains Mono"/>
                  <a:buNone/>
                </a:pPr>
                <a:r>
                  <a:rPr lang="en-US" sz="1800" b="0" i="0" u="none" strike="noStrike" cap="none">
                    <a:solidFill>
                      <a:srgbClr val="E6EDF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fmt.Println(&lt;-ch)</a:t>
                </a:r>
                <a:endParaRPr sz="18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Quem fala com vocês</a:t>
            </a:r>
            <a:endParaRPr sz="3400"/>
          </a:p>
        </p:txBody>
      </p:sp>
      <p:sp>
        <p:nvSpPr>
          <p:cNvPr id="52" name="Google Shape;52;p2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1600200"/>
            <a:ext cx="1005840" cy="10058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F5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548640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1828800" y="157276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Eddy Santos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1828800" y="219456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Desenvolvedor Backend</a:t>
            </a:r>
            <a:r>
              <a:rPr lang="en-US" sz="18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  ·  VLab</a:t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548640" y="301752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A8B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formação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548640" y="3429000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Ciência da Computação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graduação · Unoeste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548640" y="4297680"/>
            <a:ext cx="5349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Desenvolvimento Avançado com Golang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pós-graduação · </a:t>
            </a:r>
            <a:r>
              <a:rPr lang="en-US" sz="1500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FullCycle</a:t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400800" y="1600200"/>
            <a:ext cx="1005840" cy="10058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F5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6400800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TK</a:t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7680960" y="157276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Thiago Kato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7680960" y="219456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Desenvolvedor Fullstack</a:t>
            </a:r>
            <a:r>
              <a:rPr lang="en-US" sz="18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  ·  VLab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6400800" y="301752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A8B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formação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6400800" y="3429000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Engenharia Civil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graduação · PUC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6400800" y="4297680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Sistemas de Informação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graduação · Unoeste</a:t>
            </a:r>
            <a:endParaRPr/>
          </a:p>
        </p:txBody>
      </p:sp>
      <p:cxnSp>
        <p:nvCxnSpPr>
          <p:cNvPr id="67" name="Google Shape;67;p2"/>
          <p:cNvCxnSpPr/>
          <p:nvPr/>
        </p:nvCxnSpPr>
        <p:spPr>
          <a:xfrm>
            <a:off x="6126480" y="1645920"/>
            <a:ext cx="0" cy="3611880"/>
          </a:xfrm>
          <a:prstGeom prst="straightConnector1">
            <a:avLst/>
          </a:prstGeom>
          <a:noFill/>
          <a:ln w="9525" cap="flat" cmpd="sng">
            <a:solidFill>
              <a:srgbClr val="2232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8" name="Google Shape;68;p2"/>
          <p:cNvCxnSpPr/>
          <p:nvPr/>
        </p:nvCxnSpPr>
        <p:spPr>
          <a:xfrm>
            <a:off x="548640" y="544068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2232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VLab Health</a:t>
            </a:r>
            <a:endParaRPr sz="3400"/>
          </a:p>
        </p:txBody>
      </p:sp>
      <p:sp>
        <p:nvSpPr>
          <p:cNvPr id="78" name="Google Shape;78;p3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3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A maior operação de ultrassom conectado da América Latina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548640" y="201168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A8B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que fazemos</a:t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548640" y="2395728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0ADD8"/>
                </a:solidFill>
                <a:latin typeface="Sora"/>
                <a:ea typeface="Sora"/>
                <a:cs typeface="Sora"/>
                <a:sym typeface="Sora"/>
              </a:rPr>
              <a:t>V-Baby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ultrassom gravado e transmitido ao vivo para o app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548640" y="3145536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Portal de Resultados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laudos e exames com a marca da clínica, na nuvem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548640" y="3895344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Medstreamer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registro e acesso a vídeos médicos</a:t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548640" y="4645152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Caderneta da Gestante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o acompanhamento da gestação no celular</a:t>
            </a:r>
            <a:endParaRPr/>
          </a:p>
        </p:txBody>
      </p:sp>
      <p:cxnSp>
        <p:nvCxnSpPr>
          <p:cNvPr id="85" name="Google Shape;85;p3"/>
          <p:cNvCxnSpPr/>
          <p:nvPr/>
        </p:nvCxnSpPr>
        <p:spPr>
          <a:xfrm>
            <a:off x="6629400" y="2057400"/>
            <a:ext cx="0" cy="3108960"/>
          </a:xfrm>
          <a:prstGeom prst="straightConnector1">
            <a:avLst/>
          </a:prstGeom>
          <a:noFill/>
          <a:ln w="9525" cap="flat" cmpd="sng">
            <a:solidFill>
              <a:srgbClr val="2232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86" name="Google Shape;86;p3"/>
          <p:cNvSpPr txBox="1"/>
          <p:nvPr/>
        </p:nvSpPr>
        <p:spPr>
          <a:xfrm>
            <a:off x="6995160" y="20116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FD166"/>
                </a:solidFill>
                <a:latin typeface="Sora"/>
                <a:ea typeface="Sora"/>
                <a:cs typeface="Sora"/>
                <a:sym typeface="Sora"/>
              </a:rPr>
              <a:t>8 anos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6995160" y="27889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de operação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9372600" y="20116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0ADD8"/>
                </a:solidFill>
                <a:latin typeface="Sora"/>
                <a:ea typeface="Sora"/>
                <a:cs typeface="Sora"/>
                <a:sym typeface="Sora"/>
              </a:rPr>
              <a:t>+700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9372600" y="27889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clínicas e hospitais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6995160" y="3611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C792EA"/>
                </a:solidFill>
                <a:latin typeface="Sora"/>
                <a:ea typeface="Sora"/>
                <a:cs typeface="Sora"/>
                <a:sym typeface="Sora"/>
              </a:rPr>
              <a:t>+40 mil</a:t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6995160" y="43891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ultrassons gravados por mês</a:t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9372600" y="3611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4ADE80"/>
                </a:solidFill>
                <a:latin typeface="Sora"/>
                <a:ea typeface="Sora"/>
                <a:cs typeface="Sora"/>
                <a:sym typeface="Sora"/>
              </a:rPr>
              <a:t>+250 mil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9372600" y="43891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famílias no app V-Baby</a:t>
            </a:r>
            <a:endParaRPr/>
          </a:p>
        </p:txBody>
      </p:sp>
      <p:cxnSp>
        <p:nvCxnSpPr>
          <p:cNvPr id="94" name="Google Shape;94;p3"/>
          <p:cNvCxnSpPr/>
          <p:nvPr/>
        </p:nvCxnSpPr>
        <p:spPr>
          <a:xfrm>
            <a:off x="548640" y="544068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22324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95" name="Google Shape;95;p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Sabin · Fleury · Dasa</a:t>
            </a:r>
            <a:r>
              <a:rPr lang="en-US" sz="17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   ·   Brasil, mais 8 países das Américas e Moçambique   ·   LGPD e HIPAA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Roteiro</a:t>
            </a:r>
            <a:endParaRPr sz="3400"/>
          </a:p>
        </p:txBody>
      </p:sp>
      <p:sp>
        <p:nvSpPr>
          <p:cNvPr id="101" name="Google Shape;101;p4"/>
          <p:cNvSpPr/>
          <p:nvPr/>
        </p:nvSpPr>
        <p:spPr>
          <a:xfrm>
            <a:off x="548640" y="2011680"/>
            <a:ext cx="731520" cy="73152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54864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508760" y="199339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Por que Go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o que a linguagem resolve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3383280"/>
            <a:ext cx="731520" cy="73152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548640" y="3383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508760" y="336499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Primeiro projeto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go mod, go run, Hello World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4754880"/>
            <a:ext cx="731520" cy="73152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548640" y="4754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508760" y="473659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Fundamentos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variáveis, if, for, funções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217920" y="2011680"/>
            <a:ext cx="731520" cy="73152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21792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7178040" y="199339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Tipos e dados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slices, maps, ponteiros, structs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217920" y="3383280"/>
            <a:ext cx="731520" cy="73152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217920" y="33832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7178040" y="336499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Goroutines e channels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concorrência do jeito Go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217920" y="4754880"/>
            <a:ext cx="731520" cy="731520"/>
          </a:xfrm>
          <a:prstGeom prst="ellipse">
            <a:avLst/>
          </a:prstGeom>
          <a:solidFill>
            <a:srgbClr val="FFD166"/>
          </a:solidFill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6217920" y="4754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7178040" y="473659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FD166"/>
                </a:solidFill>
                <a:latin typeface="Sora"/>
                <a:ea typeface="Sora"/>
                <a:cs typeface="Sora"/>
                <a:sym typeface="Sora"/>
              </a:rPr>
              <a:t>Atividade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 a 10 com duas goroutines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4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4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85C"/>
              </a:buClr>
              <a:buSzPts val="24000"/>
              <a:buNone/>
            </a:pPr>
            <a:r>
              <a:rPr lang="en-US" sz="24000" b="1">
                <a:solidFill>
                  <a:srgbClr val="17485C"/>
                </a:solidFill>
                <a:latin typeface="Sora"/>
                <a:ea typeface="Sora"/>
                <a:cs typeface="Sora"/>
                <a:sym typeface="Sora"/>
              </a:rPr>
              <a:t>01</a:t>
            </a:r>
            <a:endParaRPr sz="24000"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Por que Go?</a:t>
            </a:r>
            <a:endParaRPr sz="5400"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2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600"/>
              <a:buNone/>
            </a:pPr>
            <a:r>
              <a:rPr lang="en-US" sz="2600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O que a linguagem resolve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Por que Go</a:t>
            </a:r>
            <a:endParaRPr sz="3400"/>
          </a:p>
        </p:txBody>
      </p:sp>
      <p:sp>
        <p:nvSpPr>
          <p:cNvPr id="132" name="Google Shape;132;p6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Criada no Google em 2007 · open source em 2009 · Go 1.0 em 2012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2377440"/>
            <a:ext cx="914400" cy="91440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F5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737360" y="2377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Compila em segundos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mesmo em projeto grande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17920" y="2377440"/>
            <a:ext cx="914400" cy="91440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F5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652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7406640" y="2377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Binário único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roda sem instalar nada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4206240"/>
            <a:ext cx="914400" cy="91440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F5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240" y="4434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737360" y="42062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Garbage collector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sem malloc e free na mão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17920" y="4206240"/>
            <a:ext cx="914400" cy="91440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F5A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46520" y="4434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7406640" y="42062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00ADD8"/>
                </a:solidFill>
                <a:latin typeface="Sora"/>
                <a:ea typeface="Sora"/>
                <a:cs typeface="Sora"/>
                <a:sym typeface="Sora"/>
              </a:rPr>
              <a:t>Concorrência nativa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goroutines e channels na linguagem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6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6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Quem usa Go</a:t>
            </a:r>
            <a:endParaRPr sz="3400"/>
          </a:p>
        </p:txBody>
      </p:sp>
      <p:sp>
        <p:nvSpPr>
          <p:cNvPr id="151" name="Google Shape;151;p7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16233A"/>
          </a:solidFill>
          <a:ln w="9525" cap="flat" cmpd="sng">
            <a:solidFill>
              <a:srgbClr val="2232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960120" y="1874520"/>
            <a:ext cx="45720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feitos em Go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Docker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Kubernetes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Terraform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Prometheus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F5F7FA"/>
              </a:buClr>
              <a:buSzPts val="2400"/>
              <a:buFont typeface="Sora"/>
              <a:buNone/>
            </a:pP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217920" y="160020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16233A"/>
          </a:solidFill>
          <a:ln w="9525" cap="flat" cmpd="sng">
            <a:solidFill>
              <a:srgbClr val="2232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6629400" y="1874520"/>
            <a:ext cx="45720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A3"/>
              </a:buClr>
              <a:buSzPts val="160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7A8B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empresas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Google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Uber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Twitch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Dropbox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Cloudflare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Mercado Livre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>
                <a:srgbClr val="F5F7FA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00ADD8"/>
                </a:solidFill>
                <a:latin typeface="Sora"/>
                <a:ea typeface="Sora"/>
                <a:cs typeface="Sora"/>
                <a:sym typeface="Sora"/>
              </a:rPr>
              <a:t>VLab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7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body" idx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85C"/>
              </a:buClr>
              <a:buSzPts val="24000"/>
              <a:buNone/>
            </a:pPr>
            <a:r>
              <a:rPr lang="en-US" sz="24000" b="1">
                <a:solidFill>
                  <a:srgbClr val="17485C"/>
                </a:solidFill>
                <a:latin typeface="Sora"/>
                <a:ea typeface="Sora"/>
                <a:cs typeface="Sora"/>
                <a:sym typeface="Sora"/>
              </a:rPr>
              <a:t>02</a:t>
            </a:r>
            <a:endParaRPr sz="24000"/>
          </a:p>
        </p:txBody>
      </p:sp>
      <p:sp>
        <p:nvSpPr>
          <p:cNvPr id="161" name="Google Shape;161;p8"/>
          <p:cNvSpPr txBox="1">
            <a:spLocks noGrp="1"/>
          </p:cNvSpPr>
          <p:nvPr>
            <p:ph type="title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Primeiro projeto</a:t>
            </a:r>
            <a:endParaRPr sz="5400"/>
          </a:p>
        </p:txBody>
      </p:sp>
      <p:sp>
        <p:nvSpPr>
          <p:cNvPr id="162" name="Google Shape;162;p8"/>
          <p:cNvSpPr txBox="1">
            <a:spLocks noGrp="1"/>
          </p:cNvSpPr>
          <p:nvPr>
            <p:ph type="body" idx="2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600"/>
              <a:buNone/>
            </a:pPr>
            <a:r>
              <a:rPr lang="en-US" sz="2600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Do go mod init ao executável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Os comandos do dia a dia</a:t>
            </a:r>
            <a:endParaRPr sz="3400"/>
          </a:p>
        </p:txBody>
      </p:sp>
      <p:pic>
        <p:nvPicPr>
          <p:cNvPr id="168" name="Google Shape;168;p9" descr="Terminal digitando go mod init, go run, go build e ./minicurs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463040"/>
            <a:ext cx="6766560" cy="3694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9"/>
          <p:cNvGrpSpPr/>
          <p:nvPr/>
        </p:nvGrpSpPr>
        <p:grpSpPr>
          <a:xfrm>
            <a:off x="7680960" y="1920240"/>
            <a:ext cx="3959352" cy="3840480"/>
            <a:chOff x="7680960" y="1920240"/>
            <a:chExt cx="3959352" cy="3840480"/>
          </a:xfrm>
        </p:grpSpPr>
        <p:sp>
          <p:nvSpPr>
            <p:cNvPr id="170" name="Google Shape;170;p9"/>
            <p:cNvSpPr txBox="1"/>
            <p:nvPr/>
          </p:nvSpPr>
          <p:spPr>
            <a:xfrm>
              <a:off x="7680960" y="1920240"/>
              <a:ext cx="3959352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200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mod init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800"/>
                <a:buFont typeface="DM Sans"/>
                <a:buNone/>
              </a:pPr>
              <a:r>
                <a:rPr lang="en-US" sz="18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cria o módulo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1" name="Google Shape;171;p9"/>
            <p:cNvSpPr txBox="1"/>
            <p:nvPr/>
          </p:nvSpPr>
          <p:spPr>
            <a:xfrm>
              <a:off x="7680960" y="2697480"/>
              <a:ext cx="3959352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200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run .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800"/>
                <a:buFont typeface="DM Sans"/>
                <a:buNone/>
              </a:pPr>
              <a:r>
                <a:rPr lang="en-US" sz="18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compila e roda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2" name="Google Shape;172;p9"/>
            <p:cNvSpPr txBox="1"/>
            <p:nvPr/>
          </p:nvSpPr>
          <p:spPr>
            <a:xfrm>
              <a:off x="7680960" y="3474720"/>
              <a:ext cx="3959352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200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build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800"/>
                <a:buFont typeface="DM Sans"/>
                <a:buNone/>
              </a:pPr>
              <a:r>
                <a:rPr lang="en-US" sz="18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gera o executável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7680960" y="4251960"/>
              <a:ext cx="3959352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200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./minicurso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800"/>
                <a:buFont typeface="DM Sans"/>
                <a:buNone/>
              </a:pPr>
              <a:r>
                <a:rPr lang="en-US" sz="18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roda sem precisar do Go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7680960" y="5029200"/>
              <a:ext cx="3959352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200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fmt · go vet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800"/>
                <a:buFont typeface="DM Sans"/>
                <a:buNone/>
              </a:pPr>
              <a:r>
                <a:rPr lang="en-US" sz="18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formata e revisa</a:t>
              </a:r>
              <a:endPara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75" name="Google Shape;175;p9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9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Hello World</a:t>
            </a:r>
            <a:endParaRPr sz="3400"/>
          </a:p>
        </p:txBody>
      </p:sp>
      <p:grpSp>
        <p:nvGrpSpPr>
          <p:cNvPr id="181" name="Google Shape;181;p10"/>
          <p:cNvGrpSpPr/>
          <p:nvPr/>
        </p:nvGrpSpPr>
        <p:grpSpPr>
          <a:xfrm>
            <a:off x="548640" y="1463040"/>
            <a:ext cx="5852160" cy="3241548"/>
            <a:chOff x="548640" y="1463040"/>
            <a:chExt cx="5852160" cy="3241548"/>
          </a:xfrm>
        </p:grpSpPr>
        <p:sp>
          <p:nvSpPr>
            <p:cNvPr id="182" name="Google Shape;182;p10"/>
            <p:cNvSpPr/>
            <p:nvPr/>
          </p:nvSpPr>
          <p:spPr>
            <a:xfrm>
              <a:off x="548640" y="1463040"/>
              <a:ext cx="5852160" cy="3241548"/>
            </a:xfrm>
            <a:prstGeom prst="roundRect">
              <a:avLst>
                <a:gd name="adj" fmla="val 3949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548640" y="1463040"/>
              <a:ext cx="58521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0"/>
            <p:cNvSpPr/>
            <p:nvPr/>
          </p:nvSpPr>
          <p:spPr>
            <a:xfrm>
              <a:off x="548640" y="1700784"/>
              <a:ext cx="58521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" name="Google Shape;185;p10"/>
            <p:cNvCxnSpPr/>
            <p:nvPr/>
          </p:nvCxnSpPr>
          <p:spPr>
            <a:xfrm>
              <a:off x="548640" y="1847088"/>
              <a:ext cx="58521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6" name="Google Shape;186;p10"/>
            <p:cNvSpPr/>
            <p:nvPr/>
          </p:nvSpPr>
          <p:spPr>
            <a:xfrm>
              <a:off x="548640" y="1463040"/>
              <a:ext cx="5852160" cy="3241548"/>
            </a:xfrm>
            <a:prstGeom prst="roundRect">
              <a:avLst>
                <a:gd name="adj" fmla="val 3949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1463040" y="1517904"/>
              <a:ext cx="4846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main.go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1" name="Google Shape;191;p10"/>
          <p:cNvSpPr/>
          <p:nvPr/>
        </p:nvSpPr>
        <p:spPr>
          <a:xfrm>
            <a:off x="658368" y="2075688"/>
            <a:ext cx="56327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58368" y="2761488"/>
            <a:ext cx="56327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58368" y="3447288"/>
            <a:ext cx="56327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10"/>
          <p:cNvGrpSpPr/>
          <p:nvPr/>
        </p:nvGrpSpPr>
        <p:grpSpPr>
          <a:xfrm>
            <a:off x="868680" y="2075688"/>
            <a:ext cx="5486400" cy="2400300"/>
            <a:chOff x="868680" y="2075688"/>
            <a:chExt cx="5486400" cy="2400300"/>
          </a:xfrm>
        </p:grpSpPr>
        <p:sp>
          <p:nvSpPr>
            <p:cNvPr id="195" name="Google Shape;195;p10"/>
            <p:cNvSpPr txBox="1"/>
            <p:nvPr/>
          </p:nvSpPr>
          <p:spPr>
            <a:xfrm>
              <a:off x="868680" y="2075688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package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main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6" name="Google Shape;196;p10"/>
            <p:cNvSpPr txBox="1"/>
            <p:nvPr/>
          </p:nvSpPr>
          <p:spPr>
            <a:xfrm>
              <a:off x="868680" y="2761488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import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"fmt"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7" name="Google Shape;197;p10"/>
            <p:cNvSpPr txBox="1"/>
            <p:nvPr/>
          </p:nvSpPr>
          <p:spPr>
            <a:xfrm>
              <a:off x="868680" y="3447288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main()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8" name="Google Shape;198;p10"/>
            <p:cNvSpPr txBox="1"/>
            <p:nvPr/>
          </p:nvSpPr>
          <p:spPr>
            <a:xfrm>
              <a:off x="868680" y="3790188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"Olá, mundo!"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9" name="Google Shape;199;p10"/>
            <p:cNvSpPr txBox="1"/>
            <p:nvPr/>
          </p:nvSpPr>
          <p:spPr>
            <a:xfrm>
              <a:off x="868680" y="4133088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00" name="Google Shape;200;p10"/>
          <p:cNvSpPr txBox="1"/>
          <p:nvPr/>
        </p:nvSpPr>
        <p:spPr>
          <a:xfrm>
            <a:off x="6675120" y="205740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o pacote main vira executável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6675120" y="274320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traz pacotes da biblioteca padrão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6675120" y="342900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ponto de entrada do programa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3" name="Google Shape;203;p10"/>
          <p:cNvGrpSpPr/>
          <p:nvPr/>
        </p:nvGrpSpPr>
        <p:grpSpPr>
          <a:xfrm>
            <a:off x="6675120" y="4206240"/>
            <a:ext cx="4937760" cy="1527048"/>
            <a:chOff x="6675120" y="4206240"/>
            <a:chExt cx="4937760" cy="1527048"/>
          </a:xfrm>
        </p:grpSpPr>
        <p:sp>
          <p:nvSpPr>
            <p:cNvPr id="204" name="Google Shape;204;p10"/>
            <p:cNvSpPr/>
            <p:nvPr/>
          </p:nvSpPr>
          <p:spPr>
            <a:xfrm>
              <a:off x="6675120" y="4206240"/>
              <a:ext cx="4937760" cy="1527048"/>
            </a:xfrm>
            <a:prstGeom prst="roundRect">
              <a:avLst>
                <a:gd name="adj" fmla="val 8383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6675120" y="4206240"/>
              <a:ext cx="49377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6675120" y="4443984"/>
              <a:ext cx="49377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" name="Google Shape;207;p10"/>
            <p:cNvCxnSpPr/>
            <p:nvPr/>
          </p:nvCxnSpPr>
          <p:spPr>
            <a:xfrm>
              <a:off x="6675120" y="4590288"/>
              <a:ext cx="49377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8" name="Google Shape;208;p10"/>
            <p:cNvSpPr/>
            <p:nvPr/>
          </p:nvSpPr>
          <p:spPr>
            <a:xfrm>
              <a:off x="6675120" y="4206240"/>
              <a:ext cx="4937760" cy="1527048"/>
            </a:xfrm>
            <a:prstGeom prst="roundRect">
              <a:avLst>
                <a:gd name="adj" fmla="val 8383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6876288" y="43342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7077456" y="43342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7278624" y="43342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7589520" y="4261104"/>
              <a:ext cx="3931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terminal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3" name="Google Shape;213;p10"/>
            <p:cNvSpPr txBox="1"/>
            <p:nvPr/>
          </p:nvSpPr>
          <p:spPr>
            <a:xfrm>
              <a:off x="6995160" y="4818888"/>
              <a:ext cx="457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run .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6995160" y="5161788"/>
              <a:ext cx="457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DE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Olá, mundo!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15" name="Google Shape;215;p10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10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>
            <a:spLocks noGrp="1"/>
          </p:cNvSpPr>
          <p:nvPr>
            <p:ph type="body" idx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85C"/>
              </a:buClr>
              <a:buSzPts val="24000"/>
              <a:buNone/>
            </a:pPr>
            <a:r>
              <a:rPr lang="en-US" sz="24000" b="1">
                <a:solidFill>
                  <a:srgbClr val="17485C"/>
                </a:solidFill>
                <a:latin typeface="Sora"/>
                <a:ea typeface="Sora"/>
                <a:cs typeface="Sora"/>
                <a:sym typeface="Sora"/>
              </a:rPr>
              <a:t>03</a:t>
            </a:r>
            <a:endParaRPr sz="24000"/>
          </a:p>
        </p:txBody>
      </p:sp>
      <p:sp>
        <p:nvSpPr>
          <p:cNvPr id="221" name="Google Shape;221;p11"/>
          <p:cNvSpPr txBox="1">
            <a:spLocks noGrp="1"/>
          </p:cNvSpPr>
          <p:nvPr>
            <p:ph type="title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Fundamentos</a:t>
            </a:r>
            <a:endParaRPr sz="5400"/>
          </a:p>
        </p:txBody>
      </p:sp>
      <p:sp>
        <p:nvSpPr>
          <p:cNvPr id="222" name="Google Shape;222;p11"/>
          <p:cNvSpPr txBox="1">
            <a:spLocks noGrp="1"/>
          </p:cNvSpPr>
          <p:nvPr>
            <p:ph type="body" idx="2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600"/>
              <a:buNone/>
            </a:pPr>
            <a:r>
              <a:rPr lang="en-US" sz="2600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Variáveis, controle de fluxo e funções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Variáveis e constantes</a:t>
            </a:r>
            <a:endParaRPr sz="3400"/>
          </a:p>
        </p:txBody>
      </p:sp>
      <p:grpSp>
        <p:nvGrpSpPr>
          <p:cNvPr id="228" name="Google Shape;228;p12"/>
          <p:cNvGrpSpPr/>
          <p:nvPr/>
        </p:nvGrpSpPr>
        <p:grpSpPr>
          <a:xfrm>
            <a:off x="548640" y="1463040"/>
            <a:ext cx="5440680" cy="3927348"/>
            <a:chOff x="548640" y="1463040"/>
            <a:chExt cx="5440680" cy="3927348"/>
          </a:xfrm>
        </p:grpSpPr>
        <p:sp>
          <p:nvSpPr>
            <p:cNvPr id="229" name="Google Shape;229;p12"/>
            <p:cNvSpPr/>
            <p:nvPr/>
          </p:nvSpPr>
          <p:spPr>
            <a:xfrm>
              <a:off x="548640" y="1463040"/>
              <a:ext cx="544068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48640" y="1463040"/>
              <a:ext cx="54406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548640" y="1700784"/>
              <a:ext cx="544068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" name="Google Shape;232;p12"/>
            <p:cNvCxnSpPr/>
            <p:nvPr/>
          </p:nvCxnSpPr>
          <p:spPr>
            <a:xfrm>
              <a:off x="548640" y="1847088"/>
              <a:ext cx="544068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2"/>
            <p:cNvSpPr/>
            <p:nvPr/>
          </p:nvSpPr>
          <p:spPr>
            <a:xfrm>
              <a:off x="548640" y="1463040"/>
              <a:ext cx="544068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2"/>
            <p:cNvSpPr txBox="1"/>
            <p:nvPr/>
          </p:nvSpPr>
          <p:spPr>
            <a:xfrm>
              <a:off x="1463040" y="1517904"/>
              <a:ext cx="4434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variaveis.go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8" name="Google Shape;238;p12"/>
          <p:cNvSpPr/>
          <p:nvPr/>
        </p:nvSpPr>
        <p:spPr>
          <a:xfrm>
            <a:off x="658368" y="2761488"/>
            <a:ext cx="522122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58368" y="4818888"/>
            <a:ext cx="522122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p12"/>
          <p:cNvGrpSpPr/>
          <p:nvPr/>
        </p:nvGrpSpPr>
        <p:grpSpPr>
          <a:xfrm>
            <a:off x="868680" y="2075688"/>
            <a:ext cx="5074920" cy="3086100"/>
            <a:chOff x="868680" y="2075688"/>
            <a:chExt cx="5074920" cy="3086100"/>
          </a:xfrm>
        </p:grpSpPr>
        <p:sp>
          <p:nvSpPr>
            <p:cNvPr id="241" name="Google Shape;241;p12"/>
            <p:cNvSpPr txBox="1"/>
            <p:nvPr/>
          </p:nvSpPr>
          <p:spPr>
            <a:xfrm>
              <a:off x="868680" y="20756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mensagem string =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"Olá, mundo!"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2" name="Google Shape;242;p12"/>
            <p:cNvSpPr txBox="1"/>
            <p:nvPr/>
          </p:nvSpPr>
          <p:spPr>
            <a:xfrm>
              <a:off x="868680" y="24185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linguagem =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"Go"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3" name="Google Shape;243;p12"/>
            <p:cNvSpPr txBox="1"/>
            <p:nvPr/>
          </p:nvSpPr>
          <p:spPr>
            <a:xfrm>
              <a:off x="868680" y="27614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versao := 1.22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4" name="Google Shape;244;p12"/>
            <p:cNvSpPr txBox="1"/>
            <p:nvPr/>
          </p:nvSpPr>
          <p:spPr>
            <a:xfrm>
              <a:off x="868680" y="34472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Pi = 3.14159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5" name="Google Shape;245;p12"/>
            <p:cNvSpPr txBox="1"/>
            <p:nvPr/>
          </p:nvSpPr>
          <p:spPr>
            <a:xfrm>
              <a:off x="868680" y="41330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idade := 25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6" name="Google Shape;246;p12"/>
            <p:cNvSpPr txBox="1"/>
            <p:nvPr/>
          </p:nvSpPr>
          <p:spPr>
            <a:xfrm>
              <a:off x="868680" y="44759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altura := 1.75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7" name="Google Shape;247;p12"/>
            <p:cNvSpPr txBox="1"/>
            <p:nvPr/>
          </p:nvSpPr>
          <p:spPr>
            <a:xfrm>
              <a:off x="868680" y="4818888"/>
              <a:ext cx="50749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total := float64(idade) * altura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48" name="Google Shape;248;p12"/>
          <p:cNvSpPr txBox="1"/>
          <p:nvPr/>
        </p:nvSpPr>
        <p:spPr>
          <a:xfrm>
            <a:off x="6263640" y="274320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a forma mais usada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6263640" y="480060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conversão sempre explícita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0" name="Google Shape;250;p12"/>
          <p:cNvGrpSpPr/>
          <p:nvPr/>
        </p:nvGrpSpPr>
        <p:grpSpPr>
          <a:xfrm>
            <a:off x="6263640" y="3104388"/>
            <a:ext cx="5379415" cy="1714500"/>
            <a:chOff x="6263640" y="3104388"/>
            <a:chExt cx="5379415" cy="1714500"/>
          </a:xfrm>
        </p:grpSpPr>
        <p:sp>
          <p:nvSpPr>
            <p:cNvPr id="251" name="Google Shape;251;p12"/>
            <p:cNvSpPr txBox="1"/>
            <p:nvPr/>
          </p:nvSpPr>
          <p:spPr>
            <a:xfrm>
              <a:off x="6263640" y="3104388"/>
              <a:ext cx="39163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400"/>
                <a:buFont typeface="JetBrains Mono"/>
                <a:buNone/>
              </a:pPr>
              <a:r>
                <a:rPr lang="en-US" sz="14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tipo</a:t>
              </a:r>
              <a:endPara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2" name="Google Shape;252;p12"/>
            <p:cNvSpPr txBox="1"/>
            <p:nvPr/>
          </p:nvSpPr>
          <p:spPr>
            <a:xfrm>
              <a:off x="10271455" y="3104388"/>
              <a:ext cx="1371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400"/>
                <a:buFont typeface="JetBrains Mono"/>
                <a:buNone/>
              </a:pPr>
              <a:r>
                <a:rPr lang="en-US" sz="14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zero value</a:t>
              </a:r>
              <a:endPara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3" name="Google Shape;253;p12"/>
            <p:cNvSpPr txBox="1"/>
            <p:nvPr/>
          </p:nvSpPr>
          <p:spPr>
            <a:xfrm>
              <a:off x="6263640" y="3447288"/>
              <a:ext cx="39163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700"/>
                <a:buFont typeface="DM Sans"/>
                <a:buNone/>
              </a:pPr>
              <a:r>
                <a:rPr lang="en-US" sz="17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int, float64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4" name="Google Shape;254;p12"/>
            <p:cNvSpPr txBox="1"/>
            <p:nvPr/>
          </p:nvSpPr>
          <p:spPr>
            <a:xfrm>
              <a:off x="10271455" y="3447288"/>
              <a:ext cx="1371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166"/>
                </a:buClr>
                <a:buSzPts val="1700"/>
                <a:buFont typeface="JetBrains Mono"/>
                <a:buNone/>
              </a:pPr>
              <a:r>
                <a:rPr lang="en-US" sz="17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5" name="Google Shape;255;p12"/>
            <p:cNvSpPr txBox="1"/>
            <p:nvPr/>
          </p:nvSpPr>
          <p:spPr>
            <a:xfrm>
              <a:off x="6263640" y="3790188"/>
              <a:ext cx="39163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700"/>
                <a:buFont typeface="DM Sans"/>
                <a:buNone/>
              </a:pPr>
              <a:r>
                <a:rPr lang="en-US" sz="17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string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6" name="Google Shape;256;p12"/>
            <p:cNvSpPr txBox="1"/>
            <p:nvPr/>
          </p:nvSpPr>
          <p:spPr>
            <a:xfrm>
              <a:off x="10271455" y="3790188"/>
              <a:ext cx="1371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166"/>
                </a:buClr>
                <a:buSzPts val="1700"/>
                <a:buFont typeface="JetBrains Mono"/>
                <a:buNone/>
              </a:pPr>
              <a:r>
                <a:rPr lang="en-US" sz="17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""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7" name="Google Shape;257;p12"/>
            <p:cNvSpPr txBox="1"/>
            <p:nvPr/>
          </p:nvSpPr>
          <p:spPr>
            <a:xfrm>
              <a:off x="6263640" y="4133088"/>
              <a:ext cx="39163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700"/>
                <a:buFont typeface="DM Sans"/>
                <a:buNone/>
              </a:pPr>
              <a:r>
                <a:rPr lang="en-US" sz="17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bool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8" name="Google Shape;258;p12"/>
            <p:cNvSpPr txBox="1"/>
            <p:nvPr/>
          </p:nvSpPr>
          <p:spPr>
            <a:xfrm>
              <a:off x="10271455" y="4133088"/>
              <a:ext cx="1371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166"/>
                </a:buClr>
                <a:buSzPts val="1700"/>
                <a:buFont typeface="JetBrains Mono"/>
                <a:buNone/>
              </a:pPr>
              <a:r>
                <a:rPr lang="en-US" sz="17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false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9" name="Google Shape;259;p12"/>
            <p:cNvSpPr txBox="1"/>
            <p:nvPr/>
          </p:nvSpPr>
          <p:spPr>
            <a:xfrm>
              <a:off x="6263640" y="4475988"/>
              <a:ext cx="39163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9B8CC"/>
                </a:buClr>
                <a:buSzPts val="1700"/>
                <a:buFont typeface="DM Sans"/>
                <a:buNone/>
              </a:pPr>
              <a:r>
                <a:rPr lang="en-US" sz="1700" b="0" i="0" u="none" strike="noStrike" cap="none">
                  <a:solidFill>
                    <a:srgbClr val="A9B8CC"/>
                  </a:solidFill>
                  <a:latin typeface="DM Sans"/>
                  <a:ea typeface="DM Sans"/>
                  <a:cs typeface="DM Sans"/>
                  <a:sym typeface="DM Sans"/>
                </a:rPr>
                <a:t>ponteiro, slice, map, chan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60" name="Google Shape;260;p12"/>
            <p:cNvSpPr txBox="1"/>
            <p:nvPr/>
          </p:nvSpPr>
          <p:spPr>
            <a:xfrm>
              <a:off x="10271455" y="4475988"/>
              <a:ext cx="1371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166"/>
                </a:buClr>
                <a:buSzPts val="1700"/>
                <a:buFont typeface="JetBrains Mono"/>
                <a:buNone/>
              </a:pPr>
              <a:r>
                <a:rPr lang="en-US" sz="17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nil</a:t>
              </a:r>
              <a:endParaRPr sz="17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261" name="Google Shape;261;p12"/>
            <p:cNvCxnSpPr/>
            <p:nvPr/>
          </p:nvCxnSpPr>
          <p:spPr>
            <a:xfrm>
              <a:off x="6263640" y="3447288"/>
              <a:ext cx="5379415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2" name="Google Shape;262;p12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12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if e switch</a:t>
            </a:r>
            <a:endParaRPr sz="3400"/>
          </a:p>
        </p:txBody>
      </p:sp>
      <p:grpSp>
        <p:nvGrpSpPr>
          <p:cNvPr id="268" name="Google Shape;268;p13"/>
          <p:cNvGrpSpPr/>
          <p:nvPr/>
        </p:nvGrpSpPr>
        <p:grpSpPr>
          <a:xfrm>
            <a:off x="548640" y="1463040"/>
            <a:ext cx="5303520" cy="3927348"/>
            <a:chOff x="548640" y="1463040"/>
            <a:chExt cx="5303520" cy="3927348"/>
          </a:xfrm>
        </p:grpSpPr>
        <p:sp>
          <p:nvSpPr>
            <p:cNvPr id="269" name="Google Shape;269;p13"/>
            <p:cNvSpPr/>
            <p:nvPr/>
          </p:nvSpPr>
          <p:spPr>
            <a:xfrm>
              <a:off x="548640" y="1463040"/>
              <a:ext cx="530352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548640" y="1463040"/>
              <a:ext cx="530352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548640" y="1700784"/>
              <a:ext cx="530352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" name="Google Shape;272;p13"/>
            <p:cNvCxnSpPr/>
            <p:nvPr/>
          </p:nvCxnSpPr>
          <p:spPr>
            <a:xfrm>
              <a:off x="548640" y="1847088"/>
              <a:ext cx="530352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3" name="Google Shape;273;p13"/>
            <p:cNvSpPr/>
            <p:nvPr/>
          </p:nvSpPr>
          <p:spPr>
            <a:xfrm>
              <a:off x="548640" y="1463040"/>
              <a:ext cx="530352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3"/>
            <p:cNvSpPr txBox="1"/>
            <p:nvPr/>
          </p:nvSpPr>
          <p:spPr>
            <a:xfrm>
              <a:off x="1463040" y="1517904"/>
              <a:ext cx="4297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78" name="Google Shape;278;p13"/>
          <p:cNvSpPr/>
          <p:nvPr/>
        </p:nvSpPr>
        <p:spPr>
          <a:xfrm>
            <a:off x="658368" y="4133088"/>
            <a:ext cx="508406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3"/>
          <p:cNvGrpSpPr/>
          <p:nvPr/>
        </p:nvGrpSpPr>
        <p:grpSpPr>
          <a:xfrm>
            <a:off x="868680" y="2075688"/>
            <a:ext cx="4937760" cy="3086100"/>
            <a:chOff x="868680" y="2075688"/>
            <a:chExt cx="4937760" cy="3086100"/>
          </a:xfrm>
        </p:grpSpPr>
        <p:sp>
          <p:nvSpPr>
            <p:cNvPr id="280" name="Google Shape;280;p13"/>
            <p:cNvSpPr txBox="1"/>
            <p:nvPr/>
          </p:nvSpPr>
          <p:spPr>
            <a:xfrm>
              <a:off x="868680" y="20756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numero%2 == 0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1" name="Google Shape;281;p13"/>
            <p:cNvSpPr txBox="1"/>
            <p:nvPr/>
          </p:nvSpPr>
          <p:spPr>
            <a:xfrm>
              <a:off x="868680" y="24185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"par"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2" name="Google Shape;282;p13"/>
            <p:cNvSpPr txBox="1"/>
            <p:nvPr/>
          </p:nvSpPr>
          <p:spPr>
            <a:xfrm>
              <a:off x="868680" y="27614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else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3" name="Google Shape;283;p13"/>
            <p:cNvSpPr txBox="1"/>
            <p:nvPr/>
          </p:nvSpPr>
          <p:spPr>
            <a:xfrm>
              <a:off x="868680" y="31043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"ímpar"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4" name="Google Shape;284;p13"/>
            <p:cNvSpPr txBox="1"/>
            <p:nvPr/>
          </p:nvSpPr>
          <p:spPr>
            <a:xfrm>
              <a:off x="868680" y="34472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5" name="Google Shape;285;p13"/>
            <p:cNvSpPr txBox="1"/>
            <p:nvPr/>
          </p:nvSpPr>
          <p:spPr>
            <a:xfrm>
              <a:off x="868680" y="41330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resto := n % 3; resto == 0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6" name="Google Shape;286;p13"/>
            <p:cNvSpPr txBox="1"/>
            <p:nvPr/>
          </p:nvSpPr>
          <p:spPr>
            <a:xfrm>
              <a:off x="868680" y="44759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"divisível por 3"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7" name="Google Shape;287;p13"/>
            <p:cNvSpPr txBox="1"/>
            <p:nvPr/>
          </p:nvSpPr>
          <p:spPr>
            <a:xfrm>
              <a:off x="868680" y="4818888"/>
              <a:ext cx="49377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8" name="Google Shape;288;p13"/>
          <p:cNvGrpSpPr/>
          <p:nvPr/>
        </p:nvGrpSpPr>
        <p:grpSpPr>
          <a:xfrm>
            <a:off x="6400800" y="1463040"/>
            <a:ext cx="5212080" cy="2898648"/>
            <a:chOff x="6400800" y="1463040"/>
            <a:chExt cx="5212080" cy="2898648"/>
          </a:xfrm>
        </p:grpSpPr>
        <p:sp>
          <p:nvSpPr>
            <p:cNvPr id="289" name="Google Shape;289;p13"/>
            <p:cNvSpPr/>
            <p:nvPr/>
          </p:nvSpPr>
          <p:spPr>
            <a:xfrm>
              <a:off x="6400800" y="1463040"/>
              <a:ext cx="5212080" cy="2898648"/>
            </a:xfrm>
            <a:prstGeom prst="roundRect">
              <a:avLst>
                <a:gd name="adj" fmla="val 441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6400800" y="1463040"/>
              <a:ext cx="52120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6400800" y="1700784"/>
              <a:ext cx="521208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2" name="Google Shape;292;p13"/>
            <p:cNvCxnSpPr/>
            <p:nvPr/>
          </p:nvCxnSpPr>
          <p:spPr>
            <a:xfrm>
              <a:off x="6400800" y="1847088"/>
              <a:ext cx="521208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3" name="Google Shape;293;p13"/>
            <p:cNvSpPr/>
            <p:nvPr/>
          </p:nvSpPr>
          <p:spPr>
            <a:xfrm>
              <a:off x="6400800" y="1463040"/>
              <a:ext cx="5212080" cy="2898648"/>
            </a:xfrm>
            <a:prstGeom prst="roundRect">
              <a:avLst>
                <a:gd name="adj" fmla="val 441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660196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680313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700430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 txBox="1"/>
            <p:nvPr/>
          </p:nvSpPr>
          <p:spPr>
            <a:xfrm>
              <a:off x="7315200" y="1517904"/>
              <a:ext cx="4206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switch.go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98" name="Google Shape;298;p13"/>
          <p:cNvGrpSpPr/>
          <p:nvPr/>
        </p:nvGrpSpPr>
        <p:grpSpPr>
          <a:xfrm>
            <a:off x="6720840" y="2075688"/>
            <a:ext cx="4846320" cy="2057400"/>
            <a:chOff x="6720840" y="2075688"/>
            <a:chExt cx="4846320" cy="2057400"/>
          </a:xfrm>
        </p:grpSpPr>
        <p:sp>
          <p:nvSpPr>
            <p:cNvPr id="299" name="Google Shape;299;p13"/>
            <p:cNvSpPr txBox="1"/>
            <p:nvPr/>
          </p:nvSpPr>
          <p:spPr>
            <a:xfrm>
              <a:off x="6720840" y="2075688"/>
              <a:ext cx="48463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switch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dia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0" name="Google Shape;300;p13"/>
            <p:cNvSpPr txBox="1"/>
            <p:nvPr/>
          </p:nvSpPr>
          <p:spPr>
            <a:xfrm>
              <a:off x="6720840" y="2418588"/>
              <a:ext cx="48463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case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"sábado"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"domingo"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: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1" name="Google Shape;301;p13"/>
            <p:cNvSpPr txBox="1"/>
            <p:nvPr/>
          </p:nvSpPr>
          <p:spPr>
            <a:xfrm>
              <a:off x="6720840" y="2761488"/>
              <a:ext cx="48463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"fim de semana"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2" name="Google Shape;302;p13"/>
            <p:cNvSpPr txBox="1"/>
            <p:nvPr/>
          </p:nvSpPr>
          <p:spPr>
            <a:xfrm>
              <a:off x="6720840" y="3104388"/>
              <a:ext cx="48463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default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: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3" name="Google Shape;303;p13"/>
            <p:cNvSpPr txBox="1"/>
            <p:nvPr/>
          </p:nvSpPr>
          <p:spPr>
            <a:xfrm>
              <a:off x="6720840" y="3447288"/>
              <a:ext cx="48463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"dia útil"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4" name="Google Shape;304;p13"/>
            <p:cNvSpPr txBox="1"/>
            <p:nvPr/>
          </p:nvSpPr>
          <p:spPr>
            <a:xfrm>
              <a:off x="6720840" y="3790188"/>
              <a:ext cx="48463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05" name="Google Shape;305;p13"/>
          <p:cNvSpPr txBox="1"/>
          <p:nvPr/>
        </p:nvSpPr>
        <p:spPr>
          <a:xfrm>
            <a:off x="6400800" y="4572000"/>
            <a:ext cx="5212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sem parênteses · chaves obrigatórias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case não precisa de break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13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13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for, o único laço</a:t>
            </a:r>
            <a:endParaRPr sz="3400"/>
          </a:p>
        </p:txBody>
      </p:sp>
      <p:grpSp>
        <p:nvGrpSpPr>
          <p:cNvPr id="312" name="Google Shape;312;p14"/>
          <p:cNvGrpSpPr/>
          <p:nvPr/>
        </p:nvGrpSpPr>
        <p:grpSpPr>
          <a:xfrm>
            <a:off x="548640" y="1463040"/>
            <a:ext cx="5394960" cy="1869948"/>
            <a:chOff x="548640" y="1463040"/>
            <a:chExt cx="5394960" cy="1869948"/>
          </a:xfrm>
        </p:grpSpPr>
        <p:sp>
          <p:nvSpPr>
            <p:cNvPr id="313" name="Google Shape;313;p14"/>
            <p:cNvSpPr/>
            <p:nvPr/>
          </p:nvSpPr>
          <p:spPr>
            <a:xfrm>
              <a:off x="548640" y="146304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548640" y="1463040"/>
              <a:ext cx="53949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548640" y="1700784"/>
              <a:ext cx="53949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14"/>
            <p:cNvCxnSpPr/>
            <p:nvPr/>
          </p:nvCxnSpPr>
          <p:spPr>
            <a:xfrm>
              <a:off x="548640" y="1847088"/>
              <a:ext cx="53949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7" name="Google Shape;317;p14"/>
            <p:cNvSpPr/>
            <p:nvPr/>
          </p:nvSpPr>
          <p:spPr>
            <a:xfrm>
              <a:off x="548640" y="146304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4"/>
            <p:cNvSpPr txBox="1"/>
            <p:nvPr/>
          </p:nvSpPr>
          <p:spPr>
            <a:xfrm>
              <a:off x="1463040" y="1517904"/>
              <a:ext cx="4389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clássico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2" name="Google Shape;322;p14"/>
          <p:cNvGrpSpPr/>
          <p:nvPr/>
        </p:nvGrpSpPr>
        <p:grpSpPr>
          <a:xfrm>
            <a:off x="868680" y="2075688"/>
            <a:ext cx="5029200" cy="1028700"/>
            <a:chOff x="868680" y="2075688"/>
            <a:chExt cx="5029200" cy="1028700"/>
          </a:xfrm>
        </p:grpSpPr>
        <p:sp>
          <p:nvSpPr>
            <p:cNvPr id="323" name="Google Shape;323;p14"/>
            <p:cNvSpPr txBox="1"/>
            <p:nvPr/>
          </p:nvSpPr>
          <p:spPr>
            <a:xfrm>
              <a:off x="868680" y="207568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 := 1; i &lt;= 3; i++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4" name="Google Shape;324;p14"/>
            <p:cNvSpPr txBox="1"/>
            <p:nvPr/>
          </p:nvSpPr>
          <p:spPr>
            <a:xfrm>
              <a:off x="868680" y="241858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fmt.Println(i)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5" name="Google Shape;325;p14"/>
            <p:cNvSpPr txBox="1"/>
            <p:nvPr/>
          </p:nvSpPr>
          <p:spPr>
            <a:xfrm>
              <a:off x="868680" y="276148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6" name="Google Shape;326;p14"/>
          <p:cNvGrpSpPr/>
          <p:nvPr/>
        </p:nvGrpSpPr>
        <p:grpSpPr>
          <a:xfrm>
            <a:off x="6217920" y="1463040"/>
            <a:ext cx="5394960" cy="1869948"/>
            <a:chOff x="6217920" y="1463040"/>
            <a:chExt cx="5394960" cy="1869948"/>
          </a:xfrm>
        </p:grpSpPr>
        <p:sp>
          <p:nvSpPr>
            <p:cNvPr id="327" name="Google Shape;327;p14"/>
            <p:cNvSpPr/>
            <p:nvPr/>
          </p:nvSpPr>
          <p:spPr>
            <a:xfrm>
              <a:off x="6217920" y="146304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217920" y="1463040"/>
              <a:ext cx="53949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217920" y="1700784"/>
              <a:ext cx="53949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14"/>
            <p:cNvCxnSpPr/>
            <p:nvPr/>
          </p:nvCxnSpPr>
          <p:spPr>
            <a:xfrm>
              <a:off x="6217920" y="1847088"/>
              <a:ext cx="53949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14"/>
            <p:cNvSpPr/>
            <p:nvPr/>
          </p:nvSpPr>
          <p:spPr>
            <a:xfrm>
              <a:off x="6217920" y="146304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41908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62025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82142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4"/>
            <p:cNvSpPr txBox="1"/>
            <p:nvPr/>
          </p:nvSpPr>
          <p:spPr>
            <a:xfrm>
              <a:off x="7132320" y="1517904"/>
              <a:ext cx="4389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como while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6" name="Google Shape;336;p14"/>
          <p:cNvGrpSpPr/>
          <p:nvPr/>
        </p:nvGrpSpPr>
        <p:grpSpPr>
          <a:xfrm>
            <a:off x="6537960" y="2075688"/>
            <a:ext cx="5029200" cy="1028700"/>
            <a:chOff x="6537960" y="2075688"/>
            <a:chExt cx="5029200" cy="1028700"/>
          </a:xfrm>
        </p:grpSpPr>
        <p:sp>
          <p:nvSpPr>
            <p:cNvPr id="337" name="Google Shape;337;p14"/>
            <p:cNvSpPr txBox="1"/>
            <p:nvPr/>
          </p:nvSpPr>
          <p:spPr>
            <a:xfrm>
              <a:off x="6537960" y="207568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contador &gt; 0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6537960" y="241858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contador--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6537960" y="276148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40" name="Google Shape;340;p14"/>
          <p:cNvGrpSpPr/>
          <p:nvPr/>
        </p:nvGrpSpPr>
        <p:grpSpPr>
          <a:xfrm>
            <a:off x="548640" y="3794760"/>
            <a:ext cx="5394960" cy="1869948"/>
            <a:chOff x="548640" y="3794760"/>
            <a:chExt cx="5394960" cy="1869948"/>
          </a:xfrm>
        </p:grpSpPr>
        <p:sp>
          <p:nvSpPr>
            <p:cNvPr id="341" name="Google Shape;341;p14"/>
            <p:cNvSpPr/>
            <p:nvPr/>
          </p:nvSpPr>
          <p:spPr>
            <a:xfrm>
              <a:off x="548640" y="379476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548640" y="3794760"/>
              <a:ext cx="53949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548640" y="4032504"/>
              <a:ext cx="53949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4" name="Google Shape;344;p14"/>
            <p:cNvCxnSpPr/>
            <p:nvPr/>
          </p:nvCxnSpPr>
          <p:spPr>
            <a:xfrm>
              <a:off x="548640" y="4178808"/>
              <a:ext cx="53949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14"/>
            <p:cNvSpPr/>
            <p:nvPr/>
          </p:nvSpPr>
          <p:spPr>
            <a:xfrm>
              <a:off x="548640" y="379476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749808" y="392277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950976" y="392277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1152144" y="392277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4"/>
            <p:cNvSpPr txBox="1"/>
            <p:nvPr/>
          </p:nvSpPr>
          <p:spPr>
            <a:xfrm>
              <a:off x="1463040" y="3849624"/>
              <a:ext cx="4389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infinito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50" name="Google Shape;350;p14"/>
          <p:cNvGrpSpPr/>
          <p:nvPr/>
        </p:nvGrpSpPr>
        <p:grpSpPr>
          <a:xfrm>
            <a:off x="868680" y="4407408"/>
            <a:ext cx="5029200" cy="1028700"/>
            <a:chOff x="868680" y="4407408"/>
            <a:chExt cx="5029200" cy="1028700"/>
          </a:xfrm>
        </p:grpSpPr>
        <p:sp>
          <p:nvSpPr>
            <p:cNvPr id="351" name="Google Shape;351;p14"/>
            <p:cNvSpPr txBox="1"/>
            <p:nvPr/>
          </p:nvSpPr>
          <p:spPr>
            <a:xfrm>
              <a:off x="868680" y="440740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2" name="Google Shape;352;p14"/>
            <p:cNvSpPr txBox="1"/>
            <p:nvPr/>
          </p:nvSpPr>
          <p:spPr>
            <a:xfrm>
              <a:off x="868680" y="475030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até um break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3" name="Google Shape;353;p14"/>
            <p:cNvSpPr txBox="1"/>
            <p:nvPr/>
          </p:nvSpPr>
          <p:spPr>
            <a:xfrm>
              <a:off x="868680" y="509320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54" name="Google Shape;354;p14"/>
          <p:cNvGrpSpPr/>
          <p:nvPr/>
        </p:nvGrpSpPr>
        <p:grpSpPr>
          <a:xfrm>
            <a:off x="6217920" y="3794760"/>
            <a:ext cx="5394960" cy="1869948"/>
            <a:chOff x="6217920" y="3794760"/>
            <a:chExt cx="5394960" cy="1869948"/>
          </a:xfrm>
        </p:grpSpPr>
        <p:sp>
          <p:nvSpPr>
            <p:cNvPr id="355" name="Google Shape;355;p14"/>
            <p:cNvSpPr/>
            <p:nvPr/>
          </p:nvSpPr>
          <p:spPr>
            <a:xfrm>
              <a:off x="6217920" y="379476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217920" y="3794760"/>
              <a:ext cx="53949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17920" y="4032504"/>
              <a:ext cx="53949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8" name="Google Shape;358;p14"/>
            <p:cNvCxnSpPr/>
            <p:nvPr/>
          </p:nvCxnSpPr>
          <p:spPr>
            <a:xfrm>
              <a:off x="6217920" y="4178808"/>
              <a:ext cx="53949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9" name="Google Shape;359;p14"/>
            <p:cNvSpPr/>
            <p:nvPr/>
          </p:nvSpPr>
          <p:spPr>
            <a:xfrm>
              <a:off x="6217920" y="3794760"/>
              <a:ext cx="539496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419088" y="392277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6620256" y="392277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6821424" y="392277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4"/>
            <p:cNvSpPr txBox="1"/>
            <p:nvPr/>
          </p:nvSpPr>
          <p:spPr>
            <a:xfrm>
              <a:off x="7132320" y="3849624"/>
              <a:ext cx="4389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range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4" name="Google Shape;364;p14"/>
          <p:cNvGrpSpPr/>
          <p:nvPr/>
        </p:nvGrpSpPr>
        <p:grpSpPr>
          <a:xfrm>
            <a:off x="6537960" y="4407408"/>
            <a:ext cx="5029200" cy="1028700"/>
            <a:chOff x="6537960" y="4407408"/>
            <a:chExt cx="5029200" cy="1028700"/>
          </a:xfrm>
        </p:grpSpPr>
        <p:sp>
          <p:nvSpPr>
            <p:cNvPr id="365" name="Google Shape;365;p14"/>
            <p:cNvSpPr txBox="1"/>
            <p:nvPr/>
          </p:nvSpPr>
          <p:spPr>
            <a:xfrm>
              <a:off x="6537960" y="440740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i, fruta :=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range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frutas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6" name="Google Shape;366;p14"/>
            <p:cNvSpPr txBox="1"/>
            <p:nvPr/>
          </p:nvSpPr>
          <p:spPr>
            <a:xfrm>
              <a:off x="6537960" y="475030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fmt.Println(i, fruta)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67" name="Google Shape;367;p14"/>
            <p:cNvSpPr txBox="1"/>
            <p:nvPr/>
          </p:nvSpPr>
          <p:spPr>
            <a:xfrm>
              <a:off x="6537960" y="5093208"/>
              <a:ext cx="502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68" name="Google Shape;368;p14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14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Funções</a:t>
            </a:r>
            <a:endParaRPr sz="3400"/>
          </a:p>
        </p:txBody>
      </p:sp>
      <p:grpSp>
        <p:nvGrpSpPr>
          <p:cNvPr id="374" name="Google Shape;374;p15"/>
          <p:cNvGrpSpPr/>
          <p:nvPr/>
        </p:nvGrpSpPr>
        <p:grpSpPr>
          <a:xfrm>
            <a:off x="548640" y="1325880"/>
            <a:ext cx="7223760" cy="4956048"/>
            <a:chOff x="548640" y="1325880"/>
            <a:chExt cx="7223760" cy="4956048"/>
          </a:xfrm>
        </p:grpSpPr>
        <p:sp>
          <p:nvSpPr>
            <p:cNvPr id="375" name="Google Shape;375;p15"/>
            <p:cNvSpPr/>
            <p:nvPr/>
          </p:nvSpPr>
          <p:spPr>
            <a:xfrm>
              <a:off x="548640" y="1325880"/>
              <a:ext cx="7223760" cy="4956048"/>
            </a:xfrm>
            <a:prstGeom prst="roundRect">
              <a:avLst>
                <a:gd name="adj" fmla="val 2583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548640" y="1325880"/>
              <a:ext cx="72237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548640" y="1563624"/>
              <a:ext cx="72237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8" name="Google Shape;378;p15"/>
            <p:cNvCxnSpPr/>
            <p:nvPr/>
          </p:nvCxnSpPr>
          <p:spPr>
            <a:xfrm>
              <a:off x="548640" y="1709928"/>
              <a:ext cx="72237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9" name="Google Shape;379;p15"/>
            <p:cNvSpPr/>
            <p:nvPr/>
          </p:nvSpPr>
          <p:spPr>
            <a:xfrm>
              <a:off x="548640" y="1325880"/>
              <a:ext cx="7223760" cy="4956048"/>
            </a:xfrm>
            <a:prstGeom prst="roundRect">
              <a:avLst>
                <a:gd name="adj" fmla="val 2583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749808" y="1453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950976" y="1453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1152144" y="1453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5"/>
            <p:cNvSpPr txBox="1"/>
            <p:nvPr/>
          </p:nvSpPr>
          <p:spPr>
            <a:xfrm>
              <a:off x="1463040" y="1380744"/>
              <a:ext cx="6217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funcoes.go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658368" y="1938528"/>
            <a:ext cx="70043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658368" y="4681728"/>
            <a:ext cx="70043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15"/>
          <p:cNvGrpSpPr/>
          <p:nvPr/>
        </p:nvGrpSpPr>
        <p:grpSpPr>
          <a:xfrm>
            <a:off x="868680" y="1938528"/>
            <a:ext cx="6858000" cy="4114800"/>
            <a:chOff x="868680" y="1938528"/>
            <a:chExt cx="6858000" cy="4114800"/>
          </a:xfrm>
        </p:grpSpPr>
        <p:sp>
          <p:nvSpPr>
            <p:cNvPr id="387" name="Google Shape;387;p15"/>
            <p:cNvSpPr txBox="1"/>
            <p:nvPr/>
          </p:nvSpPr>
          <p:spPr>
            <a:xfrm>
              <a:off x="868680" y="19385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dividir(a, b float64) (float64, error)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8" name="Google Shape;388;p15"/>
            <p:cNvSpPr txBox="1"/>
            <p:nvPr/>
          </p:nvSpPr>
          <p:spPr>
            <a:xfrm>
              <a:off x="868680" y="22814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b == 0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9" name="Google Shape;389;p15"/>
            <p:cNvSpPr txBox="1"/>
            <p:nvPr/>
          </p:nvSpPr>
          <p:spPr>
            <a:xfrm>
              <a:off x="868680" y="26243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0, errors.New(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"divisão por zero"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0" name="Google Shape;390;p15"/>
            <p:cNvSpPr txBox="1"/>
            <p:nvPr/>
          </p:nvSpPr>
          <p:spPr>
            <a:xfrm>
              <a:off x="868680" y="29672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1" name="Google Shape;391;p15"/>
            <p:cNvSpPr txBox="1"/>
            <p:nvPr/>
          </p:nvSpPr>
          <p:spPr>
            <a:xfrm>
              <a:off x="868680" y="33101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 / b,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nil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2" name="Google Shape;392;p15"/>
            <p:cNvSpPr txBox="1"/>
            <p:nvPr/>
          </p:nvSpPr>
          <p:spPr>
            <a:xfrm>
              <a:off x="868680" y="36530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3" name="Google Shape;393;p15"/>
            <p:cNvSpPr txBox="1"/>
            <p:nvPr/>
          </p:nvSpPr>
          <p:spPr>
            <a:xfrm>
              <a:off x="868680" y="43388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resultado, err := dividir(10, 4)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4" name="Google Shape;394;p15"/>
            <p:cNvSpPr txBox="1"/>
            <p:nvPr/>
          </p:nvSpPr>
          <p:spPr>
            <a:xfrm>
              <a:off x="868680" y="46817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err !=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nil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5" name="Google Shape;395;p15"/>
            <p:cNvSpPr txBox="1"/>
            <p:nvPr/>
          </p:nvSpPr>
          <p:spPr>
            <a:xfrm>
              <a:off x="868680" y="50246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"erro:"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err)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6" name="Google Shape;396;p15"/>
            <p:cNvSpPr txBox="1"/>
            <p:nvPr/>
          </p:nvSpPr>
          <p:spPr>
            <a:xfrm>
              <a:off x="868680" y="53675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7" name="Google Shape;397;p15"/>
            <p:cNvSpPr txBox="1"/>
            <p:nvPr/>
          </p:nvSpPr>
          <p:spPr>
            <a:xfrm>
              <a:off x="868680" y="5710428"/>
              <a:ext cx="685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98" name="Google Shape;398;p15"/>
          <p:cNvSpPr txBox="1"/>
          <p:nvPr/>
        </p:nvSpPr>
        <p:spPr>
          <a:xfrm>
            <a:off x="8046720" y="1920240"/>
            <a:ext cx="3596335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dois retornos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8046720" y="4663440"/>
            <a:ext cx="3596335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no lugar de try/catch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0" name="Google Shape;400;p15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15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 txBox="1">
            <a:spLocks noGrp="1"/>
          </p:cNvSpPr>
          <p:nvPr>
            <p:ph type="body" idx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85C"/>
              </a:buClr>
              <a:buSzPts val="24000"/>
              <a:buNone/>
            </a:pPr>
            <a:r>
              <a:rPr lang="en-US" sz="24000" b="1">
                <a:solidFill>
                  <a:srgbClr val="17485C"/>
                </a:solidFill>
                <a:latin typeface="Sora"/>
                <a:ea typeface="Sora"/>
                <a:cs typeface="Sora"/>
                <a:sym typeface="Sora"/>
              </a:rPr>
              <a:t>04</a:t>
            </a:r>
            <a:endParaRPr sz="24000"/>
          </a:p>
        </p:txBody>
      </p:sp>
      <p:sp>
        <p:nvSpPr>
          <p:cNvPr id="406" name="Google Shape;406;p16"/>
          <p:cNvSpPr txBox="1">
            <a:spLocks noGrp="1"/>
          </p:cNvSpPr>
          <p:nvPr>
            <p:ph type="title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Tipos e dados</a:t>
            </a:r>
            <a:endParaRPr sz="5400"/>
          </a:p>
        </p:txBody>
      </p:sp>
      <p:sp>
        <p:nvSpPr>
          <p:cNvPr id="407" name="Google Shape;407;p16"/>
          <p:cNvSpPr txBox="1">
            <a:spLocks noGrp="1"/>
          </p:cNvSpPr>
          <p:nvPr>
            <p:ph type="body" idx="2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600"/>
              <a:buNone/>
            </a:pPr>
            <a:r>
              <a:rPr lang="en-US" sz="2600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Slices, maps, ponteiros, structs e interfaces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Arrays, slices e maps</a:t>
            </a:r>
            <a:endParaRPr sz="3400"/>
          </a:p>
        </p:txBody>
      </p:sp>
      <p:sp>
        <p:nvSpPr>
          <p:cNvPr id="413" name="Google Shape;413;p17"/>
          <p:cNvSpPr txBox="1"/>
          <p:nvPr/>
        </p:nvSpPr>
        <p:spPr>
          <a:xfrm>
            <a:off x="548640" y="14630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Array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548640" y="1920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tamanho fixo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5" name="Google Shape;415;p17"/>
          <p:cNvGrpSpPr/>
          <p:nvPr/>
        </p:nvGrpSpPr>
        <p:grpSpPr>
          <a:xfrm>
            <a:off x="548640" y="2468880"/>
            <a:ext cx="3520440" cy="1869948"/>
            <a:chOff x="548640" y="2468880"/>
            <a:chExt cx="3520440" cy="1869948"/>
          </a:xfrm>
        </p:grpSpPr>
        <p:sp>
          <p:nvSpPr>
            <p:cNvPr id="416" name="Google Shape;416;p17"/>
            <p:cNvSpPr/>
            <p:nvPr/>
          </p:nvSpPr>
          <p:spPr>
            <a:xfrm>
              <a:off x="548640" y="2468880"/>
              <a:ext cx="352044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548640" y="2468880"/>
              <a:ext cx="35204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548640" y="2706624"/>
              <a:ext cx="35204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9" name="Google Shape;419;p17"/>
            <p:cNvCxnSpPr/>
            <p:nvPr/>
          </p:nvCxnSpPr>
          <p:spPr>
            <a:xfrm>
              <a:off x="548640" y="2852928"/>
              <a:ext cx="35204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0" name="Google Shape;420;p17"/>
            <p:cNvSpPr/>
            <p:nvPr/>
          </p:nvSpPr>
          <p:spPr>
            <a:xfrm>
              <a:off x="548640" y="2468880"/>
              <a:ext cx="352044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749808" y="2596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950976" y="2596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1152144" y="2596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7"/>
            <p:cNvSpPr txBox="1"/>
            <p:nvPr/>
          </p:nvSpPr>
          <p:spPr>
            <a:xfrm>
              <a:off x="1463040" y="2523744"/>
              <a:ext cx="2514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array.go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25" name="Google Shape;425;p17"/>
          <p:cNvGrpSpPr/>
          <p:nvPr/>
        </p:nvGrpSpPr>
        <p:grpSpPr>
          <a:xfrm>
            <a:off x="868680" y="3081528"/>
            <a:ext cx="3154680" cy="1028700"/>
            <a:chOff x="868680" y="3081528"/>
            <a:chExt cx="3154680" cy="1028700"/>
          </a:xfrm>
        </p:grpSpPr>
        <p:sp>
          <p:nvSpPr>
            <p:cNvPr id="426" name="Google Shape;426;p17"/>
            <p:cNvSpPr txBox="1"/>
            <p:nvPr/>
          </p:nvSpPr>
          <p:spPr>
            <a:xfrm>
              <a:off x="868680" y="30815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 := [3]int{7, 8, 10}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7" name="Google Shape;427;p17"/>
            <p:cNvSpPr txBox="1"/>
            <p:nvPr/>
          </p:nvSpPr>
          <p:spPr>
            <a:xfrm>
              <a:off x="868680" y="34244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len(n) </a:t>
              </a:r>
              <a:r>
                <a:rPr lang="en-US" sz="18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3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8" name="Google Shape;428;p17"/>
            <p:cNvSpPr txBox="1"/>
            <p:nvPr/>
          </p:nvSpPr>
          <p:spPr>
            <a:xfrm>
              <a:off x="868680" y="37673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n[0] </a:t>
              </a:r>
              <a:r>
                <a:rPr lang="en-US" sz="18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7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29" name="Google Shape;429;p17"/>
          <p:cNvSpPr txBox="1"/>
          <p:nvPr/>
        </p:nvSpPr>
        <p:spPr>
          <a:xfrm>
            <a:off x="4334256" y="14630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Slice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4334256" y="1920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cresce com append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31" name="Google Shape;431;p17"/>
          <p:cNvGrpSpPr/>
          <p:nvPr/>
        </p:nvGrpSpPr>
        <p:grpSpPr>
          <a:xfrm>
            <a:off x="4334256" y="2468880"/>
            <a:ext cx="3520440" cy="1869948"/>
            <a:chOff x="4334256" y="2468880"/>
            <a:chExt cx="3520440" cy="1869948"/>
          </a:xfrm>
        </p:grpSpPr>
        <p:sp>
          <p:nvSpPr>
            <p:cNvPr id="432" name="Google Shape;432;p17"/>
            <p:cNvSpPr/>
            <p:nvPr/>
          </p:nvSpPr>
          <p:spPr>
            <a:xfrm>
              <a:off x="4334256" y="2468880"/>
              <a:ext cx="352044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4334256" y="2468880"/>
              <a:ext cx="35204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4334256" y="2706624"/>
              <a:ext cx="35204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5" name="Google Shape;435;p17"/>
            <p:cNvCxnSpPr/>
            <p:nvPr/>
          </p:nvCxnSpPr>
          <p:spPr>
            <a:xfrm>
              <a:off x="4334256" y="2852928"/>
              <a:ext cx="35204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36" name="Google Shape;436;p17"/>
            <p:cNvSpPr/>
            <p:nvPr/>
          </p:nvSpPr>
          <p:spPr>
            <a:xfrm>
              <a:off x="4334256" y="2468880"/>
              <a:ext cx="352044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4535424" y="2596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4736592" y="2596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4937760" y="2596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7"/>
            <p:cNvSpPr txBox="1"/>
            <p:nvPr/>
          </p:nvSpPr>
          <p:spPr>
            <a:xfrm>
              <a:off x="5248656" y="2523744"/>
              <a:ext cx="2514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slice.go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41" name="Google Shape;441;p17"/>
          <p:cNvGrpSpPr/>
          <p:nvPr/>
        </p:nvGrpSpPr>
        <p:grpSpPr>
          <a:xfrm>
            <a:off x="4654296" y="3081528"/>
            <a:ext cx="3154680" cy="1028700"/>
            <a:chOff x="4654296" y="3081528"/>
            <a:chExt cx="3154680" cy="1028700"/>
          </a:xfrm>
        </p:grpSpPr>
        <p:sp>
          <p:nvSpPr>
            <p:cNvPr id="442" name="Google Shape;442;p17"/>
            <p:cNvSpPr txBox="1"/>
            <p:nvPr/>
          </p:nvSpPr>
          <p:spPr>
            <a:xfrm>
              <a:off x="4654296" y="30815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 := []string{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"maçã"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3" name="Google Shape;443;p17"/>
            <p:cNvSpPr txBox="1"/>
            <p:nvPr/>
          </p:nvSpPr>
          <p:spPr>
            <a:xfrm>
              <a:off x="4654296" y="34244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 = append(f,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"uva"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4" name="Google Shape;444;p17"/>
            <p:cNvSpPr txBox="1"/>
            <p:nvPr/>
          </p:nvSpPr>
          <p:spPr>
            <a:xfrm>
              <a:off x="4654296" y="37673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f[0:1] </a:t>
              </a:r>
              <a:r>
                <a:rPr lang="en-US" sz="18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[maçã]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45" name="Google Shape;445;p17"/>
          <p:cNvSpPr txBox="1"/>
          <p:nvPr/>
        </p:nvSpPr>
        <p:spPr>
          <a:xfrm>
            <a:off x="8119872" y="14630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600"/>
              <a:buFont typeface="Sora"/>
              <a:buNone/>
            </a:pPr>
            <a:r>
              <a:rPr lang="en-US" sz="26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Map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8119872" y="1920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chave → valor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47" name="Google Shape;447;p17"/>
          <p:cNvGrpSpPr/>
          <p:nvPr/>
        </p:nvGrpSpPr>
        <p:grpSpPr>
          <a:xfrm>
            <a:off x="8119872" y="2468880"/>
            <a:ext cx="3520440" cy="1869948"/>
            <a:chOff x="8119872" y="2468880"/>
            <a:chExt cx="3520440" cy="1869948"/>
          </a:xfrm>
        </p:grpSpPr>
        <p:sp>
          <p:nvSpPr>
            <p:cNvPr id="448" name="Google Shape;448;p17"/>
            <p:cNvSpPr/>
            <p:nvPr/>
          </p:nvSpPr>
          <p:spPr>
            <a:xfrm>
              <a:off x="8119872" y="2468880"/>
              <a:ext cx="3520440" cy="1869948"/>
            </a:xfrm>
            <a:prstGeom prst="roundRect">
              <a:avLst>
                <a:gd name="adj" fmla="val 6846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8119872" y="2468880"/>
              <a:ext cx="35204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8119872" y="2706624"/>
              <a:ext cx="35204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1" name="Google Shape;451;p17"/>
            <p:cNvCxnSpPr/>
            <p:nvPr/>
          </p:nvCxnSpPr>
          <p:spPr>
            <a:xfrm>
              <a:off x="8119872" y="2852928"/>
              <a:ext cx="35204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2" name="Google Shape;452;p17"/>
            <p:cNvSpPr/>
            <p:nvPr/>
          </p:nvSpPr>
          <p:spPr>
            <a:xfrm>
              <a:off x="8119872" y="2468880"/>
              <a:ext cx="3520440" cy="1869948"/>
            </a:xfrm>
            <a:prstGeom prst="roundRect">
              <a:avLst>
                <a:gd name="adj" fmla="val 6846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8321040" y="2596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8522208" y="2596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8723376" y="2596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7"/>
            <p:cNvSpPr txBox="1"/>
            <p:nvPr/>
          </p:nvSpPr>
          <p:spPr>
            <a:xfrm>
              <a:off x="9034272" y="2523744"/>
              <a:ext cx="2514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map.go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57" name="Google Shape;457;p17"/>
          <p:cNvGrpSpPr/>
          <p:nvPr/>
        </p:nvGrpSpPr>
        <p:grpSpPr>
          <a:xfrm>
            <a:off x="8439912" y="3081528"/>
            <a:ext cx="3154680" cy="1028700"/>
            <a:chOff x="8439912" y="3081528"/>
            <a:chExt cx="3154680" cy="1028700"/>
          </a:xfrm>
        </p:grpSpPr>
        <p:sp>
          <p:nvSpPr>
            <p:cNvPr id="458" name="Google Shape;458;p17"/>
            <p:cNvSpPr txBox="1"/>
            <p:nvPr/>
          </p:nvSpPr>
          <p:spPr>
            <a:xfrm>
              <a:off x="8439912" y="30815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 :=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map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[string]int{}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17"/>
            <p:cNvSpPr txBox="1"/>
            <p:nvPr/>
          </p:nvSpPr>
          <p:spPr>
            <a:xfrm>
              <a:off x="8439912" y="34244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m[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"Ana"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] = 30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0" name="Google Shape;460;p17"/>
            <p:cNvSpPr txBox="1"/>
            <p:nvPr/>
          </p:nvSpPr>
          <p:spPr>
            <a:xfrm>
              <a:off x="8439912" y="3767328"/>
              <a:ext cx="3154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v, ok := m[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"Bia"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]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61" name="Google Shape;461;p17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17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Ponteiros</a:t>
            </a:r>
            <a:endParaRPr sz="3400"/>
          </a:p>
        </p:txBody>
      </p:sp>
      <p:grpSp>
        <p:nvGrpSpPr>
          <p:cNvPr id="467" name="Google Shape;467;p18"/>
          <p:cNvGrpSpPr/>
          <p:nvPr/>
        </p:nvGrpSpPr>
        <p:grpSpPr>
          <a:xfrm>
            <a:off x="548640" y="1508760"/>
            <a:ext cx="6675120" cy="1097280"/>
            <a:chOff x="548640" y="1508760"/>
            <a:chExt cx="6675120" cy="1097280"/>
          </a:xfrm>
        </p:grpSpPr>
        <p:sp>
          <p:nvSpPr>
            <p:cNvPr id="468" name="Google Shape;468;p18"/>
            <p:cNvSpPr/>
            <p:nvPr/>
          </p:nvSpPr>
          <p:spPr>
            <a:xfrm>
              <a:off x="548640" y="1508760"/>
              <a:ext cx="3108960" cy="1097280"/>
            </a:xfrm>
            <a:prstGeom prst="roundRect">
              <a:avLst>
                <a:gd name="adj" fmla="val 10000"/>
              </a:avLst>
            </a:prstGeom>
            <a:solidFill>
              <a:srgbClr val="16233A"/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8"/>
            <p:cNvSpPr txBox="1"/>
            <p:nvPr/>
          </p:nvSpPr>
          <p:spPr>
            <a:xfrm>
              <a:off x="822960" y="1600200"/>
              <a:ext cx="2743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600"/>
                <a:buFont typeface="JetBrains Mono"/>
                <a:buNone/>
              </a:pPr>
              <a:r>
                <a:rPr lang="en-US" sz="16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 *int</a:t>
              </a:r>
              <a:endPara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2400"/>
                <a:buFont typeface="JetBrains Mono"/>
                <a:buNone/>
              </a:pPr>
              <a:r>
                <a:rPr lang="en-US" sz="24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0xc000012080</a:t>
              </a:r>
              <a:endPara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3886200" y="1828800"/>
              <a:ext cx="9144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9B8CC"/>
            </a:solidFill>
            <a:ln w="12700" cap="flat" cmpd="sng">
              <a:solidFill>
                <a:srgbClr val="A9B8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5029200" y="1508760"/>
              <a:ext cx="2194560" cy="1097280"/>
            </a:xfrm>
            <a:prstGeom prst="roundRect">
              <a:avLst>
                <a:gd name="adj" fmla="val 10000"/>
              </a:avLst>
            </a:prstGeom>
            <a:solidFill>
              <a:srgbClr val="16233A"/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8"/>
            <p:cNvSpPr txBox="1"/>
            <p:nvPr/>
          </p:nvSpPr>
          <p:spPr>
            <a:xfrm>
              <a:off x="5303520" y="160020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600"/>
                <a:buFont typeface="JetBrains Mono"/>
                <a:buNone/>
              </a:pPr>
              <a:r>
                <a:rPr lang="en-US" sz="16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valor int</a:t>
              </a:r>
              <a:endPara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166"/>
                </a:buClr>
                <a:buSzPts val="2400"/>
                <a:buFont typeface="JetBrains Mono"/>
                <a:buNone/>
              </a:pPr>
              <a:r>
                <a:rPr lang="en-US" sz="2400" b="1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5</a:t>
              </a:r>
              <a:endPara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73" name="Google Shape;473;p18"/>
          <p:cNvGrpSpPr/>
          <p:nvPr/>
        </p:nvGrpSpPr>
        <p:grpSpPr>
          <a:xfrm>
            <a:off x="548640" y="2926080"/>
            <a:ext cx="6675120" cy="3241548"/>
            <a:chOff x="548640" y="2926080"/>
            <a:chExt cx="6675120" cy="3241548"/>
          </a:xfrm>
        </p:grpSpPr>
        <p:sp>
          <p:nvSpPr>
            <p:cNvPr id="474" name="Google Shape;474;p18"/>
            <p:cNvSpPr/>
            <p:nvPr/>
          </p:nvSpPr>
          <p:spPr>
            <a:xfrm>
              <a:off x="548640" y="2926080"/>
              <a:ext cx="6675120" cy="3241548"/>
            </a:xfrm>
            <a:prstGeom prst="roundRect">
              <a:avLst>
                <a:gd name="adj" fmla="val 3949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548640" y="2926080"/>
              <a:ext cx="667512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548640" y="3163824"/>
              <a:ext cx="667512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7" name="Google Shape;477;p18"/>
            <p:cNvCxnSpPr/>
            <p:nvPr/>
          </p:nvCxnSpPr>
          <p:spPr>
            <a:xfrm>
              <a:off x="548640" y="3310128"/>
              <a:ext cx="667512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8" name="Google Shape;478;p18"/>
            <p:cNvSpPr/>
            <p:nvPr/>
          </p:nvSpPr>
          <p:spPr>
            <a:xfrm>
              <a:off x="548640" y="2926080"/>
              <a:ext cx="6675120" cy="3241548"/>
            </a:xfrm>
            <a:prstGeom prst="roundRect">
              <a:avLst>
                <a:gd name="adj" fmla="val 3949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749808" y="30540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950976" y="30540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1152144" y="30540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8"/>
            <p:cNvSpPr txBox="1"/>
            <p:nvPr/>
          </p:nvSpPr>
          <p:spPr>
            <a:xfrm>
              <a:off x="1463040" y="2980944"/>
              <a:ext cx="5669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ponteiros.go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83" name="Google Shape;483;p18"/>
          <p:cNvGrpSpPr/>
          <p:nvPr/>
        </p:nvGrpSpPr>
        <p:grpSpPr>
          <a:xfrm>
            <a:off x="868680" y="3538728"/>
            <a:ext cx="6309360" cy="2400300"/>
            <a:chOff x="868680" y="3538728"/>
            <a:chExt cx="6309360" cy="2400300"/>
          </a:xfrm>
        </p:grpSpPr>
        <p:sp>
          <p:nvSpPr>
            <p:cNvPr id="484" name="Google Shape;484;p18"/>
            <p:cNvSpPr txBox="1"/>
            <p:nvPr/>
          </p:nvSpPr>
          <p:spPr>
            <a:xfrm>
              <a:off x="868680" y="3538728"/>
              <a:ext cx="63093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incrementa(n *int)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5" name="Google Shape;485;p18"/>
            <p:cNvSpPr txBox="1"/>
            <p:nvPr/>
          </p:nvSpPr>
          <p:spPr>
            <a:xfrm>
              <a:off x="868680" y="3881628"/>
              <a:ext cx="63093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*n++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6" name="Google Shape;486;p18"/>
            <p:cNvSpPr txBox="1"/>
            <p:nvPr/>
          </p:nvSpPr>
          <p:spPr>
            <a:xfrm>
              <a:off x="868680" y="4224528"/>
              <a:ext cx="63093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7" name="Google Shape;487;p18"/>
            <p:cNvSpPr txBox="1"/>
            <p:nvPr/>
          </p:nvSpPr>
          <p:spPr>
            <a:xfrm>
              <a:off x="868680" y="4910328"/>
              <a:ext cx="63093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valor := 5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8" name="Google Shape;488;p18"/>
            <p:cNvSpPr txBox="1"/>
            <p:nvPr/>
          </p:nvSpPr>
          <p:spPr>
            <a:xfrm>
              <a:off x="868680" y="5253228"/>
              <a:ext cx="63093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incrementa(&amp;valor)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9" name="Google Shape;489;p18"/>
            <p:cNvSpPr txBox="1"/>
            <p:nvPr/>
          </p:nvSpPr>
          <p:spPr>
            <a:xfrm>
              <a:off x="868680" y="5596128"/>
              <a:ext cx="63093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fmt.Println(valor) </a:t>
              </a:r>
              <a:r>
                <a:rPr lang="en-US" sz="18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6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90" name="Google Shape;490;p18"/>
          <p:cNvSpPr txBox="1"/>
          <p:nvPr/>
        </p:nvSpPr>
        <p:spPr>
          <a:xfrm>
            <a:off x="7498080" y="3511296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2000"/>
              <a:buFont typeface="JetBrains Mono"/>
              <a:buNone/>
            </a:pPr>
            <a:r>
              <a:rPr lang="en-US" sz="20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&amp;valor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endereço de valor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DM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2000"/>
              <a:buFont typeface="JetBrains Mono"/>
              <a:buNone/>
            </a:pPr>
            <a:r>
              <a:rPr lang="en-US" sz="20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*p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valor em p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18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18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Structs e métodos</a:t>
            </a:r>
            <a:endParaRPr sz="3400"/>
          </a:p>
        </p:txBody>
      </p:sp>
      <p:grpSp>
        <p:nvGrpSpPr>
          <p:cNvPr id="497" name="Google Shape;497;p19"/>
          <p:cNvGrpSpPr/>
          <p:nvPr/>
        </p:nvGrpSpPr>
        <p:grpSpPr>
          <a:xfrm>
            <a:off x="548640" y="1325880"/>
            <a:ext cx="5715000" cy="4956048"/>
            <a:chOff x="548640" y="1325880"/>
            <a:chExt cx="5715000" cy="4956048"/>
          </a:xfrm>
        </p:grpSpPr>
        <p:sp>
          <p:nvSpPr>
            <p:cNvPr id="498" name="Google Shape;498;p19"/>
            <p:cNvSpPr/>
            <p:nvPr/>
          </p:nvSpPr>
          <p:spPr>
            <a:xfrm>
              <a:off x="548640" y="1325880"/>
              <a:ext cx="5715000" cy="4956048"/>
            </a:xfrm>
            <a:prstGeom prst="roundRect">
              <a:avLst>
                <a:gd name="adj" fmla="val 2583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548640" y="1325880"/>
              <a:ext cx="571500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548640" y="1563624"/>
              <a:ext cx="571500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1" name="Google Shape;501;p19"/>
            <p:cNvCxnSpPr/>
            <p:nvPr/>
          </p:nvCxnSpPr>
          <p:spPr>
            <a:xfrm>
              <a:off x="548640" y="1709928"/>
              <a:ext cx="571500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2" name="Google Shape;502;p19"/>
            <p:cNvSpPr/>
            <p:nvPr/>
          </p:nvSpPr>
          <p:spPr>
            <a:xfrm>
              <a:off x="548640" y="1325880"/>
              <a:ext cx="5715000" cy="4956048"/>
            </a:xfrm>
            <a:prstGeom prst="roundRect">
              <a:avLst>
                <a:gd name="adj" fmla="val 2583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749808" y="1453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950976" y="1453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1152144" y="1453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9"/>
            <p:cNvSpPr txBox="1"/>
            <p:nvPr/>
          </p:nvSpPr>
          <p:spPr>
            <a:xfrm>
              <a:off x="1463040" y="1380744"/>
              <a:ext cx="47091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pessoa.go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07" name="Google Shape;507;p19"/>
          <p:cNvSpPr/>
          <p:nvPr/>
        </p:nvSpPr>
        <p:spPr>
          <a:xfrm>
            <a:off x="658368" y="3653028"/>
            <a:ext cx="549554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658368" y="5024628"/>
            <a:ext cx="549554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9" name="Google Shape;509;p19"/>
          <p:cNvGrpSpPr/>
          <p:nvPr/>
        </p:nvGrpSpPr>
        <p:grpSpPr>
          <a:xfrm>
            <a:off x="868680" y="1938528"/>
            <a:ext cx="5349240" cy="4114800"/>
            <a:chOff x="868680" y="1938528"/>
            <a:chExt cx="5349240" cy="4114800"/>
          </a:xfrm>
        </p:grpSpPr>
        <p:sp>
          <p:nvSpPr>
            <p:cNvPr id="510" name="Google Shape;510;p19"/>
            <p:cNvSpPr txBox="1"/>
            <p:nvPr/>
          </p:nvSpPr>
          <p:spPr>
            <a:xfrm>
              <a:off x="868680" y="19385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Pessoa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struct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1" name="Google Shape;511;p19"/>
            <p:cNvSpPr txBox="1"/>
            <p:nvPr/>
          </p:nvSpPr>
          <p:spPr>
            <a:xfrm>
              <a:off x="868680" y="22814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Nome  string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19"/>
            <p:cNvSpPr txBox="1"/>
            <p:nvPr/>
          </p:nvSpPr>
          <p:spPr>
            <a:xfrm>
              <a:off x="868680" y="26243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Idade int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3" name="Google Shape;513;p19"/>
            <p:cNvSpPr txBox="1"/>
            <p:nvPr/>
          </p:nvSpPr>
          <p:spPr>
            <a:xfrm>
              <a:off x="868680" y="29672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4" name="Google Shape;514;p19"/>
            <p:cNvSpPr txBox="1"/>
            <p:nvPr/>
          </p:nvSpPr>
          <p:spPr>
            <a:xfrm>
              <a:off x="868680" y="36530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(p Pessoa) Apresentar()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5" name="Google Shape;515;p19"/>
            <p:cNvSpPr txBox="1"/>
            <p:nvPr/>
          </p:nvSpPr>
          <p:spPr>
            <a:xfrm>
              <a:off x="868680" y="39959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"Olá, sou"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p.Nome)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6" name="Google Shape;516;p19"/>
            <p:cNvSpPr txBox="1"/>
            <p:nvPr/>
          </p:nvSpPr>
          <p:spPr>
            <a:xfrm>
              <a:off x="868680" y="43388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19"/>
            <p:cNvSpPr txBox="1"/>
            <p:nvPr/>
          </p:nvSpPr>
          <p:spPr>
            <a:xfrm>
              <a:off x="868680" y="50246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(p *Pessoa) FazerAniversario()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868680" y="53675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p.Idade++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868680" y="5710428"/>
              <a:ext cx="534924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20" name="Google Shape;520;p19"/>
          <p:cNvSpPr txBox="1"/>
          <p:nvPr/>
        </p:nvSpPr>
        <p:spPr>
          <a:xfrm>
            <a:off x="6537960" y="363474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recebe uma cópia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1" name="Google Shape;521;p19"/>
          <p:cNvSpPr txBox="1"/>
          <p:nvPr/>
        </p:nvSpPr>
        <p:spPr>
          <a:xfrm>
            <a:off x="6537960" y="500634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altera o original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19"/>
          <p:cNvSpPr txBox="1"/>
          <p:nvPr/>
        </p:nvSpPr>
        <p:spPr>
          <a:xfrm>
            <a:off x="6537960" y="1901952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Sem herança: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 Aluno struct { Pessoa }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19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19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Interfaces</a:t>
            </a:r>
            <a:endParaRPr sz="3400"/>
          </a:p>
        </p:txBody>
      </p:sp>
      <p:grpSp>
        <p:nvGrpSpPr>
          <p:cNvPr id="529" name="Google Shape;529;p20"/>
          <p:cNvGrpSpPr/>
          <p:nvPr/>
        </p:nvGrpSpPr>
        <p:grpSpPr>
          <a:xfrm>
            <a:off x="548640" y="1325880"/>
            <a:ext cx="5166360" cy="4956048"/>
            <a:chOff x="548640" y="1325880"/>
            <a:chExt cx="5166360" cy="4956048"/>
          </a:xfrm>
        </p:grpSpPr>
        <p:sp>
          <p:nvSpPr>
            <p:cNvPr id="530" name="Google Shape;530;p20"/>
            <p:cNvSpPr/>
            <p:nvPr/>
          </p:nvSpPr>
          <p:spPr>
            <a:xfrm>
              <a:off x="548640" y="1325880"/>
              <a:ext cx="5166360" cy="4956048"/>
            </a:xfrm>
            <a:prstGeom prst="roundRect">
              <a:avLst>
                <a:gd name="adj" fmla="val 2583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548640" y="1325880"/>
              <a:ext cx="51663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548640" y="1563624"/>
              <a:ext cx="51663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" name="Google Shape;533;p20"/>
            <p:cNvCxnSpPr/>
            <p:nvPr/>
          </p:nvCxnSpPr>
          <p:spPr>
            <a:xfrm>
              <a:off x="548640" y="1709928"/>
              <a:ext cx="51663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4" name="Google Shape;534;p20"/>
            <p:cNvSpPr/>
            <p:nvPr/>
          </p:nvSpPr>
          <p:spPr>
            <a:xfrm>
              <a:off x="548640" y="1325880"/>
              <a:ext cx="5166360" cy="4956048"/>
            </a:xfrm>
            <a:prstGeom prst="roundRect">
              <a:avLst>
                <a:gd name="adj" fmla="val 2583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49808" y="1453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950976" y="1453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1152144" y="1453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0"/>
            <p:cNvSpPr txBox="1"/>
            <p:nvPr/>
          </p:nvSpPr>
          <p:spPr>
            <a:xfrm>
              <a:off x="1463040" y="1380744"/>
              <a:ext cx="4160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falante.go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39" name="Google Shape;539;p20"/>
          <p:cNvSpPr/>
          <p:nvPr/>
        </p:nvSpPr>
        <p:spPr>
          <a:xfrm>
            <a:off x="658368" y="2281428"/>
            <a:ext cx="49469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658368" y="3995928"/>
            <a:ext cx="49469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658368" y="5367528"/>
            <a:ext cx="494690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20"/>
          <p:cNvGrpSpPr/>
          <p:nvPr/>
        </p:nvGrpSpPr>
        <p:grpSpPr>
          <a:xfrm>
            <a:off x="868680" y="1938528"/>
            <a:ext cx="4800600" cy="4114800"/>
            <a:chOff x="868680" y="1938528"/>
            <a:chExt cx="4800600" cy="4114800"/>
          </a:xfrm>
        </p:grpSpPr>
        <p:sp>
          <p:nvSpPr>
            <p:cNvPr id="543" name="Google Shape;543;p20"/>
            <p:cNvSpPr txBox="1"/>
            <p:nvPr/>
          </p:nvSpPr>
          <p:spPr>
            <a:xfrm>
              <a:off x="868680" y="19385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Falante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interface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868680" y="22814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Falar() string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5" name="Google Shape;545;p20"/>
            <p:cNvSpPr txBox="1"/>
            <p:nvPr/>
          </p:nvSpPr>
          <p:spPr>
            <a:xfrm>
              <a:off x="868680" y="26243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6" name="Google Shape;546;p20"/>
            <p:cNvSpPr txBox="1"/>
            <p:nvPr/>
          </p:nvSpPr>
          <p:spPr>
            <a:xfrm>
              <a:off x="868680" y="33101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Robo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struct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{ Modelo string 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7" name="Google Shape;547;p20"/>
            <p:cNvSpPr txBox="1"/>
            <p:nvPr/>
          </p:nvSpPr>
          <p:spPr>
            <a:xfrm>
              <a:off x="868680" y="39959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(r Robo) Falar() string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8" name="Google Shape;548;p20"/>
            <p:cNvSpPr txBox="1"/>
            <p:nvPr/>
          </p:nvSpPr>
          <p:spPr>
            <a:xfrm>
              <a:off x="868680" y="43388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"BIP BOP 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+ r.Modelo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49" name="Google Shape;549;p20"/>
            <p:cNvSpPr txBox="1"/>
            <p:nvPr/>
          </p:nvSpPr>
          <p:spPr>
            <a:xfrm>
              <a:off x="868680" y="46817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0" name="Google Shape;550;p20"/>
            <p:cNvSpPr txBox="1"/>
            <p:nvPr/>
          </p:nvSpPr>
          <p:spPr>
            <a:xfrm>
              <a:off x="868680" y="53675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 Falante = Robo{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"RX-42"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1" name="Google Shape;551;p20"/>
            <p:cNvSpPr txBox="1"/>
            <p:nvPr/>
          </p:nvSpPr>
          <p:spPr>
            <a:xfrm>
              <a:off x="868680" y="5710428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fmt.Println(f.Falar())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52" name="Google Shape;552;p20"/>
          <p:cNvSpPr txBox="1"/>
          <p:nvPr/>
        </p:nvSpPr>
        <p:spPr>
          <a:xfrm>
            <a:off x="5989320" y="226314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o contrato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3" name="Google Shape;553;p20"/>
          <p:cNvSpPr txBox="1"/>
          <p:nvPr/>
        </p:nvSpPr>
        <p:spPr>
          <a:xfrm>
            <a:off x="5989320" y="397764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tem o método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5989320" y="534924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então é um Falante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5" name="Google Shape;555;p20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20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"/>
          <p:cNvSpPr txBox="1">
            <a:spLocks noGrp="1"/>
          </p:cNvSpPr>
          <p:nvPr>
            <p:ph type="body" idx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85C"/>
              </a:buClr>
              <a:buSzPts val="24000"/>
              <a:buNone/>
            </a:pPr>
            <a:r>
              <a:rPr lang="en-US" sz="24000" b="1">
                <a:solidFill>
                  <a:srgbClr val="17485C"/>
                </a:solidFill>
                <a:latin typeface="Sora"/>
                <a:ea typeface="Sora"/>
                <a:cs typeface="Sora"/>
                <a:sym typeface="Sora"/>
              </a:rPr>
              <a:t>05</a:t>
            </a:r>
            <a:endParaRPr sz="24000"/>
          </a:p>
        </p:txBody>
      </p:sp>
      <p:sp>
        <p:nvSpPr>
          <p:cNvPr id="561" name="Google Shape;561;p21"/>
          <p:cNvSpPr txBox="1">
            <a:spLocks noGrp="1"/>
          </p:cNvSpPr>
          <p:nvPr>
            <p:ph type="title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Goroutines e channels</a:t>
            </a:r>
            <a:endParaRPr sz="5400"/>
          </a:p>
        </p:txBody>
      </p:sp>
      <p:sp>
        <p:nvSpPr>
          <p:cNvPr id="562" name="Google Shape;562;p21"/>
          <p:cNvSpPr txBox="1">
            <a:spLocks noGrp="1"/>
          </p:cNvSpPr>
          <p:nvPr>
            <p:ph type="body" idx="2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600"/>
              <a:buNone/>
            </a:pPr>
            <a:r>
              <a:rPr lang="en-US" sz="2600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Concorrência do jeito Go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2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Goroutines</a:t>
            </a:r>
            <a:endParaRPr sz="3400"/>
          </a:p>
        </p:txBody>
      </p:sp>
      <p:grpSp>
        <p:nvGrpSpPr>
          <p:cNvPr id="568" name="Google Shape;568;p22"/>
          <p:cNvGrpSpPr/>
          <p:nvPr/>
        </p:nvGrpSpPr>
        <p:grpSpPr>
          <a:xfrm>
            <a:off x="548640" y="1463040"/>
            <a:ext cx="4617720" cy="4270248"/>
            <a:chOff x="548640" y="1463040"/>
            <a:chExt cx="4617720" cy="4270248"/>
          </a:xfrm>
        </p:grpSpPr>
        <p:sp>
          <p:nvSpPr>
            <p:cNvPr id="569" name="Google Shape;569;p22"/>
            <p:cNvSpPr/>
            <p:nvPr/>
          </p:nvSpPr>
          <p:spPr>
            <a:xfrm>
              <a:off x="548640" y="1463040"/>
              <a:ext cx="4617720" cy="4270248"/>
            </a:xfrm>
            <a:prstGeom prst="roundRect">
              <a:avLst>
                <a:gd name="adj" fmla="val 2998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548640" y="1463040"/>
              <a:ext cx="461772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548640" y="1700784"/>
              <a:ext cx="461772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2" name="Google Shape;572;p22"/>
            <p:cNvCxnSpPr/>
            <p:nvPr/>
          </p:nvCxnSpPr>
          <p:spPr>
            <a:xfrm>
              <a:off x="548640" y="1847088"/>
              <a:ext cx="461772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73" name="Google Shape;573;p22"/>
            <p:cNvSpPr/>
            <p:nvPr/>
          </p:nvSpPr>
          <p:spPr>
            <a:xfrm>
              <a:off x="548640" y="1463040"/>
              <a:ext cx="4617720" cy="4270248"/>
            </a:xfrm>
            <a:prstGeom prst="roundRect">
              <a:avLst>
                <a:gd name="adj" fmla="val 2998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1463040" y="1517904"/>
              <a:ext cx="3611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goroutines.go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78" name="Google Shape;578;p22"/>
          <p:cNvSpPr/>
          <p:nvPr/>
        </p:nvSpPr>
        <p:spPr>
          <a:xfrm>
            <a:off x="658368" y="4475988"/>
            <a:ext cx="439826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22"/>
          <p:cNvGrpSpPr/>
          <p:nvPr/>
        </p:nvGrpSpPr>
        <p:grpSpPr>
          <a:xfrm>
            <a:off x="868680" y="2075688"/>
            <a:ext cx="4251960" cy="3429000"/>
            <a:chOff x="868680" y="2075688"/>
            <a:chExt cx="4251960" cy="3429000"/>
          </a:xfrm>
        </p:grpSpPr>
        <p:sp>
          <p:nvSpPr>
            <p:cNvPr id="580" name="Google Shape;580;p22"/>
            <p:cNvSpPr txBox="1"/>
            <p:nvPr/>
          </p:nvSpPr>
          <p:spPr>
            <a:xfrm>
              <a:off x="868680" y="20756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falar(nome string)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868680" y="24185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 := 1; i &lt;= 3; i++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868680" y="27614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    fmt.Println(nome, i)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868680" y="31043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868680" y="34472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868680" y="41330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main()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6" name="Google Shape;586;p22"/>
            <p:cNvSpPr txBox="1"/>
            <p:nvPr/>
          </p:nvSpPr>
          <p:spPr>
            <a:xfrm>
              <a:off x="868680" y="44759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falar(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"goroutine"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7" name="Google Shape;587;p22"/>
            <p:cNvSpPr txBox="1"/>
            <p:nvPr/>
          </p:nvSpPr>
          <p:spPr>
            <a:xfrm>
              <a:off x="868680" y="48188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falar(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"main"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88" name="Google Shape;588;p22"/>
            <p:cNvSpPr txBox="1"/>
            <p:nvPr/>
          </p:nvSpPr>
          <p:spPr>
            <a:xfrm>
              <a:off x="868680" y="5161788"/>
              <a:ext cx="425196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89" name="Google Shape;589;p22"/>
          <p:cNvSpPr txBox="1"/>
          <p:nvPr/>
        </p:nvSpPr>
        <p:spPr>
          <a:xfrm>
            <a:off x="5440680" y="4457700"/>
            <a:ext cx="4206240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roda em paralelo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90" name="Google Shape;590;p22"/>
          <p:cNvGrpSpPr/>
          <p:nvPr/>
        </p:nvGrpSpPr>
        <p:grpSpPr>
          <a:xfrm>
            <a:off x="5440680" y="1463040"/>
            <a:ext cx="4023360" cy="2212848"/>
            <a:chOff x="5440680" y="1463040"/>
            <a:chExt cx="4023360" cy="2212848"/>
          </a:xfrm>
        </p:grpSpPr>
        <p:sp>
          <p:nvSpPr>
            <p:cNvPr id="591" name="Google Shape;591;p22"/>
            <p:cNvSpPr/>
            <p:nvPr/>
          </p:nvSpPr>
          <p:spPr>
            <a:xfrm>
              <a:off x="5440680" y="1463040"/>
              <a:ext cx="4023360" cy="2212848"/>
            </a:xfrm>
            <a:prstGeom prst="roundRect">
              <a:avLst>
                <a:gd name="adj" fmla="val 5785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5440680" y="1463040"/>
              <a:ext cx="40233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5440680" y="1700784"/>
              <a:ext cx="402336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4" name="Google Shape;594;p22"/>
            <p:cNvCxnSpPr/>
            <p:nvPr/>
          </p:nvCxnSpPr>
          <p:spPr>
            <a:xfrm>
              <a:off x="5440680" y="1847088"/>
              <a:ext cx="402336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95" name="Google Shape;595;p22"/>
            <p:cNvSpPr/>
            <p:nvPr/>
          </p:nvSpPr>
          <p:spPr>
            <a:xfrm>
              <a:off x="5440680" y="1463040"/>
              <a:ext cx="4023360" cy="2212848"/>
            </a:xfrm>
            <a:prstGeom prst="roundRect">
              <a:avLst>
                <a:gd name="adj" fmla="val 5785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564184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584301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604418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2"/>
            <p:cNvSpPr txBox="1"/>
            <p:nvPr/>
          </p:nvSpPr>
          <p:spPr>
            <a:xfrm>
              <a:off x="6355080" y="1517904"/>
              <a:ext cx="3017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terminal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0" name="Google Shape;600;p22"/>
            <p:cNvSpPr txBox="1"/>
            <p:nvPr/>
          </p:nvSpPr>
          <p:spPr>
            <a:xfrm>
              <a:off x="5760720" y="2075688"/>
              <a:ext cx="365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run .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1" name="Google Shape;601;p22"/>
            <p:cNvSpPr txBox="1"/>
            <p:nvPr/>
          </p:nvSpPr>
          <p:spPr>
            <a:xfrm>
              <a:off x="5760720" y="2418588"/>
              <a:ext cx="365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main 1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2" name="Google Shape;602;p22"/>
            <p:cNvSpPr txBox="1"/>
            <p:nvPr/>
          </p:nvSpPr>
          <p:spPr>
            <a:xfrm>
              <a:off x="5760720" y="2761488"/>
              <a:ext cx="365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main 2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03" name="Google Shape;603;p22"/>
            <p:cNvSpPr txBox="1"/>
            <p:nvPr/>
          </p:nvSpPr>
          <p:spPr>
            <a:xfrm>
              <a:off x="5760720" y="3104388"/>
              <a:ext cx="365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main 3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04" name="Google Shape;604;p22"/>
          <p:cNvSpPr txBox="1"/>
          <p:nvPr/>
        </p:nvSpPr>
        <p:spPr>
          <a:xfrm>
            <a:off x="5440680" y="3611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000"/>
              <a:buFont typeface="DM Sans"/>
              <a:buNone/>
            </a:pPr>
            <a:r>
              <a:rPr lang="en-US" sz="2000" b="1" i="0" u="none" strike="noStrike" cap="none">
                <a:solidFill>
                  <a:srgbClr val="FFD166"/>
                </a:solidFill>
                <a:latin typeface="DM Sans"/>
                <a:ea typeface="DM Sans"/>
                <a:cs typeface="DM Sans"/>
                <a:sym typeface="DM Sans"/>
              </a:rPr>
              <a:t>A main acabou antes da goroutine.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5" name="Google Shape;605;p22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22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3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Channels</a:t>
            </a:r>
            <a:endParaRPr sz="3400"/>
          </a:p>
        </p:txBody>
      </p:sp>
      <p:grpSp>
        <p:nvGrpSpPr>
          <p:cNvPr id="611" name="Google Shape;611;p23"/>
          <p:cNvGrpSpPr/>
          <p:nvPr/>
        </p:nvGrpSpPr>
        <p:grpSpPr>
          <a:xfrm>
            <a:off x="548640" y="1463040"/>
            <a:ext cx="5120640" cy="3584448"/>
            <a:chOff x="548640" y="1463040"/>
            <a:chExt cx="5120640" cy="3584448"/>
          </a:xfrm>
        </p:grpSpPr>
        <p:sp>
          <p:nvSpPr>
            <p:cNvPr id="612" name="Google Shape;612;p23"/>
            <p:cNvSpPr/>
            <p:nvPr/>
          </p:nvSpPr>
          <p:spPr>
            <a:xfrm>
              <a:off x="548640" y="1463040"/>
              <a:ext cx="5120640" cy="3584448"/>
            </a:xfrm>
            <a:prstGeom prst="roundRect">
              <a:avLst>
                <a:gd name="adj" fmla="val 3571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548640" y="1463040"/>
              <a:ext cx="51206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548640" y="1700784"/>
              <a:ext cx="51206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23"/>
            <p:cNvCxnSpPr/>
            <p:nvPr/>
          </p:nvCxnSpPr>
          <p:spPr>
            <a:xfrm>
              <a:off x="548640" y="1847088"/>
              <a:ext cx="51206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16" name="Google Shape;616;p23"/>
            <p:cNvSpPr/>
            <p:nvPr/>
          </p:nvSpPr>
          <p:spPr>
            <a:xfrm>
              <a:off x="548640" y="1463040"/>
              <a:ext cx="5120640" cy="3584448"/>
            </a:xfrm>
            <a:prstGeom prst="roundRect">
              <a:avLst>
                <a:gd name="adj" fmla="val 3571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3"/>
            <p:cNvSpPr txBox="1"/>
            <p:nvPr/>
          </p:nvSpPr>
          <p:spPr>
            <a:xfrm>
              <a:off x="1463040" y="1517904"/>
              <a:ext cx="4114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channels.go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621" name="Google Shape;621;p23"/>
          <p:cNvGrpSpPr/>
          <p:nvPr/>
        </p:nvGrpSpPr>
        <p:grpSpPr>
          <a:xfrm>
            <a:off x="868680" y="2075688"/>
            <a:ext cx="4754880" cy="2743200"/>
            <a:chOff x="868680" y="2075688"/>
            <a:chExt cx="4754880" cy="2743200"/>
          </a:xfrm>
        </p:grpSpPr>
        <p:sp>
          <p:nvSpPr>
            <p:cNvPr id="622" name="Google Shape;622;p23"/>
            <p:cNvSpPr txBox="1"/>
            <p:nvPr/>
          </p:nvSpPr>
          <p:spPr>
            <a:xfrm>
              <a:off x="868680" y="2075688"/>
              <a:ext cx="47548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 := make(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string)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3" name="Google Shape;623;p23"/>
            <p:cNvSpPr txBox="1"/>
            <p:nvPr/>
          </p:nvSpPr>
          <p:spPr>
            <a:xfrm>
              <a:off x="868680" y="2761488"/>
              <a:ext cx="47548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1800"/>
                <a:buFont typeface="JetBrains Mono"/>
                <a:buNone/>
              </a:pP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4" name="Google Shape;624;p23"/>
            <p:cNvSpPr txBox="1"/>
            <p:nvPr/>
          </p:nvSpPr>
          <p:spPr>
            <a:xfrm>
              <a:off x="868680" y="3104388"/>
              <a:ext cx="47548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ch &lt;-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"olá"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5" name="Google Shape;625;p23"/>
            <p:cNvSpPr txBox="1"/>
            <p:nvPr/>
          </p:nvSpPr>
          <p:spPr>
            <a:xfrm>
              <a:off x="868680" y="3447288"/>
              <a:ext cx="47548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}()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6" name="Google Shape;626;p23"/>
            <p:cNvSpPr txBox="1"/>
            <p:nvPr/>
          </p:nvSpPr>
          <p:spPr>
            <a:xfrm>
              <a:off x="868680" y="4133088"/>
              <a:ext cx="47548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msg := &lt;-ch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7" name="Google Shape;627;p23"/>
            <p:cNvSpPr txBox="1"/>
            <p:nvPr/>
          </p:nvSpPr>
          <p:spPr>
            <a:xfrm>
              <a:off x="868680" y="4475988"/>
              <a:ext cx="47548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fmt.Println(msg)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628" name="Google Shape;628;p23" descr="A goroutine A envia olá, fica bloqueada até a goroutine B rece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0" y="1463040"/>
            <a:ext cx="5394960" cy="2462917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3"/>
          <p:cNvSpPr txBox="1"/>
          <p:nvPr/>
        </p:nvSpPr>
        <p:spPr>
          <a:xfrm>
            <a:off x="6217920" y="4343400"/>
            <a:ext cx="54223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2000"/>
              <a:buFont typeface="JetBrains Mono"/>
              <a:buNone/>
            </a:pPr>
            <a:r>
              <a:rPr lang="en-US" sz="20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 &lt;- v</a:t>
            </a:r>
            <a:r>
              <a:rPr lang="en-US" sz="20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   espera alguém receber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DD8"/>
              </a:buClr>
              <a:buSzPts val="2000"/>
              <a:buFont typeface="JetBrains Mono"/>
              <a:buNone/>
            </a:pPr>
            <a:r>
              <a:rPr lang="en-US" sz="20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 := &lt;-ch</a:t>
            </a:r>
            <a:r>
              <a:rPr lang="en-US" sz="20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   espera alguém enviar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23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23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4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Esperando com channels</a:t>
            </a:r>
            <a:endParaRPr sz="3400"/>
          </a:p>
        </p:txBody>
      </p:sp>
      <p:grpSp>
        <p:nvGrpSpPr>
          <p:cNvPr id="636" name="Google Shape;636;p24"/>
          <p:cNvGrpSpPr/>
          <p:nvPr/>
        </p:nvGrpSpPr>
        <p:grpSpPr>
          <a:xfrm>
            <a:off x="548640" y="1325880"/>
            <a:ext cx="6949440" cy="4956048"/>
            <a:chOff x="548640" y="1325880"/>
            <a:chExt cx="6949440" cy="4956048"/>
          </a:xfrm>
        </p:grpSpPr>
        <p:sp>
          <p:nvSpPr>
            <p:cNvPr id="637" name="Google Shape;637;p24"/>
            <p:cNvSpPr/>
            <p:nvPr/>
          </p:nvSpPr>
          <p:spPr>
            <a:xfrm>
              <a:off x="548640" y="1325880"/>
              <a:ext cx="6949440" cy="4956048"/>
            </a:xfrm>
            <a:prstGeom prst="roundRect">
              <a:avLst>
                <a:gd name="adj" fmla="val 2583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548640" y="1325880"/>
              <a:ext cx="69494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548640" y="1563624"/>
              <a:ext cx="69494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0" name="Google Shape;640;p24"/>
            <p:cNvCxnSpPr/>
            <p:nvPr/>
          </p:nvCxnSpPr>
          <p:spPr>
            <a:xfrm>
              <a:off x="548640" y="1709928"/>
              <a:ext cx="69494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41" name="Google Shape;641;p24"/>
            <p:cNvSpPr/>
            <p:nvPr/>
          </p:nvSpPr>
          <p:spPr>
            <a:xfrm>
              <a:off x="548640" y="1325880"/>
              <a:ext cx="6949440" cy="4956048"/>
            </a:xfrm>
            <a:prstGeom prst="roundRect">
              <a:avLst>
                <a:gd name="adj" fmla="val 2583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749808" y="1453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950976" y="1453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1152144" y="1453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4"/>
            <p:cNvSpPr txBox="1"/>
            <p:nvPr/>
          </p:nvSpPr>
          <p:spPr>
            <a:xfrm>
              <a:off x="1463040" y="1380744"/>
              <a:ext cx="5943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esperando.go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46" name="Google Shape;646;p24"/>
          <p:cNvSpPr/>
          <p:nvPr/>
        </p:nvSpPr>
        <p:spPr>
          <a:xfrm>
            <a:off x="658368" y="2624328"/>
            <a:ext cx="672998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658368" y="5024628"/>
            <a:ext cx="6729984" cy="6858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8" name="Google Shape;648;p24"/>
          <p:cNvGrpSpPr/>
          <p:nvPr/>
        </p:nvGrpSpPr>
        <p:grpSpPr>
          <a:xfrm>
            <a:off x="868680" y="1938528"/>
            <a:ext cx="6583680" cy="4114800"/>
            <a:chOff x="868680" y="1938528"/>
            <a:chExt cx="6583680" cy="4114800"/>
          </a:xfrm>
        </p:grpSpPr>
        <p:sp>
          <p:nvSpPr>
            <p:cNvPr id="649" name="Google Shape;649;p24"/>
            <p:cNvSpPr txBox="1"/>
            <p:nvPr/>
          </p:nvSpPr>
          <p:spPr>
            <a:xfrm>
              <a:off x="868680" y="19385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tarefa(nome string, pronto 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string)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0" name="Google Shape;650;p24"/>
            <p:cNvSpPr txBox="1"/>
            <p:nvPr/>
          </p:nvSpPr>
          <p:spPr>
            <a:xfrm>
              <a:off x="868680" y="22814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fmt.Println(nome,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"trabalhando..."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1" name="Google Shape;651;p24"/>
            <p:cNvSpPr txBox="1"/>
            <p:nvPr/>
          </p:nvSpPr>
          <p:spPr>
            <a:xfrm>
              <a:off x="868680" y="26243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pronto &lt;- nome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2" name="Google Shape;652;p24"/>
            <p:cNvSpPr txBox="1"/>
            <p:nvPr/>
          </p:nvSpPr>
          <p:spPr>
            <a:xfrm>
              <a:off x="868680" y="29672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3" name="Google Shape;653;p24"/>
            <p:cNvSpPr txBox="1"/>
            <p:nvPr/>
          </p:nvSpPr>
          <p:spPr>
            <a:xfrm>
              <a:off x="868680" y="36530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main()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4" name="Google Shape;654;p24"/>
            <p:cNvSpPr txBox="1"/>
            <p:nvPr/>
          </p:nvSpPr>
          <p:spPr>
            <a:xfrm>
              <a:off x="868680" y="39959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pronto := make(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string)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5" name="Google Shape;655;p24"/>
            <p:cNvSpPr txBox="1"/>
            <p:nvPr/>
          </p:nvSpPr>
          <p:spPr>
            <a:xfrm>
              <a:off x="868680" y="43388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tarefa(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"A"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pronto)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6" name="Google Shape;656;p24"/>
            <p:cNvSpPr txBox="1"/>
            <p:nvPr/>
          </p:nvSpPr>
          <p:spPr>
            <a:xfrm>
              <a:off x="868680" y="46817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tarefa(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"B"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pronto)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7" name="Google Shape;657;p24"/>
            <p:cNvSpPr txBox="1"/>
            <p:nvPr/>
          </p:nvSpPr>
          <p:spPr>
            <a:xfrm>
              <a:off x="868680" y="50246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fmt.Println(&lt;-pronto,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"terminou"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8" name="Google Shape;658;p24"/>
            <p:cNvSpPr txBox="1"/>
            <p:nvPr/>
          </p:nvSpPr>
          <p:spPr>
            <a:xfrm>
              <a:off x="868680" y="53675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fmt.Println(&lt;-pronto, </a:t>
              </a:r>
              <a:r>
                <a:rPr lang="en-US" sz="1800" b="0" i="0" u="none" strike="noStrike" cap="none">
                  <a:solidFill>
                    <a:srgbClr val="FFD16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"terminou"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9" name="Google Shape;659;p24"/>
            <p:cNvSpPr txBox="1"/>
            <p:nvPr/>
          </p:nvSpPr>
          <p:spPr>
            <a:xfrm>
              <a:off x="868680" y="5710428"/>
              <a:ext cx="65836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60" name="Google Shape;660;p24"/>
          <p:cNvSpPr txBox="1"/>
          <p:nvPr/>
        </p:nvSpPr>
        <p:spPr>
          <a:xfrm>
            <a:off x="7772400" y="2606040"/>
            <a:ext cx="3870655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avisa que terminou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1" name="Google Shape;661;p24"/>
          <p:cNvSpPr txBox="1"/>
          <p:nvPr/>
        </p:nvSpPr>
        <p:spPr>
          <a:xfrm>
            <a:off x="7772400" y="5349240"/>
            <a:ext cx="3870655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espera os dois avisos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62" name="Google Shape;662;p24"/>
          <p:cNvGrpSpPr/>
          <p:nvPr/>
        </p:nvGrpSpPr>
        <p:grpSpPr>
          <a:xfrm>
            <a:off x="7772400" y="3017520"/>
            <a:ext cx="3870655" cy="2212848"/>
            <a:chOff x="7772400" y="3017520"/>
            <a:chExt cx="3870655" cy="2212848"/>
          </a:xfrm>
        </p:grpSpPr>
        <p:sp>
          <p:nvSpPr>
            <p:cNvPr id="663" name="Google Shape;663;p24"/>
            <p:cNvSpPr/>
            <p:nvPr/>
          </p:nvSpPr>
          <p:spPr>
            <a:xfrm>
              <a:off x="7772400" y="3017520"/>
              <a:ext cx="3870655" cy="2212848"/>
            </a:xfrm>
            <a:prstGeom prst="roundRect">
              <a:avLst>
                <a:gd name="adj" fmla="val 5785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7772400" y="3017520"/>
              <a:ext cx="3870655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772400" y="3255264"/>
              <a:ext cx="3870655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6" name="Google Shape;666;p24"/>
            <p:cNvCxnSpPr/>
            <p:nvPr/>
          </p:nvCxnSpPr>
          <p:spPr>
            <a:xfrm>
              <a:off x="7772400" y="3401568"/>
              <a:ext cx="3870655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67" name="Google Shape;667;p24"/>
            <p:cNvSpPr/>
            <p:nvPr/>
          </p:nvSpPr>
          <p:spPr>
            <a:xfrm>
              <a:off x="7772400" y="3017520"/>
              <a:ext cx="3870655" cy="2212848"/>
            </a:xfrm>
            <a:prstGeom prst="roundRect">
              <a:avLst>
                <a:gd name="adj" fmla="val 5785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7973568" y="314553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8174736" y="314553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8375904" y="314553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4"/>
            <p:cNvSpPr txBox="1"/>
            <p:nvPr/>
          </p:nvSpPr>
          <p:spPr>
            <a:xfrm>
              <a:off x="8686800" y="3072384"/>
              <a:ext cx="2864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terminal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2" name="Google Shape;672;p24"/>
            <p:cNvSpPr txBox="1"/>
            <p:nvPr/>
          </p:nvSpPr>
          <p:spPr>
            <a:xfrm>
              <a:off x="8092440" y="3630168"/>
              <a:ext cx="350489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 trabalhando...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3" name="Google Shape;673;p24"/>
            <p:cNvSpPr txBox="1"/>
            <p:nvPr/>
          </p:nvSpPr>
          <p:spPr>
            <a:xfrm>
              <a:off x="8092440" y="3973068"/>
              <a:ext cx="350489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 terminou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4" name="Google Shape;674;p24"/>
            <p:cNvSpPr txBox="1"/>
            <p:nvPr/>
          </p:nvSpPr>
          <p:spPr>
            <a:xfrm>
              <a:off x="8092440" y="4315968"/>
              <a:ext cx="350489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 trabalhando...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75" name="Google Shape;675;p24"/>
            <p:cNvSpPr txBox="1"/>
            <p:nvPr/>
          </p:nvSpPr>
          <p:spPr>
            <a:xfrm>
              <a:off x="8092440" y="4658868"/>
              <a:ext cx="350489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 terminou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76" name="Google Shape;676;p24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24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5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/>
              <a:t>C</a:t>
            </a: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lose e range</a:t>
            </a:r>
            <a:endParaRPr sz="3400"/>
          </a:p>
        </p:txBody>
      </p:sp>
      <p:grpSp>
        <p:nvGrpSpPr>
          <p:cNvPr id="682" name="Google Shape;682;p25"/>
          <p:cNvGrpSpPr/>
          <p:nvPr/>
        </p:nvGrpSpPr>
        <p:grpSpPr>
          <a:xfrm>
            <a:off x="3307078" y="1293865"/>
            <a:ext cx="5577840" cy="4270248"/>
            <a:chOff x="6035040" y="1463040"/>
            <a:chExt cx="5577840" cy="4270248"/>
          </a:xfrm>
        </p:grpSpPr>
        <p:sp>
          <p:nvSpPr>
            <p:cNvPr id="683" name="Google Shape;683;p25"/>
            <p:cNvSpPr/>
            <p:nvPr/>
          </p:nvSpPr>
          <p:spPr>
            <a:xfrm>
              <a:off x="6035040" y="1463040"/>
              <a:ext cx="5577840" cy="4270248"/>
            </a:xfrm>
            <a:prstGeom prst="roundRect">
              <a:avLst>
                <a:gd name="adj" fmla="val 2998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6035040" y="1463040"/>
              <a:ext cx="55778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6035040" y="1700784"/>
              <a:ext cx="55778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6" name="Google Shape;686;p25"/>
            <p:cNvCxnSpPr/>
            <p:nvPr/>
          </p:nvCxnSpPr>
          <p:spPr>
            <a:xfrm>
              <a:off x="6035040" y="1847088"/>
              <a:ext cx="55778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87" name="Google Shape;687;p25"/>
            <p:cNvSpPr/>
            <p:nvPr/>
          </p:nvSpPr>
          <p:spPr>
            <a:xfrm>
              <a:off x="6035040" y="1463040"/>
              <a:ext cx="5577840" cy="4270248"/>
            </a:xfrm>
            <a:prstGeom prst="roundRect">
              <a:avLst>
                <a:gd name="adj" fmla="val 2998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62362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64373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66385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5"/>
            <p:cNvSpPr txBox="1"/>
            <p:nvPr/>
          </p:nvSpPr>
          <p:spPr>
            <a:xfrm>
              <a:off x="6949440" y="1517904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close.go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92" name="Google Shape;692;p25"/>
          <p:cNvSpPr/>
          <p:nvPr/>
        </p:nvSpPr>
        <p:spPr>
          <a:xfrm>
            <a:off x="3416806" y="3278113"/>
            <a:ext cx="5358300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5"/>
          <p:cNvSpPr/>
          <p:nvPr/>
        </p:nvSpPr>
        <p:spPr>
          <a:xfrm>
            <a:off x="3416806" y="4306813"/>
            <a:ext cx="5358300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4" name="Google Shape;694;p25"/>
          <p:cNvGrpSpPr/>
          <p:nvPr/>
        </p:nvGrpSpPr>
        <p:grpSpPr>
          <a:xfrm>
            <a:off x="3627118" y="1906513"/>
            <a:ext cx="5212080" cy="3429000"/>
            <a:chOff x="6355080" y="2075688"/>
            <a:chExt cx="5212080" cy="3429000"/>
          </a:xfrm>
        </p:grpSpPr>
        <p:sp>
          <p:nvSpPr>
            <p:cNvPr id="695" name="Google Shape;695;p25"/>
            <p:cNvSpPr txBox="1"/>
            <p:nvPr/>
          </p:nvSpPr>
          <p:spPr>
            <a:xfrm>
              <a:off x="6355080" y="20756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produzir(saida 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&lt;- int)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6" name="Google Shape;696;p25"/>
            <p:cNvSpPr txBox="1"/>
            <p:nvPr/>
          </p:nvSpPr>
          <p:spPr>
            <a:xfrm>
              <a:off x="6355080" y="24185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 := 1; i &lt;= 3; i++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7" name="Google Shape;697;p25"/>
            <p:cNvSpPr txBox="1"/>
            <p:nvPr/>
          </p:nvSpPr>
          <p:spPr>
            <a:xfrm>
              <a:off x="6355080" y="27614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    saida &lt;- i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8" name="Google Shape;698;p25"/>
            <p:cNvSpPr txBox="1"/>
            <p:nvPr/>
          </p:nvSpPr>
          <p:spPr>
            <a:xfrm>
              <a:off x="6355080" y="31043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99" name="Google Shape;699;p25"/>
            <p:cNvSpPr txBox="1"/>
            <p:nvPr/>
          </p:nvSpPr>
          <p:spPr>
            <a:xfrm>
              <a:off x="6355080" y="34472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close(saida)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0" name="Google Shape;700;p25"/>
            <p:cNvSpPr txBox="1"/>
            <p:nvPr/>
          </p:nvSpPr>
          <p:spPr>
            <a:xfrm>
              <a:off x="6355080" y="37901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1" name="Google Shape;701;p25"/>
            <p:cNvSpPr txBox="1"/>
            <p:nvPr/>
          </p:nvSpPr>
          <p:spPr>
            <a:xfrm>
              <a:off x="6355080" y="44759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 := </a:t>
              </a: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range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numeros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2" name="Google Shape;702;p25"/>
            <p:cNvSpPr txBox="1"/>
            <p:nvPr/>
          </p:nvSpPr>
          <p:spPr>
            <a:xfrm>
              <a:off x="6355080" y="48188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fmt.Println(n)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03" name="Google Shape;703;p25"/>
            <p:cNvSpPr txBox="1"/>
            <p:nvPr/>
          </p:nvSpPr>
          <p:spPr>
            <a:xfrm>
              <a:off x="6355080" y="5161788"/>
              <a:ext cx="5212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04" name="Google Shape;704;p25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25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7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Deadlock</a:t>
            </a:r>
            <a:endParaRPr sz="3400"/>
          </a:p>
        </p:txBody>
      </p:sp>
      <p:grpSp>
        <p:nvGrpSpPr>
          <p:cNvPr id="751" name="Google Shape;751;p27"/>
          <p:cNvGrpSpPr/>
          <p:nvPr/>
        </p:nvGrpSpPr>
        <p:grpSpPr>
          <a:xfrm>
            <a:off x="548640" y="1463040"/>
            <a:ext cx="7635240" cy="2555748"/>
            <a:chOff x="548640" y="1463040"/>
            <a:chExt cx="7635240" cy="2555748"/>
          </a:xfrm>
        </p:grpSpPr>
        <p:sp>
          <p:nvSpPr>
            <p:cNvPr id="752" name="Google Shape;752;p27"/>
            <p:cNvSpPr/>
            <p:nvPr/>
          </p:nvSpPr>
          <p:spPr>
            <a:xfrm>
              <a:off x="548640" y="1463040"/>
              <a:ext cx="7635240" cy="2555748"/>
            </a:xfrm>
            <a:prstGeom prst="roundRect">
              <a:avLst>
                <a:gd name="adj" fmla="val 5009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548640" y="1463040"/>
              <a:ext cx="76352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548640" y="1700784"/>
              <a:ext cx="76352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5" name="Google Shape;755;p27"/>
            <p:cNvCxnSpPr/>
            <p:nvPr/>
          </p:nvCxnSpPr>
          <p:spPr>
            <a:xfrm>
              <a:off x="548640" y="1847088"/>
              <a:ext cx="76352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56" name="Google Shape;756;p27"/>
            <p:cNvSpPr/>
            <p:nvPr/>
          </p:nvSpPr>
          <p:spPr>
            <a:xfrm>
              <a:off x="548640" y="1463040"/>
              <a:ext cx="7635240" cy="2555748"/>
            </a:xfrm>
            <a:prstGeom prst="roundRect">
              <a:avLst>
                <a:gd name="adj" fmla="val 5009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7"/>
            <p:cNvSpPr txBox="1"/>
            <p:nvPr/>
          </p:nvSpPr>
          <p:spPr>
            <a:xfrm>
              <a:off x="1463040" y="1517904"/>
              <a:ext cx="6629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deadlock.go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61" name="Google Shape;761;p27"/>
          <p:cNvSpPr/>
          <p:nvPr/>
        </p:nvSpPr>
        <p:spPr>
          <a:xfrm>
            <a:off x="658368" y="2761488"/>
            <a:ext cx="7415784" cy="342900"/>
          </a:xfrm>
          <a:prstGeom prst="rect">
            <a:avLst/>
          </a:prstGeom>
          <a:solidFill>
            <a:srgbClr val="00ADD8">
              <a:alpha val="27843"/>
            </a:srgbClr>
          </a:solidFill>
          <a:ln w="12700" cap="flat" cmpd="sng">
            <a:solidFill>
              <a:srgbClr val="00ADD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2" name="Google Shape;762;p27"/>
          <p:cNvGrpSpPr/>
          <p:nvPr/>
        </p:nvGrpSpPr>
        <p:grpSpPr>
          <a:xfrm>
            <a:off x="868680" y="2075688"/>
            <a:ext cx="7269480" cy="1714500"/>
            <a:chOff x="868680" y="2075688"/>
            <a:chExt cx="7269480" cy="1714500"/>
          </a:xfrm>
        </p:grpSpPr>
        <p:sp>
          <p:nvSpPr>
            <p:cNvPr id="763" name="Google Shape;763;p27"/>
            <p:cNvSpPr txBox="1"/>
            <p:nvPr/>
          </p:nvSpPr>
          <p:spPr>
            <a:xfrm>
              <a:off x="868680" y="2075688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92EA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C792E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main() {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4" name="Google Shape;764;p27"/>
            <p:cNvSpPr txBox="1"/>
            <p:nvPr/>
          </p:nvSpPr>
          <p:spPr>
            <a:xfrm>
              <a:off x="868680" y="2418588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ch := make(</a:t>
              </a:r>
              <a:r>
                <a:rPr lang="en-US" sz="1800" b="1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chan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int)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5" name="Google Shape;765;p27"/>
            <p:cNvSpPr txBox="1"/>
            <p:nvPr/>
          </p:nvSpPr>
          <p:spPr>
            <a:xfrm>
              <a:off x="868680" y="2761488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ch &lt;- 1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6" name="Google Shape;766;p27"/>
            <p:cNvSpPr txBox="1"/>
            <p:nvPr/>
          </p:nvSpPr>
          <p:spPr>
            <a:xfrm>
              <a:off x="868680" y="3104388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fmt.Println(&lt;-ch)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67" name="Google Shape;767;p27"/>
            <p:cNvSpPr txBox="1"/>
            <p:nvPr/>
          </p:nvSpPr>
          <p:spPr>
            <a:xfrm>
              <a:off x="868680" y="3447288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68" name="Google Shape;768;p27"/>
          <p:cNvSpPr txBox="1"/>
          <p:nvPr/>
        </p:nvSpPr>
        <p:spPr>
          <a:xfrm>
            <a:off x="8458200" y="2743200"/>
            <a:ext cx="3184855" cy="37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←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ninguém para receber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69" name="Google Shape;769;p27"/>
          <p:cNvGrpSpPr/>
          <p:nvPr/>
        </p:nvGrpSpPr>
        <p:grpSpPr>
          <a:xfrm>
            <a:off x="548640" y="4338828"/>
            <a:ext cx="7635240" cy="1527048"/>
            <a:chOff x="548640" y="4338828"/>
            <a:chExt cx="7635240" cy="1527048"/>
          </a:xfrm>
        </p:grpSpPr>
        <p:sp>
          <p:nvSpPr>
            <p:cNvPr id="770" name="Google Shape;770;p27"/>
            <p:cNvSpPr/>
            <p:nvPr/>
          </p:nvSpPr>
          <p:spPr>
            <a:xfrm>
              <a:off x="548640" y="4338828"/>
              <a:ext cx="7635240" cy="1527048"/>
            </a:xfrm>
            <a:prstGeom prst="roundRect">
              <a:avLst>
                <a:gd name="adj" fmla="val 8383"/>
              </a:avLst>
            </a:prstGeom>
            <a:solidFill>
              <a:srgbClr val="1F1418"/>
            </a:solidFill>
            <a:ln w="12700" cap="flat" cmpd="sng">
              <a:solidFill>
                <a:srgbClr val="1F14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548640" y="4338828"/>
              <a:ext cx="7635240" cy="384048"/>
            </a:xfrm>
            <a:prstGeom prst="roundRect">
              <a:avLst>
                <a:gd name="adj" fmla="val 33333"/>
              </a:avLst>
            </a:prstGeom>
            <a:solidFill>
              <a:srgbClr val="2A1A20"/>
            </a:solidFill>
            <a:ln w="12700" cap="flat" cmpd="sng">
              <a:solidFill>
                <a:srgbClr val="2A1A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548640" y="4576572"/>
              <a:ext cx="7635240" cy="146304"/>
            </a:xfrm>
            <a:prstGeom prst="rect">
              <a:avLst/>
            </a:prstGeom>
            <a:solidFill>
              <a:srgbClr val="2A1A20"/>
            </a:solidFill>
            <a:ln w="12700" cap="flat" cmpd="sng">
              <a:solidFill>
                <a:srgbClr val="2A1A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3" name="Google Shape;773;p27"/>
            <p:cNvCxnSpPr/>
            <p:nvPr/>
          </p:nvCxnSpPr>
          <p:spPr>
            <a:xfrm>
              <a:off x="548640" y="4722876"/>
              <a:ext cx="7635240" cy="0"/>
            </a:xfrm>
            <a:prstGeom prst="straightConnector1">
              <a:avLst/>
            </a:prstGeom>
            <a:noFill/>
            <a:ln w="9525" cap="flat" cmpd="sng">
              <a:solidFill>
                <a:srgbClr val="5A2A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74" name="Google Shape;774;p27"/>
            <p:cNvSpPr/>
            <p:nvPr/>
          </p:nvSpPr>
          <p:spPr>
            <a:xfrm>
              <a:off x="548640" y="4338828"/>
              <a:ext cx="7635240" cy="1527048"/>
            </a:xfrm>
            <a:prstGeom prst="roundRect">
              <a:avLst>
                <a:gd name="adj" fmla="val 8383"/>
              </a:avLst>
            </a:prstGeom>
            <a:solidFill>
              <a:srgbClr val="1F1418">
                <a:alpha val="0"/>
              </a:srgbClr>
            </a:solidFill>
            <a:ln w="9525" cap="flat" cmpd="sng">
              <a:solidFill>
                <a:srgbClr val="5A2A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749808" y="4466844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950976" y="4466844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1152144" y="4466844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7"/>
            <p:cNvSpPr txBox="1"/>
            <p:nvPr/>
          </p:nvSpPr>
          <p:spPr>
            <a:xfrm>
              <a:off x="1463040" y="4393692"/>
              <a:ext cx="6629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terminal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79" name="Google Shape;779;p27"/>
            <p:cNvSpPr txBox="1"/>
            <p:nvPr/>
          </p:nvSpPr>
          <p:spPr>
            <a:xfrm>
              <a:off x="868680" y="4951476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DD8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00ADD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</a:t>
              </a: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go run .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780" name="Google Shape;780;p27"/>
            <p:cNvSpPr txBox="1"/>
            <p:nvPr/>
          </p:nvSpPr>
          <p:spPr>
            <a:xfrm>
              <a:off x="868680" y="5294376"/>
              <a:ext cx="72694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A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FF8A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fatal error: all goroutines are asleep - deadlock!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781" name="Google Shape;781;p27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26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28" descr="logo-clar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1231" y="6035040"/>
            <a:ext cx="971824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8"/>
          <p:cNvSpPr txBox="1"/>
          <p:nvPr/>
        </p:nvSpPr>
        <p:spPr>
          <a:xfrm>
            <a:off x="822960" y="9144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2000"/>
              <a:buFont typeface="JetBrains Mono"/>
              <a:buNone/>
            </a:pPr>
            <a:r>
              <a:rPr lang="en-US" sz="2000" b="0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atividade · em duplas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8" name="Google Shape;788;p28"/>
          <p:cNvSpPr txBox="1"/>
          <p:nvPr/>
        </p:nvSpPr>
        <p:spPr>
          <a:xfrm>
            <a:off x="822960" y="1371600"/>
            <a:ext cx="1051560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Contar de 1 a 10</a:t>
            </a:r>
            <a:endParaRPr sz="5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5400"/>
              <a:buFont typeface="Sora"/>
              <a:buNone/>
            </a:pPr>
            <a:r>
              <a:rPr lang="en-US" sz="54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com duas goroutines</a:t>
            </a:r>
            <a:endParaRPr sz="5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9" name="Google Shape;789;p28"/>
          <p:cNvSpPr txBox="1"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600"/>
              <a:buFont typeface="DM Sans"/>
              <a:buNone/>
            </a:pPr>
            <a:r>
              <a:rPr lang="en-US" sz="26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Uma conta os ímpares, a outra os pares.</a:t>
            </a:r>
            <a:endParaRPr sz="2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0" name="Google Shape;790;p28"/>
          <p:cNvSpPr/>
          <p:nvPr/>
        </p:nvSpPr>
        <p:spPr>
          <a:xfrm>
            <a:off x="822960" y="4526280"/>
            <a:ext cx="822960" cy="822960"/>
          </a:xfrm>
          <a:prstGeom prst="ellipse">
            <a:avLst/>
          </a:prstGeom>
          <a:solidFill>
            <a:srgbClr val="00ADD8"/>
          </a:solidFill>
          <a:ln w="12700" cap="flat" cmpd="sng">
            <a:solidFill>
              <a:srgbClr val="00AD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8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1874520" y="4526280"/>
            <a:ext cx="822960" cy="822960"/>
          </a:xfrm>
          <a:prstGeom prst="ellipse">
            <a:avLst/>
          </a:prstGeom>
          <a:solidFill>
            <a:srgbClr val="FFD166"/>
          </a:solidFill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8"/>
          <p:cNvSpPr txBox="1"/>
          <p:nvPr/>
        </p:nvSpPr>
        <p:spPr>
          <a:xfrm>
            <a:off x="187452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4" name="Google Shape;794;p28"/>
          <p:cNvSpPr/>
          <p:nvPr/>
        </p:nvSpPr>
        <p:spPr>
          <a:xfrm>
            <a:off x="2926080" y="4526280"/>
            <a:ext cx="822960" cy="822960"/>
          </a:xfrm>
          <a:prstGeom prst="ellipse">
            <a:avLst/>
          </a:prstGeom>
          <a:solidFill>
            <a:srgbClr val="00ADD8"/>
          </a:solidFill>
          <a:ln w="12700" cap="flat" cmpd="sng">
            <a:solidFill>
              <a:srgbClr val="00AD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8"/>
          <p:cNvSpPr txBox="1"/>
          <p:nvPr/>
        </p:nvSpPr>
        <p:spPr>
          <a:xfrm>
            <a:off x="292608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3977640" y="4526280"/>
            <a:ext cx="822960" cy="822960"/>
          </a:xfrm>
          <a:prstGeom prst="ellipse">
            <a:avLst/>
          </a:prstGeom>
          <a:solidFill>
            <a:srgbClr val="FFD166"/>
          </a:solidFill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8"/>
          <p:cNvSpPr txBox="1"/>
          <p:nvPr/>
        </p:nvSpPr>
        <p:spPr>
          <a:xfrm>
            <a:off x="397764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8" name="Google Shape;798;p28"/>
          <p:cNvSpPr/>
          <p:nvPr/>
        </p:nvSpPr>
        <p:spPr>
          <a:xfrm>
            <a:off x="5029200" y="4526280"/>
            <a:ext cx="822960" cy="822960"/>
          </a:xfrm>
          <a:prstGeom prst="ellipse">
            <a:avLst/>
          </a:prstGeom>
          <a:solidFill>
            <a:srgbClr val="00ADD8"/>
          </a:solidFill>
          <a:ln w="12700" cap="flat" cmpd="sng">
            <a:solidFill>
              <a:srgbClr val="00AD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8"/>
          <p:cNvSpPr txBox="1"/>
          <p:nvPr/>
        </p:nvSpPr>
        <p:spPr>
          <a:xfrm>
            <a:off x="502920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0" name="Google Shape;800;p28"/>
          <p:cNvSpPr/>
          <p:nvPr/>
        </p:nvSpPr>
        <p:spPr>
          <a:xfrm>
            <a:off x="6080760" y="4526280"/>
            <a:ext cx="822960" cy="822960"/>
          </a:xfrm>
          <a:prstGeom prst="ellipse">
            <a:avLst/>
          </a:prstGeom>
          <a:solidFill>
            <a:srgbClr val="FFD166"/>
          </a:solidFill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8"/>
          <p:cNvSpPr txBox="1"/>
          <p:nvPr/>
        </p:nvSpPr>
        <p:spPr>
          <a:xfrm>
            <a:off x="608076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7132320" y="4526280"/>
            <a:ext cx="822960" cy="822960"/>
          </a:xfrm>
          <a:prstGeom prst="ellipse">
            <a:avLst/>
          </a:prstGeom>
          <a:solidFill>
            <a:srgbClr val="00ADD8"/>
          </a:solidFill>
          <a:ln w="12700" cap="flat" cmpd="sng">
            <a:solidFill>
              <a:srgbClr val="00AD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8"/>
          <p:cNvSpPr txBox="1"/>
          <p:nvPr/>
        </p:nvSpPr>
        <p:spPr>
          <a:xfrm>
            <a:off x="713232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8183880" y="4526280"/>
            <a:ext cx="822960" cy="822960"/>
          </a:xfrm>
          <a:prstGeom prst="ellipse">
            <a:avLst/>
          </a:prstGeom>
          <a:solidFill>
            <a:srgbClr val="FFD166"/>
          </a:solidFill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8"/>
          <p:cNvSpPr txBox="1"/>
          <p:nvPr/>
        </p:nvSpPr>
        <p:spPr>
          <a:xfrm>
            <a:off x="818388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9235440" y="4526280"/>
            <a:ext cx="822960" cy="822960"/>
          </a:xfrm>
          <a:prstGeom prst="ellipse">
            <a:avLst/>
          </a:prstGeom>
          <a:solidFill>
            <a:srgbClr val="00ADD8"/>
          </a:solidFill>
          <a:ln w="12700" cap="flat" cmpd="sng">
            <a:solidFill>
              <a:srgbClr val="00AD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8"/>
          <p:cNvSpPr txBox="1"/>
          <p:nvPr/>
        </p:nvSpPr>
        <p:spPr>
          <a:xfrm>
            <a:off x="923544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10287000" y="4526280"/>
            <a:ext cx="822960" cy="822960"/>
          </a:xfrm>
          <a:prstGeom prst="ellipse">
            <a:avLst/>
          </a:prstGeom>
          <a:solidFill>
            <a:srgbClr val="FFD166"/>
          </a:solidFill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8"/>
          <p:cNvSpPr txBox="1"/>
          <p:nvPr/>
        </p:nvSpPr>
        <p:spPr>
          <a:xfrm>
            <a:off x="10287000" y="45262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1623"/>
              </a:buClr>
              <a:buSzPts val="2400"/>
              <a:buFont typeface="JetBrains Mono"/>
              <a:buNone/>
            </a:pPr>
            <a:r>
              <a:rPr lang="en-US" sz="2400" b="1" i="0" u="none" strike="noStrike" cap="none">
                <a:solidFill>
                  <a:srgbClr val="0E162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sz="2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0" name="Google Shape;810;p28"/>
          <p:cNvSpPr txBox="1"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00ADD8"/>
                </a:solidFill>
                <a:latin typeface="DM Sans"/>
                <a:ea typeface="DM Sans"/>
                <a:cs typeface="DM Sans"/>
                <a:sym typeface="DM Sans"/>
              </a:rPr>
              <a:t>●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ímpar      </a:t>
            </a:r>
            <a:r>
              <a:rPr lang="en-US" sz="1800" b="0" i="0" u="none" strike="noStrike" cap="none">
                <a:solidFill>
                  <a:srgbClr val="FFD166"/>
                </a:solidFill>
                <a:latin typeface="DM Sans"/>
                <a:ea typeface="DM Sans"/>
                <a:cs typeface="DM Sans"/>
                <a:sym typeface="DM Sans"/>
              </a:rPr>
              <a:t>● </a:t>
            </a:r>
            <a:r>
              <a:rPr lang="en-US" sz="1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par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8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1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4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9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400"/>
              <a:buFont typeface="Sora"/>
              <a:buNone/>
            </a:pPr>
            <a:r>
              <a:rPr lang="en-US" sz="3400" b="1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Regras</a:t>
            </a:r>
            <a:endParaRPr sz="3400"/>
          </a:p>
        </p:txBody>
      </p:sp>
      <p:grpSp>
        <p:nvGrpSpPr>
          <p:cNvPr id="816" name="Google Shape;816;p29"/>
          <p:cNvGrpSpPr/>
          <p:nvPr/>
        </p:nvGrpSpPr>
        <p:grpSpPr>
          <a:xfrm>
            <a:off x="548640" y="1463040"/>
            <a:ext cx="3291840" cy="4613148"/>
            <a:chOff x="548640" y="1463040"/>
            <a:chExt cx="3291840" cy="4613148"/>
          </a:xfrm>
        </p:grpSpPr>
        <p:sp>
          <p:nvSpPr>
            <p:cNvPr id="817" name="Google Shape;817;p29"/>
            <p:cNvSpPr/>
            <p:nvPr/>
          </p:nvSpPr>
          <p:spPr>
            <a:xfrm>
              <a:off x="548640" y="1463040"/>
              <a:ext cx="3291840" cy="4613148"/>
            </a:xfrm>
            <a:prstGeom prst="roundRect">
              <a:avLst>
                <a:gd name="adj" fmla="val 3889"/>
              </a:avLst>
            </a:prstGeom>
            <a:solidFill>
              <a:srgbClr val="0A111C"/>
            </a:solidFill>
            <a:ln w="12700" cap="flat" cmpd="sng">
              <a:solidFill>
                <a:srgbClr val="0A11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548640" y="1463040"/>
              <a:ext cx="32918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548640" y="1700784"/>
              <a:ext cx="3291840" cy="146304"/>
            </a:xfrm>
            <a:prstGeom prst="rect">
              <a:avLst/>
            </a:prstGeom>
            <a:solidFill>
              <a:srgbClr val="131E30"/>
            </a:solidFill>
            <a:ln w="12700" cap="flat" cmpd="sng">
              <a:solidFill>
                <a:srgbClr val="131E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0" name="Google Shape;820;p29"/>
            <p:cNvCxnSpPr/>
            <p:nvPr/>
          </p:nvCxnSpPr>
          <p:spPr>
            <a:xfrm>
              <a:off x="548640" y="1847088"/>
              <a:ext cx="3291840" cy="0"/>
            </a:xfrm>
            <a:prstGeom prst="straightConnector1">
              <a:avLst/>
            </a:prstGeom>
            <a:noFill/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21" name="Google Shape;821;p29"/>
            <p:cNvSpPr/>
            <p:nvPr/>
          </p:nvSpPr>
          <p:spPr>
            <a:xfrm>
              <a:off x="548640" y="1463040"/>
              <a:ext cx="3291840" cy="4613148"/>
            </a:xfrm>
            <a:prstGeom prst="roundRect">
              <a:avLst>
                <a:gd name="adj" fmla="val 3889"/>
              </a:avLst>
            </a:prstGeom>
            <a:solidFill>
              <a:srgbClr val="0A111C">
                <a:alpha val="0"/>
              </a:srgbClr>
            </a:solidFill>
            <a:ln w="9525" cap="flat" cmpd="sng">
              <a:solidFill>
                <a:srgbClr val="2232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 cap="flat" cmpd="sng">
              <a:solidFill>
                <a:srgbClr val="FF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 cap="flat" cmpd="sng">
              <a:solidFill>
                <a:srgbClr val="FFD1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 cap="flat" cmpd="sng">
              <a:solidFill>
                <a:srgbClr val="4ADE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9"/>
            <p:cNvSpPr txBox="1"/>
            <p:nvPr/>
          </p:nvSpPr>
          <p:spPr>
            <a:xfrm>
              <a:off x="1463040" y="1517904"/>
              <a:ext cx="2286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A8BA3"/>
                </a:buClr>
                <a:buSzPts val="120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7A8BA3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saída</a:t>
              </a:r>
              <a:endPara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6" name="Google Shape;826;p29"/>
            <p:cNvSpPr txBox="1"/>
            <p:nvPr/>
          </p:nvSpPr>
          <p:spPr>
            <a:xfrm>
              <a:off x="868680" y="20756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ímpar → 1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7" name="Google Shape;827;p29"/>
            <p:cNvSpPr txBox="1"/>
            <p:nvPr/>
          </p:nvSpPr>
          <p:spPr>
            <a:xfrm>
              <a:off x="868680" y="24185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DE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   → 2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8" name="Google Shape;828;p29"/>
            <p:cNvSpPr txBox="1"/>
            <p:nvPr/>
          </p:nvSpPr>
          <p:spPr>
            <a:xfrm>
              <a:off x="868680" y="27614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ímpar → 3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29" name="Google Shape;829;p29"/>
            <p:cNvSpPr txBox="1"/>
            <p:nvPr/>
          </p:nvSpPr>
          <p:spPr>
            <a:xfrm>
              <a:off x="868680" y="31043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DE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   → 4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0" name="Google Shape;830;p29"/>
            <p:cNvSpPr txBox="1"/>
            <p:nvPr/>
          </p:nvSpPr>
          <p:spPr>
            <a:xfrm>
              <a:off x="868680" y="34472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ímpar → 5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1" name="Google Shape;831;p29"/>
            <p:cNvSpPr txBox="1"/>
            <p:nvPr/>
          </p:nvSpPr>
          <p:spPr>
            <a:xfrm>
              <a:off x="868680" y="37901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DE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   → 6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2" name="Google Shape;832;p29"/>
            <p:cNvSpPr txBox="1"/>
            <p:nvPr/>
          </p:nvSpPr>
          <p:spPr>
            <a:xfrm>
              <a:off x="868680" y="41330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ímpar → 7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3" name="Google Shape;833;p29"/>
            <p:cNvSpPr txBox="1"/>
            <p:nvPr/>
          </p:nvSpPr>
          <p:spPr>
            <a:xfrm>
              <a:off x="868680" y="44759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DE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   → 8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4" name="Google Shape;834;p29"/>
            <p:cNvSpPr txBox="1"/>
            <p:nvPr/>
          </p:nvSpPr>
          <p:spPr>
            <a:xfrm>
              <a:off x="868680" y="48188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ímpar → 9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5" name="Google Shape;835;p29"/>
            <p:cNvSpPr txBox="1"/>
            <p:nvPr/>
          </p:nvSpPr>
          <p:spPr>
            <a:xfrm>
              <a:off x="868680" y="51617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DE80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   → 10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36" name="Google Shape;836;p29"/>
            <p:cNvSpPr txBox="1"/>
            <p:nvPr/>
          </p:nvSpPr>
          <p:spPr>
            <a:xfrm>
              <a:off x="868680" y="5504688"/>
              <a:ext cx="292608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EDF5"/>
                </a:buClr>
                <a:buSzPts val="1800"/>
                <a:buFont typeface="JetBrains Mono"/>
                <a:buNone/>
              </a:pPr>
              <a:r>
                <a:rPr lang="en-US" sz="1800" b="0" i="0" u="none" strike="noStrike" cap="none">
                  <a:solidFill>
                    <a:srgbClr val="E6EDF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fim!</a:t>
              </a:r>
              <a:endPara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7" name="Google Shape;837;p29"/>
          <p:cNvSpPr/>
          <p:nvPr/>
        </p:nvSpPr>
        <p:spPr>
          <a:xfrm>
            <a:off x="4389120" y="1600200"/>
            <a:ext cx="548640" cy="5486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9"/>
          <p:cNvSpPr txBox="1"/>
          <p:nvPr/>
        </p:nvSpPr>
        <p:spPr>
          <a:xfrm>
            <a:off x="4389120" y="1600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9" name="Google Shape;839;p29"/>
          <p:cNvSpPr txBox="1"/>
          <p:nvPr/>
        </p:nvSpPr>
        <p:spPr>
          <a:xfrm>
            <a:off x="5166360" y="1600200"/>
            <a:ext cx="6473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Uma goroutine para ímpares, outra para pares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4389120" y="2468880"/>
            <a:ext cx="548640" cy="5486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9"/>
          <p:cNvSpPr txBox="1"/>
          <p:nvPr/>
        </p:nvSpPr>
        <p:spPr>
          <a:xfrm>
            <a:off x="438912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2" name="Google Shape;842;p29"/>
          <p:cNvSpPr txBox="1"/>
          <p:nvPr/>
        </p:nvSpPr>
        <p:spPr>
          <a:xfrm>
            <a:off x="5166360" y="2468880"/>
            <a:ext cx="6473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Ordem certa, toda vez que rodar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4389120" y="3337560"/>
            <a:ext cx="548640" cy="5486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9"/>
          <p:cNvSpPr txBox="1"/>
          <p:nvPr/>
        </p:nvSpPr>
        <p:spPr>
          <a:xfrm>
            <a:off x="4389120" y="3337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5" name="Google Shape;845;p29"/>
          <p:cNvSpPr txBox="1"/>
          <p:nvPr/>
        </p:nvSpPr>
        <p:spPr>
          <a:xfrm>
            <a:off x="5166360" y="3337560"/>
            <a:ext cx="6473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Só channels para conversar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4389120" y="4206240"/>
            <a:ext cx="548640" cy="5486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9"/>
          <p:cNvSpPr txBox="1"/>
          <p:nvPr/>
        </p:nvSpPr>
        <p:spPr>
          <a:xfrm>
            <a:off x="438912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8" name="Google Shape;848;p29"/>
          <p:cNvSpPr txBox="1"/>
          <p:nvPr/>
        </p:nvSpPr>
        <p:spPr>
          <a:xfrm>
            <a:off x="5166360" y="4206240"/>
            <a:ext cx="6473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Sem time.Sleep e sem sync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4389120" y="5074920"/>
            <a:ext cx="548640" cy="548640"/>
          </a:xfrm>
          <a:prstGeom prst="ellipse">
            <a:avLst/>
          </a:prstGeom>
          <a:solidFill>
            <a:srgbClr val="10303F"/>
          </a:solidFill>
          <a:ln w="12700" cap="flat" cmpd="sng">
            <a:solidFill>
              <a:srgbClr val="103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 txBox="1"/>
          <p:nvPr/>
        </p:nvSpPr>
        <p:spPr>
          <a:xfrm>
            <a:off x="4389120" y="5074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D8"/>
              </a:buClr>
              <a:buSzPts val="1800"/>
              <a:buFont typeface="JetBrains Mono"/>
              <a:buNone/>
            </a:pPr>
            <a:r>
              <a:rPr lang="en-US" sz="1800" b="1" i="0" u="none" strike="noStrike" cap="none">
                <a:solidFill>
                  <a:srgbClr val="00AD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1" name="Google Shape;851;p29"/>
          <p:cNvSpPr txBox="1"/>
          <p:nvPr/>
        </p:nvSpPr>
        <p:spPr>
          <a:xfrm>
            <a:off x="5166360" y="5074920"/>
            <a:ext cx="64739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DM Sans"/>
              <a:buNone/>
            </a:pPr>
            <a:r>
              <a:rPr lang="en-US" sz="2000" b="0" i="0" u="none" strike="noStrike" cap="non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A main imprime fim! e o programa termina sozinho</a:t>
            </a:r>
            <a:endParaRPr sz="20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2" name="Google Shape;852;p29"/>
          <p:cNvSpPr txBox="1">
            <a:spLocks noGrp="1"/>
          </p:cNvSpPr>
          <p:nvPr>
            <p:ph type="sldNum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A8BA3"/>
                </a:solidFill>
                <a:latin typeface="DM Sans"/>
                <a:ea typeface="DM Sans"/>
                <a:cs typeface="DM Sans"/>
                <a:sym typeface="DM Sans"/>
              </a:rPr>
              <a:t>28</a:t>
            </a:fld>
            <a:endParaRPr sz="1100" b="0" i="0" u="none" strike="noStrike" cap="none">
              <a:solidFill>
                <a:srgbClr val="7A8BA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30" descr="logo-clar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731520"/>
            <a:ext cx="121478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30"/>
          <p:cNvSpPr txBox="1"/>
          <p:nvPr/>
        </p:nvSpPr>
        <p:spPr>
          <a:xfrm>
            <a:off x="822960" y="256032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7200"/>
              <a:buFont typeface="Sora"/>
              <a:buNone/>
            </a:pPr>
            <a:r>
              <a:rPr lang="en-US" sz="7200" b="1" i="0" u="none" strike="noStrike" cap="none">
                <a:solidFill>
                  <a:srgbClr val="F5F7FA"/>
                </a:solidFill>
                <a:latin typeface="Sora"/>
                <a:ea typeface="Sora"/>
                <a:cs typeface="Sora"/>
                <a:sym typeface="Sora"/>
              </a:rPr>
              <a:t>Obrigado!</a:t>
            </a:r>
            <a:endParaRPr sz="7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9" name="Google Shape;859;p30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CC"/>
              </a:buClr>
              <a:buSzPts val="2800"/>
              <a:buFont typeface="DM Sans"/>
              <a:buNone/>
            </a:pPr>
            <a:r>
              <a:rPr lang="en-US" sz="2800" b="0" i="0" u="none" strike="noStrike" cap="none">
                <a:solidFill>
                  <a:srgbClr val="A9B8CC"/>
                </a:solidFill>
                <a:latin typeface="DM Sans"/>
                <a:ea typeface="DM Sans"/>
                <a:cs typeface="DM Sans"/>
                <a:sym typeface="DM Sans"/>
              </a:rPr>
              <a:t>Perguntas?</a:t>
            </a:r>
            <a:endParaRPr sz="2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inicurso Go">
  <a:themeElements>
    <a:clrScheme name="Minicurso Go">
      <a:dk1>
        <a:srgbClr val="0E1623"/>
      </a:dk1>
      <a:lt1>
        <a:srgbClr val="F5F7FA"/>
      </a:lt1>
      <a:dk2>
        <a:srgbClr val="0A111C"/>
      </a:dk2>
      <a:lt2>
        <a:srgbClr val="A9B8CC"/>
      </a:lt2>
      <a:accent1>
        <a:srgbClr val="00ADD8"/>
      </a:accent1>
      <a:accent2>
        <a:srgbClr val="FFD166"/>
      </a:accent2>
      <a:accent3>
        <a:srgbClr val="C792EA"/>
      </a:accent3>
      <a:accent4>
        <a:srgbClr val="4ADE80"/>
      </a:accent4>
      <a:accent5>
        <a:srgbClr val="7A8BA3"/>
      </a:accent5>
      <a:accent6>
        <a:srgbClr val="16233A"/>
      </a:accent6>
      <a:hlink>
        <a:srgbClr val="00ADD8"/>
      </a:hlink>
      <a:folHlink>
        <a:srgbClr val="C792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nicurso Go">
  <a:themeElements>
    <a:clrScheme name="Minicurso Go">
      <a:dk1>
        <a:srgbClr val="0E1623"/>
      </a:dk1>
      <a:lt1>
        <a:srgbClr val="F5F7FA"/>
      </a:lt1>
      <a:dk2>
        <a:srgbClr val="0A111C"/>
      </a:dk2>
      <a:lt2>
        <a:srgbClr val="A9B8CC"/>
      </a:lt2>
      <a:accent1>
        <a:srgbClr val="00ADD8"/>
      </a:accent1>
      <a:accent2>
        <a:srgbClr val="FFD166"/>
      </a:accent2>
      <a:accent3>
        <a:srgbClr val="C792EA"/>
      </a:accent3>
      <a:accent4>
        <a:srgbClr val="4ADE80"/>
      </a:accent4>
      <a:accent5>
        <a:srgbClr val="7A8BA3"/>
      </a:accent5>
      <a:accent6>
        <a:srgbClr val="16233A"/>
      </a:accent6>
      <a:hlink>
        <a:srgbClr val="00ADD8"/>
      </a:hlink>
      <a:folHlink>
        <a:srgbClr val="C792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2008</Words>
  <Application>Microsoft Office PowerPoint</Application>
  <PresentationFormat>Widescreen</PresentationFormat>
  <Paragraphs>426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JetBrains Mono</vt:lpstr>
      <vt:lpstr>DM Sans</vt:lpstr>
      <vt:lpstr>Sora</vt:lpstr>
      <vt:lpstr>Minicurso Go</vt:lpstr>
      <vt:lpstr>Apresentação do PowerPoint</vt:lpstr>
      <vt:lpstr>Quem fala com vocês</vt:lpstr>
      <vt:lpstr>VLab Health</vt:lpstr>
      <vt:lpstr>Roteiro</vt:lpstr>
      <vt:lpstr>Por que Go?</vt:lpstr>
      <vt:lpstr>Por que Go</vt:lpstr>
      <vt:lpstr>Quem usa Go</vt:lpstr>
      <vt:lpstr>Primeiro projeto</vt:lpstr>
      <vt:lpstr>Os comandos do dia a dia</vt:lpstr>
      <vt:lpstr>Hello World</vt:lpstr>
      <vt:lpstr>Fundamentos</vt:lpstr>
      <vt:lpstr>Variáveis e constantes</vt:lpstr>
      <vt:lpstr>if e switch</vt:lpstr>
      <vt:lpstr>for, o único laço</vt:lpstr>
      <vt:lpstr>Funções</vt:lpstr>
      <vt:lpstr>Tipos e dados</vt:lpstr>
      <vt:lpstr>Arrays, slices e maps</vt:lpstr>
      <vt:lpstr>Ponteiros</vt:lpstr>
      <vt:lpstr>Structs e métodos</vt:lpstr>
      <vt:lpstr>Interfaces</vt:lpstr>
      <vt:lpstr>Goroutines e channels</vt:lpstr>
      <vt:lpstr>Goroutines</vt:lpstr>
      <vt:lpstr>Channels</vt:lpstr>
      <vt:lpstr>Esperando com channels</vt:lpstr>
      <vt:lpstr>Close e range</vt:lpstr>
      <vt:lpstr>Deadlock</vt:lpstr>
      <vt:lpstr>Apresentação do PowerPoint</vt:lpstr>
      <vt:lpstr>Regras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Hydde</dc:creator>
  <cp:lastModifiedBy>Aluno</cp:lastModifiedBy>
  <cp:revision>1</cp:revision>
  <dcterms:created xsi:type="dcterms:W3CDTF">2026-10-26T17:35:27Z</dcterms:created>
  <dcterms:modified xsi:type="dcterms:W3CDTF">2026-10-28T01:10:46Z</dcterms:modified>
</cp:coreProperties>
</file>